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6858000" cx="12192000"/>
  <p:notesSz cx="6858000" cy="9144000"/>
  <p:embeddedFontLst>
    <p:embeddedFont>
      <p:font typeface="Montserrat"/>
      <p:regular r:id="rId55"/>
      <p:bold r:id="rId56"/>
      <p:italic r:id="rId57"/>
      <p:boldItalic r:id="rId58"/>
    </p:embeddedFont>
    <p:embeddedFont>
      <p:font typeface="Roboto Mon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15B9B6-4B62-4A6B-8520-B923362E31CE}">
  <a:tblStyle styleId="{5115B9B6-4B62-4A6B-8520-B923362E31C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ono-boldItalic.fntdata"/><Relationship Id="rId61" Type="http://schemas.openxmlformats.org/officeDocument/2006/relationships/font" Target="fonts/RobotoMono-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Mono-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Montserrat-regular.fnt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Montserrat-italic.fntdata"/><Relationship Id="rId12" Type="http://schemas.openxmlformats.org/officeDocument/2006/relationships/slide" Target="slides/slide6.xml"/><Relationship Id="rId56" Type="http://schemas.openxmlformats.org/officeDocument/2006/relationships/font" Target="fonts/Montserrat-bold.fntdata"/><Relationship Id="rId15" Type="http://schemas.openxmlformats.org/officeDocument/2006/relationships/slide" Target="slides/slide9.xml"/><Relationship Id="rId59" Type="http://schemas.openxmlformats.org/officeDocument/2006/relationships/font" Target="fonts/RobotoMono-regular.fntdata"/><Relationship Id="rId14" Type="http://schemas.openxmlformats.org/officeDocument/2006/relationships/slide" Target="slides/slide8.xml"/><Relationship Id="rId58" Type="http://schemas.openxmlformats.org/officeDocument/2006/relationships/font" Target="fonts/Montserra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559274c118_3_78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559274c118_3_7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59274c118_3_7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559274c118_3_7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rgbClr val="242424"/>
              </a:buClr>
              <a:buSzPts val="1200"/>
              <a:buFont typeface="Arial"/>
              <a:buChar char="•"/>
            </a:pPr>
            <a:r>
              <a:rPr b="0" i="0" lang="en-US">
                <a:solidFill>
                  <a:srgbClr val="242424"/>
                </a:solidFill>
                <a:latin typeface="Calibri"/>
                <a:ea typeface="Calibri"/>
                <a:cs typeface="Calibri"/>
                <a:sym typeface="Calibri"/>
              </a:rPr>
              <a:t>Hệ thống thời gian thực cung cấp phản ứng tức thời và chính xác cho các sự kiện bên ngoài, phù hợp với các ứng dụng quan trọng như kiểm soát không lưu, thiết bị y tế và tự động hóa công nghiệp.</a:t>
            </a:r>
            <a:endParaRPr/>
          </a:p>
          <a:p>
            <a:pPr indent="-76200" lvl="0" marL="0" rtl="0" algn="l">
              <a:spcBef>
                <a:spcPts val="0"/>
              </a:spcBef>
              <a:spcAft>
                <a:spcPts val="0"/>
              </a:spcAft>
              <a:buClr>
                <a:srgbClr val="242424"/>
              </a:buClr>
              <a:buSzPts val="1200"/>
              <a:buFont typeface="Arial"/>
              <a:buChar char="•"/>
            </a:pPr>
            <a:r>
              <a:rPr b="0" i="0" lang="en-US">
                <a:solidFill>
                  <a:srgbClr val="242424"/>
                </a:solidFill>
                <a:latin typeface="Calibri"/>
                <a:ea typeface="Calibri"/>
                <a:cs typeface="Calibri"/>
                <a:sym typeface="Calibri"/>
              </a:rPr>
              <a:t>Chúng có thể tự động hóa các nhiệm vụ phức tạp mà nếu không thì không thể thực hiện thủ công được, do đó cải thiện năng suất và hiệu quả.</a:t>
            </a:r>
            <a:endParaRPr/>
          </a:p>
          <a:p>
            <a:pPr indent="-76200" lvl="0" marL="0" rtl="0" algn="l">
              <a:spcBef>
                <a:spcPts val="0"/>
              </a:spcBef>
              <a:spcAft>
                <a:spcPts val="0"/>
              </a:spcAft>
              <a:buClr>
                <a:srgbClr val="242424"/>
              </a:buClr>
              <a:buSzPts val="1200"/>
              <a:buFont typeface="Arial"/>
              <a:buChar char="•"/>
            </a:pPr>
            <a:r>
              <a:rPr b="0" i="0" lang="en-US">
                <a:solidFill>
                  <a:srgbClr val="242424"/>
                </a:solidFill>
                <a:latin typeface="Calibri"/>
                <a:ea typeface="Calibri"/>
                <a:cs typeface="Calibri"/>
                <a:sym typeface="Calibri"/>
              </a:rPr>
              <a:t>Hệ thống thời gian thực có thể giảm thiểu lỗi của con người bằng cách tự động hóa các tác vụ đòi hỏi độ chính xác, độ chuẩn xác và tính nhất quán.</a:t>
            </a:r>
            <a:endParaRPr/>
          </a:p>
          <a:p>
            <a:pPr indent="-76200" lvl="0" marL="0" rtl="0" algn="l">
              <a:spcBef>
                <a:spcPts val="0"/>
              </a:spcBef>
              <a:spcAft>
                <a:spcPts val="0"/>
              </a:spcAft>
              <a:buClr>
                <a:srgbClr val="242424"/>
              </a:buClr>
              <a:buSzPts val="1200"/>
              <a:buFont typeface="Arial"/>
              <a:buChar char="•"/>
            </a:pPr>
            <a:r>
              <a:rPr b="0" i="0" lang="en-US">
                <a:solidFill>
                  <a:srgbClr val="242424"/>
                </a:solidFill>
                <a:latin typeface="Calibri"/>
                <a:ea typeface="Calibri"/>
                <a:cs typeface="Calibri"/>
                <a:sym typeface="Calibri"/>
              </a:rPr>
              <a:t>Chúng có thể giúp giảm chi phí bằng cách giảm thiểu nhu cầu can thiệp của con người và giảm nguy cơ sai sót.</a:t>
            </a:r>
            <a:endParaRPr/>
          </a:p>
          <a:p>
            <a:pPr indent="-76200" lvl="0" marL="0" rtl="0" algn="l">
              <a:spcBef>
                <a:spcPts val="0"/>
              </a:spcBef>
              <a:spcAft>
                <a:spcPts val="0"/>
              </a:spcAft>
              <a:buClr>
                <a:srgbClr val="242424"/>
              </a:buClr>
              <a:buSzPts val="1200"/>
              <a:buFont typeface="Arial"/>
              <a:buChar char="•"/>
            </a:pPr>
            <a:r>
              <a:rPr b="0" i="0" lang="en-US">
                <a:solidFill>
                  <a:srgbClr val="242424"/>
                </a:solidFill>
                <a:latin typeface="Calibri"/>
                <a:ea typeface="Calibri"/>
                <a:cs typeface="Calibri"/>
                <a:sym typeface="Calibri"/>
              </a:rPr>
              <a:t>Hệ thống thời gian thực có thể được tùy chỉnh để đáp ứng các yêu cầu cụ thể, khiến chúng trở nên lý tưởng cho nhiều ứng dụng khác nhau.</a:t>
            </a:r>
            <a:endParaRPr/>
          </a:p>
          <a:p>
            <a:pPr indent="0" lvl="0" marL="0" rtl="0" algn="l">
              <a:spcBef>
                <a:spcPts val="0"/>
              </a:spcBef>
              <a:spcAft>
                <a:spcPts val="0"/>
              </a:spcAft>
              <a:buNone/>
            </a:pPr>
            <a:r>
              <a:t/>
            </a:r>
            <a:endParaRPr>
              <a:latin typeface="Calibri"/>
              <a:ea typeface="Calibri"/>
              <a:cs typeface="Calibri"/>
              <a:sym typeface="Calibri"/>
            </a:endParaRPr>
          </a:p>
        </p:txBody>
      </p:sp>
      <p:sp>
        <p:nvSpPr>
          <p:cNvPr id="188" name="Google Shape;188;g3559274c118_3_7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59274c118_3_7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559274c118_3_7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559274c118_3_7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59274c118_3_8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559274c118_3_8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Ngôn ngữ lập trình</a:t>
            </a:r>
            <a:endParaRPr/>
          </a:p>
          <a:p>
            <a:pPr indent="0" lvl="0" marL="0" rtl="0" algn="l">
              <a:spcBef>
                <a:spcPts val="0"/>
              </a:spcBef>
              <a:spcAft>
                <a:spcPts val="0"/>
              </a:spcAft>
              <a:buNone/>
            </a:pPr>
            <a:r>
              <a:rPr lang="en-US"/>
              <a:t>Hệ điều hành</a:t>
            </a:r>
            <a:endParaRPr/>
          </a:p>
          <a:p>
            <a:pPr indent="0" lvl="0" marL="0" rtl="0" algn="l">
              <a:spcBef>
                <a:spcPts val="0"/>
              </a:spcBef>
              <a:spcAft>
                <a:spcPts val="0"/>
              </a:spcAft>
              <a:buNone/>
            </a:pPr>
            <a:r>
              <a:rPr lang="en-US"/>
              <a:t>Thuật toán</a:t>
            </a:r>
            <a:endParaRPr/>
          </a:p>
          <a:p>
            <a:pPr indent="0" lvl="0" marL="0" rtl="0" algn="l">
              <a:spcBef>
                <a:spcPts val="0"/>
              </a:spcBef>
              <a:spcAft>
                <a:spcPts val="0"/>
              </a:spcAft>
              <a:buNone/>
            </a:pPr>
            <a:r>
              <a:rPr lang="en-US"/>
              <a:t>Cấu trúc dữ liệu</a:t>
            </a:r>
            <a:endParaRPr/>
          </a:p>
          <a:p>
            <a:pPr indent="0" lvl="0" marL="0" rtl="0" algn="l">
              <a:spcBef>
                <a:spcPts val="0"/>
              </a:spcBef>
              <a:spcAft>
                <a:spcPts val="0"/>
              </a:spcAft>
              <a:buNone/>
            </a:pPr>
            <a:r>
              <a:rPr lang="en-US"/>
              <a:t>Kiến trúc máy tính </a:t>
            </a:r>
            <a:endParaRPr/>
          </a:p>
        </p:txBody>
      </p:sp>
      <p:sp>
        <p:nvSpPr>
          <p:cNvPr id="207" name="Google Shape;207;g3559274c118_3_8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559274c118_3_8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3559274c118_3_8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559274c118_3_8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559274c118_3_8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559274c118_3_8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559274c118_3_8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559274c118_3_8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g3559274c118_3_8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59274c118_3_84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559274c118_3_8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559274c118_3_84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559274c118_3_8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59274c118_3_8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559274c118_3_8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559274c118_3_8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559274c118_3_8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559274c118_3_8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559274c118_3_8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59274c118_3_8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3559274c118_3_8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559274c118_3_8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3559274c118_3_8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Ứng dụng  hoạt hình bảng trắng</a:t>
            </a:r>
            <a:endParaRPr/>
          </a:p>
          <a:p>
            <a:pPr indent="0" lvl="0" marL="0" rtl="0" algn="l">
              <a:spcBef>
                <a:spcPts val="0"/>
              </a:spcBef>
              <a:spcAft>
                <a:spcPts val="0"/>
              </a:spcAft>
              <a:buNone/>
            </a:pPr>
            <a:r>
              <a:rPr lang="en-US"/>
              <a:t>Chơi trong thời gian thực</a:t>
            </a:r>
            <a:endParaRPr/>
          </a:p>
          <a:p>
            <a:pPr indent="0" lvl="0" marL="0" rtl="0" algn="l">
              <a:spcBef>
                <a:spcPts val="0"/>
              </a:spcBef>
              <a:spcAft>
                <a:spcPts val="0"/>
              </a:spcAft>
              <a:buNone/>
            </a:pPr>
            <a:r>
              <a:rPr lang="en-US"/>
              <a:t>Ứng dụng theo dỗi vị trí</a:t>
            </a:r>
            <a:endParaRPr/>
          </a:p>
          <a:p>
            <a:pPr indent="0" lvl="0" marL="0" rtl="0" algn="l">
              <a:spcBef>
                <a:spcPts val="0"/>
              </a:spcBef>
              <a:spcAft>
                <a:spcPts val="0"/>
              </a:spcAft>
              <a:buNone/>
            </a:pPr>
            <a:r>
              <a:rPr lang="en-US"/>
              <a:t>Ứng dụng trong giáo dục, công tắc chỉnh sửa firebase</a:t>
            </a:r>
            <a:endParaRPr/>
          </a:p>
          <a:p>
            <a:pPr indent="0" lvl="0" marL="0" rtl="0" algn="l">
              <a:spcBef>
                <a:spcPts val="0"/>
              </a:spcBef>
              <a:spcAft>
                <a:spcPts val="0"/>
              </a:spcAft>
              <a:buNone/>
            </a:pPr>
            <a:r>
              <a:rPr lang="en-US"/>
              <a:t>Ứng dụng sử dụng giao thức thoại qua internet (voip)</a:t>
            </a:r>
            <a:endParaRPr/>
          </a:p>
          <a:p>
            <a:pPr indent="0" lvl="0" marL="0" rtl="0" algn="l">
              <a:spcBef>
                <a:spcPts val="0"/>
              </a:spcBef>
              <a:spcAft>
                <a:spcPts val="0"/>
              </a:spcAft>
              <a:buNone/>
            </a:pPr>
            <a:r>
              <a:rPr lang="en-US"/>
              <a:t>Ứng dụng nhắn tin và trò chuyện ngay lập tức</a:t>
            </a:r>
            <a:endParaRPr/>
          </a:p>
          <a:p>
            <a:pPr indent="0" lvl="0" marL="0" rtl="0" algn="l">
              <a:spcBef>
                <a:spcPts val="0"/>
              </a:spcBef>
              <a:spcAft>
                <a:spcPts val="0"/>
              </a:spcAft>
              <a:buNone/>
            </a:pPr>
            <a:r>
              <a:rPr lang="en-US"/>
              <a:t>Ứng dụng thời gian thực để lưu trũ và đồng bộ dữ liệu</a:t>
            </a:r>
            <a:endParaRPr/>
          </a:p>
          <a:p>
            <a:pPr indent="0" lvl="0" marL="0" rtl="0" algn="l">
              <a:spcBef>
                <a:spcPts val="0"/>
              </a:spcBef>
              <a:spcAft>
                <a:spcPts val="0"/>
              </a:spcAft>
              <a:buNone/>
            </a:pPr>
            <a:r>
              <a:rPr lang="en-US"/>
              <a:t>Trang tổng thời gian thực</a:t>
            </a:r>
            <a:endParaRPr/>
          </a:p>
        </p:txBody>
      </p:sp>
      <p:sp>
        <p:nvSpPr>
          <p:cNvPr id="291" name="Google Shape;291;g3559274c118_3_8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559274c118_3_8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g3559274c118_3_8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g3559274c118_3_8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559274c118_3_89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559274c118_3_8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559274c118_3_91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g3559274c118_3_9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559274c118_3_9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g3559274c118_3_9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g3559274c118_3_9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559274c118_3_9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559274c118_3_9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559274c118_3_93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3559274c118_3_9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559274c118_3_9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g3559274c118_3_9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559274c118_3_94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559274c118_3_9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559274c118_3_95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3559274c118_3_9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559274c118_3_95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3559274c118_3_9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559274c118_3_9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3559274c118_3_9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559274c118_3_99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559274c118_3_9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5f742486c9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5f742486c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559274c118_3_9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559274c118_3_9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559274c118_3_97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3559274c118_3_9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559274c118_3_98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559274c118_3_9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559274c118_3_100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559274c118_3_10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5f742486c9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5f742486c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5f742486c9_0_10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35f742486c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5f742486c9_0_17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5f742486c9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559274c118_3_101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g3559274c118_3_10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559274c118_3_10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559274c118_3_10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559274c118_3_10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g3559274c118_3_10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559274c118_3_102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g3559274c118_3_10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559274c118_3_10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g3559274c118_3_10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559274c118_3_104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g3559274c118_3_10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559274c118_3_10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g3559274c118_3_10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g3559274c118_3_10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559274c118_3_10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g3559274c118_3_10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g3559274c118_3_10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559274c118_3_10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g3559274c118_3_10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g3559274c118_3_10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559274c118_3_10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g3559274c118_3_10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g3559274c118_3_10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559274c118_3_10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g3559274c118_3_10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g3559274c118_3_10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559274c118_3_10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g3559274c118_3_10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g3559274c118_3_10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559274c118_3_108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559274c118_3_10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calendar&#10;&#10;Description automatically generated" id="15" name="Google Shape;15;p2"/>
          <p:cNvPicPr preferRelativeResize="0"/>
          <p:nvPr/>
        </p:nvPicPr>
        <p:blipFill rotWithShape="1">
          <a:blip r:embed="rId2">
            <a:alphaModFix/>
          </a:blip>
          <a:srcRect b="0" l="0" r="0" t="0"/>
          <a:stretch/>
        </p:blipFill>
        <p:spPr>
          <a:xfrm>
            <a:off x="149" y="0"/>
            <a:ext cx="12191702"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 name="Shape 16"/>
        <p:cNvGrpSpPr/>
        <p:nvPr/>
      </p:nvGrpSpPr>
      <p:grpSpPr>
        <a:xfrm>
          <a:off x="0" y="0"/>
          <a:ext cx="0" cy="0"/>
          <a:chOff x="0" y="0"/>
          <a:chExt cx="0" cy="0"/>
        </a:xfrm>
      </p:grpSpPr>
      <p:sp>
        <p:nvSpPr>
          <p:cNvPr id="17" name="Google Shape;17;p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 name="Google Shape;19;p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2" name="Google Shape;22;p3"/>
          <p:cNvPicPr preferRelativeResize="0"/>
          <p:nvPr/>
        </p:nvPicPr>
        <p:blipFill rotWithShape="1">
          <a:blip r:embed="rId2">
            <a:alphaModFix/>
          </a:blip>
          <a:srcRect b="0" l="0" r="0" t="0"/>
          <a:stretch/>
        </p:blipFill>
        <p:spPr>
          <a:xfrm>
            <a:off x="148" y="0"/>
            <a:ext cx="12191851" cy="6858084"/>
          </a:xfrm>
          <a:prstGeom prst="rect">
            <a:avLst/>
          </a:prstGeom>
          <a:noFill/>
          <a:ln>
            <a:noFill/>
          </a:ln>
        </p:spPr>
      </p:pic>
      <p:sp>
        <p:nvSpPr>
          <p:cNvPr id="23" name="Google Shape;23;p3"/>
          <p:cNvSpPr txBox="1"/>
          <p:nvPr/>
        </p:nvSpPr>
        <p:spPr>
          <a:xfrm>
            <a:off x="3400425" y="648876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lt1"/>
                </a:solidFill>
                <a:latin typeface="Calibri"/>
                <a:ea typeface="Calibri"/>
                <a:cs typeface="Calibri"/>
                <a:sym typeface="Calibri"/>
              </a:rPr>
              <a:t>‹#›</a:t>
            </a:fld>
            <a:endParaRPr b="0" i="0" sz="1200" u="none" cap="none" strike="noStrike">
              <a:solidFill>
                <a:schemeClr val="lt1"/>
              </a:solidFill>
              <a:latin typeface="Calibri"/>
              <a:ea typeface="Calibri"/>
              <a:cs typeface="Calibri"/>
              <a:sym typeface="Calibri"/>
            </a:endParaRPr>
          </a:p>
        </p:txBody>
      </p:sp>
      <p:sp>
        <p:nvSpPr>
          <p:cNvPr id="24" name="Google Shape;24;p3"/>
          <p:cNvSpPr txBox="1"/>
          <p:nvPr/>
        </p:nvSpPr>
        <p:spPr>
          <a:xfrm>
            <a:off x="282121" y="155571"/>
            <a:ext cx="385535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rgbClr val="7F7F7F"/>
                </a:solidFill>
                <a:latin typeface="Arial"/>
                <a:ea typeface="Arial"/>
                <a:cs typeface="Arial"/>
                <a:sym typeface="Arial"/>
              </a:rPr>
              <a:t>CHƯƠNG 1: TỔNG QUAN</a:t>
            </a:r>
            <a:endParaRPr/>
          </a:p>
        </p:txBody>
      </p:sp>
      <p:cxnSp>
        <p:nvCxnSpPr>
          <p:cNvPr id="25" name="Google Shape;25;p3"/>
          <p:cNvCxnSpPr/>
          <p:nvPr/>
        </p:nvCxnSpPr>
        <p:spPr>
          <a:xfrm>
            <a:off x="371475" y="501012"/>
            <a:ext cx="2335149" cy="0"/>
          </a:xfrm>
          <a:prstGeom prst="straightConnector1">
            <a:avLst/>
          </a:prstGeom>
          <a:noFill/>
          <a:ln cap="flat" cmpd="sng" w="28575">
            <a:solidFill>
              <a:srgbClr val="757070"/>
            </a:solidFill>
            <a:prstDash val="solid"/>
            <a:miter lim="800000"/>
            <a:headEnd len="sm" w="sm" type="none"/>
            <a:tailEnd len="sm" w="sm" type="none"/>
          </a:ln>
        </p:spPr>
      </p:cxnSp>
      <p:sp>
        <p:nvSpPr>
          <p:cNvPr id="26" name="Google Shape;26;p3"/>
          <p:cNvSpPr txBox="1"/>
          <p:nvPr/>
        </p:nvSpPr>
        <p:spPr>
          <a:xfrm>
            <a:off x="282121" y="524902"/>
            <a:ext cx="38553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85189"/>
                </a:solidFill>
                <a:latin typeface="Arial"/>
                <a:ea typeface="Arial"/>
                <a:cs typeface="Arial"/>
                <a:sym typeface="Arial"/>
              </a:rPr>
              <a:t>1.1 ĐỀ CƯƠNG CHI TIẾT</a:t>
            </a:r>
            <a:endParaRPr/>
          </a:p>
        </p:txBody>
      </p:sp>
      <p:sp>
        <p:nvSpPr>
          <p:cNvPr id="27" name="Google Shape;27;p3"/>
          <p:cNvSpPr txBox="1"/>
          <p:nvPr>
            <p:ph idx="12" type="sldNum"/>
          </p:nvPr>
        </p:nvSpPr>
        <p:spPr>
          <a:xfrm>
            <a:off x="11409045" y="6333134"/>
            <a:ext cx="731700" cy="525000"/>
          </a:xfrm>
          <a:prstGeom prst="rect">
            <a:avLst/>
          </a:prstGeom>
        </p:spPr>
        <p:txBody>
          <a:bodyPr anchorCtr="0" anchor="t" bIns="45700" lIns="91425" spcFirstLastPara="1" rIns="91425" wrap="square" tIns="4570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 name="Shape 28"/>
        <p:cNvGrpSpPr/>
        <p:nvPr/>
      </p:nvGrpSpPr>
      <p:grpSpPr>
        <a:xfrm>
          <a:off x="0" y="0"/>
          <a:ext cx="0" cy="0"/>
          <a:chOff x="0" y="0"/>
          <a:chExt cx="0" cy="0"/>
        </a:xfrm>
      </p:grpSpPr>
      <p:sp>
        <p:nvSpPr>
          <p:cNvPr id="29" name="Google Shape;29;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2" name="Google Shape;32;p4"/>
          <p:cNvPicPr preferRelativeResize="0"/>
          <p:nvPr/>
        </p:nvPicPr>
        <p:blipFill rotWithShape="1">
          <a:blip r:embed="rId2">
            <a:alphaModFix/>
          </a:blip>
          <a:srcRect b="0" l="0" r="0" t="0"/>
          <a:stretch/>
        </p:blipFill>
        <p:spPr>
          <a:xfrm>
            <a:off x="148" y="0"/>
            <a:ext cx="12191851" cy="685808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Icon&#10;&#10;Description automatically generated with medium confidence" id="39" name="Google Shape;39;p5"/>
          <p:cNvPicPr preferRelativeResize="0"/>
          <p:nvPr/>
        </p:nvPicPr>
        <p:blipFill rotWithShape="1">
          <a:blip r:embed="rId2">
            <a:alphaModFix/>
          </a:blip>
          <a:srcRect b="0" l="0" r="0" t="0"/>
          <a:stretch/>
        </p:blipFill>
        <p:spPr>
          <a:xfrm>
            <a:off x="0" y="0"/>
            <a:ext cx="12200417"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40" name="Shape 40"/>
        <p:cNvGrpSpPr/>
        <p:nvPr/>
      </p:nvGrpSpPr>
      <p:grpSpPr>
        <a:xfrm>
          <a:off x="0" y="0"/>
          <a:ext cx="0" cy="0"/>
          <a:chOff x="0" y="0"/>
          <a:chExt cx="0" cy="0"/>
        </a:xfrm>
      </p:grpSpPr>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Shape&#10;&#10;Description automatically generated with low confidence" id="44" name="Google Shape;44;p6"/>
          <p:cNvPicPr preferRelativeResize="0"/>
          <p:nvPr/>
        </p:nvPicPr>
        <p:blipFill rotWithShape="1">
          <a:blip r:embed="rId2">
            <a:alphaModFix/>
          </a:blip>
          <a:srcRect b="0" l="0" r="0" t="0"/>
          <a:stretch/>
        </p:blipFill>
        <p:spPr>
          <a:xfrm>
            <a:off x="0" y="5457371"/>
            <a:ext cx="12192000" cy="1400629"/>
          </a:xfrm>
          <a:prstGeom prst="rect">
            <a:avLst/>
          </a:prstGeom>
          <a:noFill/>
          <a:ln>
            <a:noFill/>
          </a:ln>
        </p:spPr>
      </p:pic>
      <p:sp>
        <p:nvSpPr>
          <p:cNvPr id="45" name="Google Shape;45;p6"/>
          <p:cNvSpPr txBox="1"/>
          <p:nvPr/>
        </p:nvSpPr>
        <p:spPr>
          <a:xfrm>
            <a:off x="92964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Calibri"/>
                <a:ea typeface="Calibri"/>
                <a:cs typeface="Calibri"/>
                <a:sym typeface="Calibri"/>
              </a:rPr>
              <a:t>‹#›</a:t>
            </a:fld>
            <a:endParaRPr sz="1200">
              <a:solidFill>
                <a:schemeClr val="lt1"/>
              </a:solidFill>
              <a:latin typeface="Calibri"/>
              <a:ea typeface="Calibri"/>
              <a:cs typeface="Calibri"/>
              <a:sym typeface="Calibri"/>
            </a:endParaRPr>
          </a:p>
        </p:txBody>
      </p:sp>
      <p:sp>
        <p:nvSpPr>
          <p:cNvPr id="46" name="Google Shape;46;p6"/>
          <p:cNvSpPr txBox="1"/>
          <p:nvPr/>
        </p:nvSpPr>
        <p:spPr>
          <a:xfrm>
            <a:off x="297543" y="217714"/>
            <a:ext cx="38553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7F7F7F"/>
                </a:solidFill>
                <a:latin typeface="Arial"/>
                <a:ea typeface="Arial"/>
                <a:cs typeface="Arial"/>
                <a:sym typeface="Arial"/>
              </a:rPr>
              <a:t>CHƯƠNG 1: TỔNG QUAN</a:t>
            </a:r>
            <a:endParaRPr/>
          </a:p>
        </p:txBody>
      </p:sp>
      <p:cxnSp>
        <p:nvCxnSpPr>
          <p:cNvPr id="47" name="Google Shape;47;p6"/>
          <p:cNvCxnSpPr/>
          <p:nvPr/>
        </p:nvCxnSpPr>
        <p:spPr>
          <a:xfrm flipH="1" rot="10800000">
            <a:off x="371475" y="494125"/>
            <a:ext cx="2047634" cy="588"/>
          </a:xfrm>
          <a:prstGeom prst="straightConnector1">
            <a:avLst/>
          </a:prstGeom>
          <a:noFill/>
          <a:ln cap="flat" cmpd="sng" w="12700">
            <a:solidFill>
              <a:schemeClr val="accent3"/>
            </a:solidFill>
            <a:prstDash val="solid"/>
            <a:miter lim="800000"/>
            <a:headEnd len="sm" w="sm" type="none"/>
            <a:tailEnd len="sm" w="sm" type="none"/>
          </a:ln>
        </p:spPr>
      </p:cxnSp>
      <p:sp>
        <p:nvSpPr>
          <p:cNvPr id="48" name="Google Shape;48;p6"/>
          <p:cNvSpPr txBox="1"/>
          <p:nvPr/>
        </p:nvSpPr>
        <p:spPr>
          <a:xfrm>
            <a:off x="3402693" y="217126"/>
            <a:ext cx="38553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85189"/>
                </a:solidFill>
                <a:latin typeface="Arial"/>
                <a:ea typeface="Arial"/>
                <a:cs typeface="Arial"/>
                <a:sym typeface="Arial"/>
              </a:rPr>
              <a:t>1.1 ĐỀ CƯƠNG CHI TIẾT</a:t>
            </a:r>
            <a:endParaRPr/>
          </a:p>
        </p:txBody>
      </p:sp>
      <p:cxnSp>
        <p:nvCxnSpPr>
          <p:cNvPr id="49" name="Google Shape;49;p6"/>
          <p:cNvCxnSpPr/>
          <p:nvPr/>
        </p:nvCxnSpPr>
        <p:spPr>
          <a:xfrm>
            <a:off x="3476625" y="494125"/>
            <a:ext cx="1639385" cy="0"/>
          </a:xfrm>
          <a:prstGeom prst="straightConnector1">
            <a:avLst/>
          </a:prstGeom>
          <a:noFill/>
          <a:ln cap="flat" cmpd="sng" w="12700">
            <a:solidFill>
              <a:srgbClr val="085189"/>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a" type="vertTx">
  <p:cSld name="VERTICAL_TEXT">
    <p:spTree>
      <p:nvGrpSpPr>
        <p:cNvPr id="50" name="Shape 50"/>
        <p:cNvGrpSpPr/>
        <p:nvPr/>
      </p:nvGrpSpPr>
      <p:grpSpPr>
        <a:xfrm>
          <a:off x="0" y="0"/>
          <a:ext cx="0" cy="0"/>
          <a:chOff x="0" y="0"/>
          <a:chExt cx="0" cy="0"/>
        </a:xfrm>
      </p:grpSpPr>
      <p:sp>
        <p:nvSpPr>
          <p:cNvPr id="51" name="Google Shape;5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55" name="Google Shape;55;p7"/>
          <p:cNvPicPr preferRelativeResize="0"/>
          <p:nvPr/>
        </p:nvPicPr>
        <p:blipFill rotWithShape="1">
          <a:blip r:embed="rId2">
            <a:alphaModFix/>
          </a:blip>
          <a:srcRect b="0" l="0" r="0" t="0"/>
          <a:stretch/>
        </p:blipFill>
        <p:spPr>
          <a:xfrm>
            <a:off x="0" y="0"/>
            <a:ext cx="12191851" cy="6858084"/>
          </a:xfrm>
          <a:prstGeom prst="rect">
            <a:avLst/>
          </a:prstGeom>
          <a:noFill/>
          <a:ln>
            <a:noFill/>
          </a:ln>
        </p:spPr>
      </p:pic>
      <p:sp>
        <p:nvSpPr>
          <p:cNvPr id="56" name="Google Shape;56;p7"/>
          <p:cNvSpPr txBox="1"/>
          <p:nvPr>
            <p:ph idx="12" type="sldNum"/>
          </p:nvPr>
        </p:nvSpPr>
        <p:spPr>
          <a:xfrm>
            <a:off x="4724325" y="6400090"/>
            <a:ext cx="274320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200">
                <a:solidFill>
                  <a:schemeClr val="lt1"/>
                </a:solidFill>
                <a:latin typeface="Calibri"/>
                <a:ea typeface="Calibri"/>
                <a:cs typeface="Calibri"/>
                <a:sym typeface="Calibri"/>
              </a:defRPr>
            </a:lvl1pPr>
            <a:lvl2pPr indent="0" lvl="1" marL="0" algn="ctr">
              <a:spcBef>
                <a:spcPts val="0"/>
              </a:spcBef>
              <a:buNone/>
              <a:defRPr sz="1200">
                <a:solidFill>
                  <a:schemeClr val="lt1"/>
                </a:solidFill>
                <a:latin typeface="Calibri"/>
                <a:ea typeface="Calibri"/>
                <a:cs typeface="Calibri"/>
                <a:sym typeface="Calibri"/>
              </a:defRPr>
            </a:lvl2pPr>
            <a:lvl3pPr indent="0" lvl="2" marL="0" algn="ctr">
              <a:spcBef>
                <a:spcPts val="0"/>
              </a:spcBef>
              <a:buNone/>
              <a:defRPr sz="1200">
                <a:solidFill>
                  <a:schemeClr val="lt1"/>
                </a:solidFill>
                <a:latin typeface="Calibri"/>
                <a:ea typeface="Calibri"/>
                <a:cs typeface="Calibri"/>
                <a:sym typeface="Calibri"/>
              </a:defRPr>
            </a:lvl3pPr>
            <a:lvl4pPr indent="0" lvl="3" marL="0" algn="ctr">
              <a:spcBef>
                <a:spcPts val="0"/>
              </a:spcBef>
              <a:buNone/>
              <a:defRPr sz="1200">
                <a:solidFill>
                  <a:schemeClr val="lt1"/>
                </a:solidFill>
                <a:latin typeface="Calibri"/>
                <a:ea typeface="Calibri"/>
                <a:cs typeface="Calibri"/>
                <a:sym typeface="Calibri"/>
              </a:defRPr>
            </a:lvl4pPr>
            <a:lvl5pPr indent="0" lvl="4" marL="0" algn="ctr">
              <a:spcBef>
                <a:spcPts val="0"/>
              </a:spcBef>
              <a:buNone/>
              <a:defRPr sz="1200">
                <a:solidFill>
                  <a:schemeClr val="lt1"/>
                </a:solidFill>
                <a:latin typeface="Calibri"/>
                <a:ea typeface="Calibri"/>
                <a:cs typeface="Calibri"/>
                <a:sym typeface="Calibri"/>
              </a:defRPr>
            </a:lvl5pPr>
            <a:lvl6pPr indent="0" lvl="5" marL="0" algn="ctr">
              <a:spcBef>
                <a:spcPts val="0"/>
              </a:spcBef>
              <a:buNone/>
              <a:defRPr sz="1200">
                <a:solidFill>
                  <a:schemeClr val="lt1"/>
                </a:solidFill>
                <a:latin typeface="Calibri"/>
                <a:ea typeface="Calibri"/>
                <a:cs typeface="Calibri"/>
                <a:sym typeface="Calibri"/>
              </a:defRPr>
            </a:lvl6pPr>
            <a:lvl7pPr indent="0" lvl="6" marL="0" algn="ctr">
              <a:spcBef>
                <a:spcPts val="0"/>
              </a:spcBef>
              <a:buNone/>
              <a:defRPr sz="1200">
                <a:solidFill>
                  <a:schemeClr val="lt1"/>
                </a:solidFill>
                <a:latin typeface="Calibri"/>
                <a:ea typeface="Calibri"/>
                <a:cs typeface="Calibri"/>
                <a:sym typeface="Calibri"/>
              </a:defRPr>
            </a:lvl7pPr>
            <a:lvl8pPr indent="0" lvl="7" marL="0" algn="ctr">
              <a:spcBef>
                <a:spcPts val="0"/>
              </a:spcBef>
              <a:buNone/>
              <a:defRPr sz="1200">
                <a:solidFill>
                  <a:schemeClr val="lt1"/>
                </a:solidFill>
                <a:latin typeface="Calibri"/>
                <a:ea typeface="Calibri"/>
                <a:cs typeface="Calibri"/>
                <a:sym typeface="Calibri"/>
              </a:defRPr>
            </a:lvl8pPr>
            <a:lvl9pPr indent="0" lvl="8" marL="0" algn="ctr">
              <a:spcBef>
                <a:spcPts val="0"/>
              </a:spcBef>
              <a:buNone/>
              <a:defRPr sz="12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57" name="Google Shape;57;p7"/>
          <p:cNvSpPr txBox="1"/>
          <p:nvPr/>
        </p:nvSpPr>
        <p:spPr>
          <a:xfrm>
            <a:off x="282121" y="155571"/>
            <a:ext cx="385535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7F7F7F"/>
                </a:solidFill>
                <a:latin typeface="Arial"/>
                <a:ea typeface="Arial"/>
                <a:cs typeface="Arial"/>
                <a:sym typeface="Arial"/>
              </a:rPr>
              <a:t>CHƯƠNG 1: TỔNG QUAN</a:t>
            </a:r>
            <a:endParaRPr/>
          </a:p>
        </p:txBody>
      </p:sp>
      <p:cxnSp>
        <p:nvCxnSpPr>
          <p:cNvPr id="58" name="Google Shape;58;p7"/>
          <p:cNvCxnSpPr/>
          <p:nvPr/>
        </p:nvCxnSpPr>
        <p:spPr>
          <a:xfrm>
            <a:off x="371475" y="501012"/>
            <a:ext cx="2335149" cy="0"/>
          </a:xfrm>
          <a:prstGeom prst="straightConnector1">
            <a:avLst/>
          </a:prstGeom>
          <a:noFill/>
          <a:ln cap="flat" cmpd="sng" w="28575">
            <a:solidFill>
              <a:srgbClr val="757070"/>
            </a:solidFill>
            <a:prstDash val="solid"/>
            <a:miter lim="800000"/>
            <a:headEnd len="sm" w="sm" type="none"/>
            <a:tailEnd len="sm" w="sm" type="none"/>
          </a:ln>
        </p:spPr>
      </p:cxnSp>
      <p:sp>
        <p:nvSpPr>
          <p:cNvPr id="59" name="Google Shape;59;p7"/>
          <p:cNvSpPr txBox="1"/>
          <p:nvPr/>
        </p:nvSpPr>
        <p:spPr>
          <a:xfrm>
            <a:off x="282121" y="524902"/>
            <a:ext cx="38553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85189"/>
                </a:solidFill>
                <a:latin typeface="Arial"/>
                <a:ea typeface="Arial"/>
                <a:cs typeface="Arial"/>
                <a:sym typeface="Arial"/>
              </a:rPr>
              <a:t>1.1 ĐỀ CƯƠNG CHI TIẾT</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p:cSld name="4_Title Slide">
    <p:spTree>
      <p:nvGrpSpPr>
        <p:cNvPr id="60" name="Shape 60"/>
        <p:cNvGrpSpPr/>
        <p:nvPr/>
      </p:nvGrpSpPr>
      <p:grpSpPr>
        <a:xfrm>
          <a:off x="0" y="0"/>
          <a:ext cx="0" cy="0"/>
          <a:chOff x="0" y="0"/>
          <a:chExt cx="0" cy="0"/>
        </a:xfrm>
      </p:grpSpPr>
      <p:sp>
        <p:nvSpPr>
          <p:cNvPr id="61" name="Google Shape;6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Shape&#10;&#10;Description automatically generated with low confidence" id="64" name="Google Shape;64;p8"/>
          <p:cNvPicPr preferRelativeResize="0"/>
          <p:nvPr/>
        </p:nvPicPr>
        <p:blipFill rotWithShape="1">
          <a:blip r:embed="rId2">
            <a:alphaModFix/>
          </a:blip>
          <a:srcRect b="0" l="0" r="0" t="0"/>
          <a:stretch/>
        </p:blipFill>
        <p:spPr>
          <a:xfrm>
            <a:off x="0" y="5457371"/>
            <a:ext cx="12192000" cy="1400629"/>
          </a:xfrm>
          <a:prstGeom prst="rect">
            <a:avLst/>
          </a:prstGeom>
          <a:noFill/>
          <a:ln>
            <a:noFill/>
          </a:ln>
        </p:spPr>
      </p:pic>
      <p:sp>
        <p:nvSpPr>
          <p:cNvPr id="65" name="Google Shape;65;p8"/>
          <p:cNvSpPr txBox="1"/>
          <p:nvPr/>
        </p:nvSpPr>
        <p:spPr>
          <a:xfrm>
            <a:off x="92964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lt1"/>
                </a:solidFill>
                <a:latin typeface="Calibri"/>
                <a:ea typeface="Calibri"/>
                <a:cs typeface="Calibri"/>
                <a:sym typeface="Calibri"/>
              </a:rPr>
              <a:t>‹#›</a:t>
            </a:fld>
            <a:endParaRPr sz="1200">
              <a:solidFill>
                <a:schemeClr val="lt1"/>
              </a:solidFill>
              <a:latin typeface="Calibri"/>
              <a:ea typeface="Calibri"/>
              <a:cs typeface="Calibri"/>
              <a:sym typeface="Calibri"/>
            </a:endParaRPr>
          </a:p>
        </p:txBody>
      </p:sp>
      <p:sp>
        <p:nvSpPr>
          <p:cNvPr id="66" name="Google Shape;66;p8"/>
          <p:cNvSpPr txBox="1"/>
          <p:nvPr/>
        </p:nvSpPr>
        <p:spPr>
          <a:xfrm>
            <a:off x="297543" y="217714"/>
            <a:ext cx="38553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7F7F7F"/>
                </a:solidFill>
                <a:latin typeface="Arial"/>
                <a:ea typeface="Arial"/>
                <a:cs typeface="Arial"/>
                <a:sym typeface="Arial"/>
              </a:rPr>
              <a:t>HƯỚNG DẪN SỬ DỤNG BỘ NHẬN DIỆN</a:t>
            </a:r>
            <a:endParaRPr/>
          </a:p>
        </p:txBody>
      </p:sp>
      <p:cxnSp>
        <p:nvCxnSpPr>
          <p:cNvPr id="67" name="Google Shape;67;p8"/>
          <p:cNvCxnSpPr/>
          <p:nvPr/>
        </p:nvCxnSpPr>
        <p:spPr>
          <a:xfrm>
            <a:off x="371475" y="494713"/>
            <a:ext cx="2743200" cy="0"/>
          </a:xfrm>
          <a:prstGeom prst="straightConnector1">
            <a:avLst/>
          </a:prstGeom>
          <a:noFill/>
          <a:ln cap="flat" cmpd="sng" w="12700">
            <a:solidFill>
              <a:schemeClr val="accent3"/>
            </a:solidFill>
            <a:prstDash val="solid"/>
            <a:miter lim="800000"/>
            <a:headEnd len="sm" w="sm" type="none"/>
            <a:tailEnd len="sm" w="sm" type="none"/>
          </a:ln>
        </p:spPr>
      </p:cxnSp>
      <p:sp>
        <p:nvSpPr>
          <p:cNvPr id="68" name="Google Shape;68;p8"/>
          <p:cNvSpPr txBox="1"/>
          <p:nvPr/>
        </p:nvSpPr>
        <p:spPr>
          <a:xfrm>
            <a:off x="3402693" y="217126"/>
            <a:ext cx="38553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85189"/>
                </a:solidFill>
                <a:latin typeface="Arial"/>
                <a:ea typeface="Arial"/>
                <a:cs typeface="Arial"/>
                <a:sym typeface="Arial"/>
              </a:rPr>
              <a:t>Quà tặng</a:t>
            </a:r>
            <a:endParaRPr/>
          </a:p>
        </p:txBody>
      </p:sp>
      <p:cxnSp>
        <p:nvCxnSpPr>
          <p:cNvPr id="69" name="Google Shape;69;p8"/>
          <p:cNvCxnSpPr/>
          <p:nvPr/>
        </p:nvCxnSpPr>
        <p:spPr>
          <a:xfrm>
            <a:off x="3476625" y="494125"/>
            <a:ext cx="778852" cy="0"/>
          </a:xfrm>
          <a:prstGeom prst="straightConnector1">
            <a:avLst/>
          </a:prstGeom>
          <a:noFill/>
          <a:ln cap="flat" cmpd="sng" w="12700">
            <a:solidFill>
              <a:srgbClr val="085189"/>
            </a:solidFill>
            <a:prstDash val="solid"/>
            <a:miter lim="800000"/>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3" name="Google Shape;73;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Shape&#10;&#10;Description automatically generated" id="76" name="Google Shape;76;p9"/>
          <p:cNvPicPr preferRelativeResize="0"/>
          <p:nvPr/>
        </p:nvPicPr>
        <p:blipFill rotWithShape="1">
          <a:blip r:embed="rId2">
            <a:alphaModFix/>
          </a:blip>
          <a:srcRect b="11387" l="692" r="0" t="0"/>
          <a:stretch/>
        </p:blipFill>
        <p:spPr>
          <a:xfrm>
            <a:off x="0" y="0"/>
            <a:ext cx="12208745" cy="6857999"/>
          </a:xfrm>
          <a:prstGeom prst="rect">
            <a:avLst/>
          </a:prstGeom>
          <a:noFill/>
          <a:ln>
            <a:noFill/>
          </a:ln>
        </p:spPr>
      </p:pic>
      <p:sp>
        <p:nvSpPr>
          <p:cNvPr id="77" name="Google Shape;77;p9"/>
          <p:cNvSpPr txBox="1"/>
          <p:nvPr/>
        </p:nvSpPr>
        <p:spPr>
          <a:xfrm>
            <a:off x="8763000" y="65087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2" name="Shape 92"/>
        <p:cNvGrpSpPr/>
        <p:nvPr/>
      </p:nvGrpSpPr>
      <p:grpSpPr>
        <a:xfrm>
          <a:off x="0" y="0"/>
          <a:ext cx="0" cy="0"/>
          <a:chOff x="0" y="0"/>
          <a:chExt cx="0" cy="0"/>
        </a:xfrm>
      </p:grpSpPr>
      <p:sp>
        <p:nvSpPr>
          <p:cNvPr id="93" name="Google Shape;93;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5" name="Google Shape;9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8" name="Shape 98"/>
        <p:cNvGrpSpPr/>
        <p:nvPr/>
      </p:nvGrpSpPr>
      <p:grpSpPr>
        <a:xfrm>
          <a:off x="0" y="0"/>
          <a:ext cx="0" cy="0"/>
          <a:chOff x="0" y="0"/>
          <a:chExt cx="0" cy="0"/>
        </a:xfrm>
      </p:grpSpPr>
      <p:sp>
        <p:nvSpPr>
          <p:cNvPr id="99" name="Google Shape;9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4" name="Shape 104"/>
        <p:cNvGrpSpPr/>
        <p:nvPr/>
      </p:nvGrpSpPr>
      <p:grpSpPr>
        <a:xfrm>
          <a:off x="0" y="0"/>
          <a:ext cx="0" cy="0"/>
          <a:chOff x="0" y="0"/>
          <a:chExt cx="0" cy="0"/>
        </a:xfrm>
      </p:grpSpPr>
      <p:sp>
        <p:nvSpPr>
          <p:cNvPr id="105" name="Google Shape;105;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7" name="Google Shape;10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0" name="Shape 110"/>
        <p:cNvGrpSpPr/>
        <p:nvPr/>
      </p:nvGrpSpPr>
      <p:grpSpPr>
        <a:xfrm>
          <a:off x="0" y="0"/>
          <a:ext cx="0" cy="0"/>
          <a:chOff x="0" y="0"/>
          <a:chExt cx="0" cy="0"/>
        </a:xfrm>
      </p:grpSpPr>
      <p:sp>
        <p:nvSpPr>
          <p:cNvPr id="111" name="Google Shape;11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7" name="Shape 117"/>
        <p:cNvGrpSpPr/>
        <p:nvPr/>
      </p:nvGrpSpPr>
      <p:grpSpPr>
        <a:xfrm>
          <a:off x="0" y="0"/>
          <a:ext cx="0" cy="0"/>
          <a:chOff x="0" y="0"/>
          <a:chExt cx="0" cy="0"/>
        </a:xfrm>
      </p:grpSpPr>
      <p:sp>
        <p:nvSpPr>
          <p:cNvPr id="118" name="Google Shape;118;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2" name="Google Shape;122;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 name="Shape 126"/>
        <p:cNvGrpSpPr/>
        <p:nvPr/>
      </p:nvGrpSpPr>
      <p:grpSpPr>
        <a:xfrm>
          <a:off x="0" y="0"/>
          <a:ext cx="0" cy="0"/>
          <a:chOff x="0" y="0"/>
          <a:chExt cx="0" cy="0"/>
        </a:xfrm>
      </p:grpSpPr>
      <p:sp>
        <p:nvSpPr>
          <p:cNvPr id="127" name="Google Shape;127;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 name="Shape 135"/>
        <p:cNvGrpSpPr/>
        <p:nvPr/>
      </p:nvGrpSpPr>
      <p:grpSpPr>
        <a:xfrm>
          <a:off x="0" y="0"/>
          <a:ext cx="0" cy="0"/>
          <a:chOff x="0" y="0"/>
          <a:chExt cx="0" cy="0"/>
        </a:xfrm>
      </p:grpSpPr>
      <p:sp>
        <p:nvSpPr>
          <p:cNvPr id="136" name="Google Shape;136;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8" name="Google Shape;138;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9" name="Google Shape;139;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2" name="Shape 142"/>
        <p:cNvGrpSpPr/>
        <p:nvPr/>
      </p:nvGrpSpPr>
      <p:grpSpPr>
        <a:xfrm>
          <a:off x="0" y="0"/>
          <a:ext cx="0" cy="0"/>
          <a:chOff x="0" y="0"/>
          <a:chExt cx="0" cy="0"/>
        </a:xfrm>
      </p:grpSpPr>
      <p:sp>
        <p:nvSpPr>
          <p:cNvPr id="143" name="Google Shape;143;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0"/>
          <p:cNvSpPr/>
          <p:nvPr>
            <p:ph idx="2" type="pic"/>
          </p:nvPr>
        </p:nvSpPr>
        <p:spPr>
          <a:xfrm>
            <a:off x="5183188" y="987425"/>
            <a:ext cx="6172200" cy="4873625"/>
          </a:xfrm>
          <a:prstGeom prst="rect">
            <a:avLst/>
          </a:prstGeom>
          <a:noFill/>
          <a:ln>
            <a:noFill/>
          </a:ln>
        </p:spPr>
      </p:sp>
      <p:sp>
        <p:nvSpPr>
          <p:cNvPr id="145" name="Google Shape;145;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6" name="Google Shape;14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9" name="Shape 149"/>
        <p:cNvGrpSpPr/>
        <p:nvPr/>
      </p:nvGrpSpPr>
      <p:grpSpPr>
        <a:xfrm>
          <a:off x="0" y="0"/>
          <a:ext cx="0" cy="0"/>
          <a:chOff x="0" y="0"/>
          <a:chExt cx="0" cy="0"/>
        </a:xfrm>
      </p:grpSpPr>
      <p:sp>
        <p:nvSpPr>
          <p:cNvPr id="150" name="Google Shape;15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5" name="Shape 155"/>
        <p:cNvGrpSpPr/>
        <p:nvPr/>
      </p:nvGrpSpPr>
      <p:grpSpPr>
        <a:xfrm>
          <a:off x="0" y="0"/>
          <a:ext cx="0" cy="0"/>
          <a:chOff x="0" y="0"/>
          <a:chExt cx="0" cy="0"/>
        </a:xfrm>
      </p:grpSpPr>
      <p:sp>
        <p:nvSpPr>
          <p:cNvPr id="156" name="Google Shape;156;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1" name="Shape 161"/>
        <p:cNvGrpSpPr/>
        <p:nvPr/>
      </p:nvGrpSpPr>
      <p:grpSpPr>
        <a:xfrm>
          <a:off x="0" y="0"/>
          <a:ext cx="0" cy="0"/>
          <a:chOff x="0" y="0"/>
          <a:chExt cx="0" cy="0"/>
        </a:xfrm>
      </p:grpSpPr>
      <p:cxnSp>
        <p:nvCxnSpPr>
          <p:cNvPr id="162" name="Google Shape;162;p23"/>
          <p:cNvCxnSpPr/>
          <p:nvPr/>
        </p:nvCxnSpPr>
        <p:spPr>
          <a:xfrm>
            <a:off x="3303633" y="554200"/>
            <a:ext cx="8325600" cy="0"/>
          </a:xfrm>
          <a:prstGeom prst="straightConnector1">
            <a:avLst/>
          </a:prstGeom>
          <a:noFill/>
          <a:ln cap="flat" cmpd="sng" w="38100">
            <a:solidFill>
              <a:schemeClr val="dk2"/>
            </a:solidFill>
            <a:prstDash val="solid"/>
            <a:round/>
            <a:headEnd len="sm" w="sm" type="none"/>
            <a:tailEnd len="sm" w="sm" type="none"/>
          </a:ln>
        </p:spPr>
      </p:cxnSp>
      <p:cxnSp>
        <p:nvCxnSpPr>
          <p:cNvPr id="163" name="Google Shape;163;p23"/>
          <p:cNvCxnSpPr/>
          <p:nvPr/>
        </p:nvCxnSpPr>
        <p:spPr>
          <a:xfrm>
            <a:off x="3303633" y="6320000"/>
            <a:ext cx="8325600" cy="0"/>
          </a:xfrm>
          <a:prstGeom prst="straightConnector1">
            <a:avLst/>
          </a:prstGeom>
          <a:noFill/>
          <a:ln cap="flat" cmpd="sng" w="19050">
            <a:solidFill>
              <a:schemeClr val="dk2"/>
            </a:solidFill>
            <a:prstDash val="solid"/>
            <a:round/>
            <a:headEnd len="sm" w="sm" type="none"/>
            <a:tailEnd len="sm" w="sm" type="none"/>
          </a:ln>
        </p:spPr>
      </p:cxnSp>
      <p:cxnSp>
        <p:nvCxnSpPr>
          <p:cNvPr id="164" name="Google Shape;164;p23"/>
          <p:cNvCxnSpPr/>
          <p:nvPr/>
        </p:nvCxnSpPr>
        <p:spPr>
          <a:xfrm>
            <a:off x="566931" y="554200"/>
            <a:ext cx="244500" cy="0"/>
          </a:xfrm>
          <a:prstGeom prst="straightConnector1">
            <a:avLst/>
          </a:prstGeom>
          <a:noFill/>
          <a:ln cap="flat" cmpd="sng" w="19050">
            <a:solidFill>
              <a:schemeClr val="dk2"/>
            </a:solidFill>
            <a:prstDash val="solid"/>
            <a:round/>
            <a:headEnd len="sm" w="sm" type="none"/>
            <a:tailEnd len="sm" w="sm" type="none"/>
          </a:ln>
        </p:spPr>
      </p:cxnSp>
      <p:sp>
        <p:nvSpPr>
          <p:cNvPr id="165" name="Google Shape;165;p23"/>
          <p:cNvSpPr txBox="1"/>
          <p:nvPr>
            <p:ph type="title"/>
          </p:nvPr>
        </p:nvSpPr>
        <p:spPr>
          <a:xfrm>
            <a:off x="3200333" y="767933"/>
            <a:ext cx="8428800" cy="8472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23"/>
          <p:cNvSpPr txBox="1"/>
          <p:nvPr>
            <p:ph idx="1" type="body"/>
          </p:nvPr>
        </p:nvSpPr>
        <p:spPr>
          <a:xfrm>
            <a:off x="3200403" y="2136900"/>
            <a:ext cx="4095300" cy="4003200"/>
          </a:xfrm>
          <a:prstGeom prst="rect">
            <a:avLst/>
          </a:prstGeom>
        </p:spPr>
        <p:txBody>
          <a:bodyPr anchorCtr="0" anchor="t" bIns="45700" lIns="91425" spcFirstLastPara="1" rIns="91425" wrap="square" tIns="45700">
            <a:normAutofit/>
          </a:bodyPr>
          <a:lstStyle>
            <a:lvl1pPr indent="-349250" lvl="0" marL="457200">
              <a:spcBef>
                <a:spcPts val="1000"/>
              </a:spcBef>
              <a:spcAft>
                <a:spcPts val="0"/>
              </a:spcAft>
              <a:buSzPts val="1900"/>
              <a:buChar char="•"/>
              <a:defRPr sz="1900"/>
            </a:lvl1pPr>
            <a:lvl2pPr indent="-330200" lvl="1" marL="914400">
              <a:spcBef>
                <a:spcPts val="500"/>
              </a:spcBef>
              <a:spcAft>
                <a:spcPts val="0"/>
              </a:spcAft>
              <a:buSzPts val="1600"/>
              <a:buChar char="•"/>
              <a:defRPr sz="1600"/>
            </a:lvl2pPr>
            <a:lvl3pPr indent="-330200" lvl="2" marL="1371600">
              <a:spcBef>
                <a:spcPts val="500"/>
              </a:spcBef>
              <a:spcAft>
                <a:spcPts val="0"/>
              </a:spcAft>
              <a:buSzPts val="1600"/>
              <a:buChar char="•"/>
              <a:defRPr sz="1600"/>
            </a:lvl3pPr>
            <a:lvl4pPr indent="-330200" lvl="3" marL="1828800">
              <a:spcBef>
                <a:spcPts val="500"/>
              </a:spcBef>
              <a:spcAft>
                <a:spcPts val="0"/>
              </a:spcAft>
              <a:buSzPts val="1600"/>
              <a:buChar char="•"/>
              <a:defRPr sz="1600"/>
            </a:lvl4pPr>
            <a:lvl5pPr indent="-330200" lvl="4" marL="2286000">
              <a:spcBef>
                <a:spcPts val="500"/>
              </a:spcBef>
              <a:spcAft>
                <a:spcPts val="0"/>
              </a:spcAft>
              <a:buSzPts val="1600"/>
              <a:buChar char="•"/>
              <a:defRPr sz="1600"/>
            </a:lvl5pPr>
            <a:lvl6pPr indent="-330200" lvl="5" marL="2743200">
              <a:spcBef>
                <a:spcPts val="500"/>
              </a:spcBef>
              <a:spcAft>
                <a:spcPts val="0"/>
              </a:spcAft>
              <a:buSzPts val="1600"/>
              <a:buChar char="•"/>
              <a:defRPr sz="1600"/>
            </a:lvl6pPr>
            <a:lvl7pPr indent="-330200" lvl="6" marL="3200400">
              <a:spcBef>
                <a:spcPts val="500"/>
              </a:spcBef>
              <a:spcAft>
                <a:spcPts val="0"/>
              </a:spcAft>
              <a:buSzPts val="1600"/>
              <a:buChar char="•"/>
              <a:defRPr sz="1600"/>
            </a:lvl7pPr>
            <a:lvl8pPr indent="-330200" lvl="7" marL="3657600">
              <a:spcBef>
                <a:spcPts val="500"/>
              </a:spcBef>
              <a:spcAft>
                <a:spcPts val="0"/>
              </a:spcAft>
              <a:buSzPts val="1600"/>
              <a:buChar char="•"/>
              <a:defRPr sz="1600"/>
            </a:lvl8pPr>
            <a:lvl9pPr indent="-330200" lvl="8" marL="4114800">
              <a:spcBef>
                <a:spcPts val="500"/>
              </a:spcBef>
              <a:spcAft>
                <a:spcPts val="0"/>
              </a:spcAft>
              <a:buSzPts val="1600"/>
              <a:buChar char="•"/>
              <a:defRPr sz="1600"/>
            </a:lvl9pPr>
          </a:lstStyle>
          <a:p/>
        </p:txBody>
      </p:sp>
      <p:sp>
        <p:nvSpPr>
          <p:cNvPr id="167" name="Google Shape;167;p23"/>
          <p:cNvSpPr txBox="1"/>
          <p:nvPr>
            <p:ph idx="2" type="body"/>
          </p:nvPr>
        </p:nvSpPr>
        <p:spPr>
          <a:xfrm>
            <a:off x="7534096" y="2136900"/>
            <a:ext cx="4095300" cy="4003200"/>
          </a:xfrm>
          <a:prstGeom prst="rect">
            <a:avLst/>
          </a:prstGeom>
        </p:spPr>
        <p:txBody>
          <a:bodyPr anchorCtr="0" anchor="t" bIns="45700" lIns="91425" spcFirstLastPara="1" rIns="91425" wrap="square" tIns="45700">
            <a:normAutofit/>
          </a:bodyPr>
          <a:lstStyle>
            <a:lvl1pPr indent="-349250" lvl="0" marL="457200">
              <a:spcBef>
                <a:spcPts val="1000"/>
              </a:spcBef>
              <a:spcAft>
                <a:spcPts val="0"/>
              </a:spcAft>
              <a:buSzPts val="1900"/>
              <a:buChar char="•"/>
              <a:defRPr sz="1900"/>
            </a:lvl1pPr>
            <a:lvl2pPr indent="-330200" lvl="1" marL="914400">
              <a:spcBef>
                <a:spcPts val="500"/>
              </a:spcBef>
              <a:spcAft>
                <a:spcPts val="0"/>
              </a:spcAft>
              <a:buSzPts val="1600"/>
              <a:buChar char="•"/>
              <a:defRPr sz="1600"/>
            </a:lvl2pPr>
            <a:lvl3pPr indent="-330200" lvl="2" marL="1371600">
              <a:spcBef>
                <a:spcPts val="500"/>
              </a:spcBef>
              <a:spcAft>
                <a:spcPts val="0"/>
              </a:spcAft>
              <a:buSzPts val="1600"/>
              <a:buChar char="•"/>
              <a:defRPr sz="1600"/>
            </a:lvl3pPr>
            <a:lvl4pPr indent="-330200" lvl="3" marL="1828800">
              <a:spcBef>
                <a:spcPts val="500"/>
              </a:spcBef>
              <a:spcAft>
                <a:spcPts val="0"/>
              </a:spcAft>
              <a:buSzPts val="1600"/>
              <a:buChar char="•"/>
              <a:defRPr sz="1600"/>
            </a:lvl4pPr>
            <a:lvl5pPr indent="-330200" lvl="4" marL="2286000">
              <a:spcBef>
                <a:spcPts val="500"/>
              </a:spcBef>
              <a:spcAft>
                <a:spcPts val="0"/>
              </a:spcAft>
              <a:buSzPts val="1600"/>
              <a:buChar char="•"/>
              <a:defRPr sz="1600"/>
            </a:lvl5pPr>
            <a:lvl6pPr indent="-330200" lvl="5" marL="2743200">
              <a:spcBef>
                <a:spcPts val="500"/>
              </a:spcBef>
              <a:spcAft>
                <a:spcPts val="0"/>
              </a:spcAft>
              <a:buSzPts val="1600"/>
              <a:buChar char="•"/>
              <a:defRPr sz="1600"/>
            </a:lvl6pPr>
            <a:lvl7pPr indent="-330200" lvl="6" marL="3200400">
              <a:spcBef>
                <a:spcPts val="500"/>
              </a:spcBef>
              <a:spcAft>
                <a:spcPts val="0"/>
              </a:spcAft>
              <a:buSzPts val="1600"/>
              <a:buChar char="•"/>
              <a:defRPr sz="1600"/>
            </a:lvl7pPr>
            <a:lvl8pPr indent="-330200" lvl="7" marL="3657600">
              <a:spcBef>
                <a:spcPts val="500"/>
              </a:spcBef>
              <a:spcAft>
                <a:spcPts val="0"/>
              </a:spcAft>
              <a:buSzPts val="1600"/>
              <a:buChar char="•"/>
              <a:defRPr sz="1600"/>
            </a:lvl8pPr>
            <a:lvl9pPr indent="-330200" lvl="8" marL="4114800">
              <a:spcBef>
                <a:spcPts val="500"/>
              </a:spcBef>
              <a:spcAft>
                <a:spcPts val="0"/>
              </a:spcAft>
              <a:buSzPts val="1600"/>
              <a:buChar char="•"/>
              <a:defRPr sz="1600"/>
            </a:lvl9pPr>
          </a:lstStyle>
          <a:p/>
        </p:txBody>
      </p:sp>
      <p:sp>
        <p:nvSpPr>
          <p:cNvPr id="168" name="Google Shape;168;p23"/>
          <p:cNvSpPr txBox="1"/>
          <p:nvPr>
            <p:ph idx="12" type="sldNum"/>
          </p:nvPr>
        </p:nvSpPr>
        <p:spPr>
          <a:xfrm>
            <a:off x="11330666" y="6251679"/>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 Type="http://schemas.openxmlformats.org/officeDocument/2006/relationships/image" Target="../media/image43.pn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1.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90" name="Google Shape;90;p11"/>
          <p:cNvPicPr preferRelativeResize="0"/>
          <p:nvPr/>
        </p:nvPicPr>
        <p:blipFill rotWithShape="1">
          <a:blip r:embed="rId1">
            <a:alphaModFix/>
          </a:blip>
          <a:srcRect b="0" l="0" r="0" t="0"/>
          <a:stretch/>
        </p:blipFill>
        <p:spPr>
          <a:xfrm>
            <a:off x="0" y="0"/>
            <a:ext cx="12191851" cy="6858084"/>
          </a:xfrm>
          <a:prstGeom prst="rect">
            <a:avLst/>
          </a:prstGeom>
          <a:noFill/>
          <a:ln>
            <a:noFill/>
          </a:ln>
        </p:spPr>
      </p:pic>
      <p:sp>
        <p:nvSpPr>
          <p:cNvPr id="91" name="Google Shape;91;p11"/>
          <p:cNvSpPr txBox="1"/>
          <p:nvPr/>
        </p:nvSpPr>
        <p:spPr>
          <a:xfrm>
            <a:off x="4724325" y="6400090"/>
            <a:ext cx="2743200" cy="365125"/>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1800">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3.jpg"/><Relationship Id="rId5" Type="http://schemas.openxmlformats.org/officeDocument/2006/relationships/image" Target="../media/image4.png"/><Relationship Id="rId6"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27.png"/><Relationship Id="rId4" Type="http://schemas.openxmlformats.org/officeDocument/2006/relationships/image" Target="../media/image21.png"/><Relationship Id="rId5" Type="http://schemas.openxmlformats.org/officeDocument/2006/relationships/image" Target="../media/image24.png"/><Relationship Id="rId6" Type="http://schemas.openxmlformats.org/officeDocument/2006/relationships/image" Target="../media/image22.png"/><Relationship Id="rId7" Type="http://schemas.openxmlformats.org/officeDocument/2006/relationships/image" Target="../media/image31.png"/><Relationship Id="rId8"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5.png"/><Relationship Id="rId5" Type="http://schemas.openxmlformats.org/officeDocument/2006/relationships/image" Target="../media/image29.png"/><Relationship Id="rId6"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 Id="rId3" Type="http://schemas.openxmlformats.org/officeDocument/2006/relationships/image" Target="../media/image20.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5.png"/><Relationship Id="rId7"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nvSpPr>
        <p:spPr>
          <a:xfrm>
            <a:off x="2060300" y="1851925"/>
            <a:ext cx="89049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DDF08"/>
              </a:buClr>
              <a:buSzPts val="4400"/>
              <a:buFont typeface="Arial"/>
              <a:buNone/>
            </a:pPr>
            <a:r>
              <a:rPr b="1" lang="en-US" sz="4400">
                <a:solidFill>
                  <a:srgbClr val="FDDF08"/>
                </a:solidFill>
              </a:rPr>
              <a:t>HỆ THỐNG THỜI GIAN THỰC</a:t>
            </a:r>
            <a:endParaRPr/>
          </a:p>
          <a:p>
            <a:pPr indent="0" lvl="0" marL="0" marR="0" rtl="0" algn="l">
              <a:lnSpc>
                <a:spcPct val="100000"/>
              </a:lnSpc>
              <a:spcBef>
                <a:spcPts val="0"/>
              </a:spcBef>
              <a:spcAft>
                <a:spcPts val="0"/>
              </a:spcAft>
              <a:buClr>
                <a:schemeClr val="dk1"/>
              </a:buClr>
              <a:buSzPts val="3600"/>
              <a:buFont typeface="Calibri"/>
              <a:buNone/>
            </a:pPr>
            <a:r>
              <a:t/>
            </a:r>
            <a:endParaRPr b="1" i="0" sz="3600" u="none" cap="none" strike="noStrike">
              <a:solidFill>
                <a:srgbClr val="FFFFFF"/>
              </a:solidFill>
              <a:latin typeface="Calibri"/>
              <a:ea typeface="Calibri"/>
              <a:cs typeface="Calibri"/>
              <a:sym typeface="Calibri"/>
            </a:endParaRPr>
          </a:p>
        </p:txBody>
      </p:sp>
      <p:sp>
        <p:nvSpPr>
          <p:cNvPr id="174" name="Google Shape;174;p24"/>
          <p:cNvSpPr txBox="1"/>
          <p:nvPr/>
        </p:nvSpPr>
        <p:spPr>
          <a:xfrm>
            <a:off x="3303677" y="4166275"/>
            <a:ext cx="57639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400"/>
              <a:buFont typeface="Arial"/>
              <a:buNone/>
            </a:pPr>
            <a:r>
              <a:rPr b="1" lang="en-US" sz="2400">
                <a:solidFill>
                  <a:srgbClr val="FFFFFF"/>
                </a:solidFill>
              </a:rPr>
              <a:t>Nhóm</a:t>
            </a:r>
            <a:r>
              <a:rPr b="1" i="0" lang="en-US" sz="2400" u="none" cap="none" strike="noStrike">
                <a:solidFill>
                  <a:srgbClr val="FFFFFF"/>
                </a:solidFill>
                <a:latin typeface="Arial"/>
                <a:ea typeface="Arial"/>
                <a:cs typeface="Arial"/>
                <a:sym typeface="Arial"/>
              </a:rPr>
              <a:t>: </a:t>
            </a:r>
            <a:r>
              <a:rPr b="1" lang="en-US" sz="2400">
                <a:solidFill>
                  <a:srgbClr val="FFFFFF"/>
                </a:solidFill>
              </a:rPr>
              <a:t>15</a:t>
            </a:r>
            <a:endParaRPr/>
          </a:p>
          <a:p>
            <a:pPr indent="0" lvl="0" marL="0" marR="0" rtl="0" algn="l">
              <a:lnSpc>
                <a:spcPct val="100000"/>
              </a:lnSpc>
              <a:spcBef>
                <a:spcPts val="0"/>
              </a:spcBef>
              <a:spcAft>
                <a:spcPts val="0"/>
              </a:spcAft>
              <a:buClr>
                <a:srgbClr val="FFFFFF"/>
              </a:buClr>
              <a:buSzPts val="2400"/>
              <a:buFont typeface="Arial"/>
              <a:buNone/>
            </a:pPr>
            <a:r>
              <a:rPr b="1" lang="en-US" sz="2400">
                <a:solidFill>
                  <a:srgbClr val="FFFFFF"/>
                </a:solidFill>
              </a:rPr>
              <a:t>Lê Minh Mạnh</a:t>
            </a:r>
            <a:endParaRPr b="1" sz="2400">
              <a:solidFill>
                <a:srgbClr val="FFFFFF"/>
              </a:solidFill>
            </a:endParaRPr>
          </a:p>
          <a:p>
            <a:pPr indent="0" lvl="0" marL="0" marR="0" rtl="0" algn="l">
              <a:lnSpc>
                <a:spcPct val="100000"/>
              </a:lnSpc>
              <a:spcBef>
                <a:spcPts val="0"/>
              </a:spcBef>
              <a:spcAft>
                <a:spcPts val="0"/>
              </a:spcAft>
              <a:buClr>
                <a:srgbClr val="FFFFFF"/>
              </a:buClr>
              <a:buSzPts val="2400"/>
              <a:buFont typeface="Arial"/>
              <a:buNone/>
            </a:pPr>
            <a:r>
              <a:rPr b="1" lang="en-US" sz="2400">
                <a:solidFill>
                  <a:srgbClr val="FFFFFF"/>
                </a:solidFill>
              </a:rPr>
              <a:t>Huỳnh Phúc Quang Minh</a:t>
            </a:r>
            <a:endParaRPr b="1" sz="2400">
              <a:solidFill>
                <a:srgbClr val="FFFFFF"/>
              </a:solidFill>
            </a:endParaRPr>
          </a:p>
          <a:p>
            <a:pPr indent="0" lvl="0" marL="0" marR="0" rtl="0" algn="l">
              <a:lnSpc>
                <a:spcPct val="100000"/>
              </a:lnSpc>
              <a:spcBef>
                <a:spcPts val="0"/>
              </a:spcBef>
              <a:spcAft>
                <a:spcPts val="0"/>
              </a:spcAft>
              <a:buClr>
                <a:schemeClr val="dk1"/>
              </a:buClr>
              <a:buSzPts val="3600"/>
              <a:buFont typeface="Calibri"/>
              <a:buNone/>
            </a:pPr>
            <a:r>
              <a:t/>
            </a:r>
            <a:endParaRPr b="1" i="0" sz="3600" u="none" cap="none" strike="noStrike">
              <a:solidFill>
                <a:srgbClr val="FFFFFF"/>
              </a:solidFill>
              <a:latin typeface="Calibri"/>
              <a:ea typeface="Calibri"/>
              <a:cs typeface="Calibri"/>
              <a:sym typeface="Calibri"/>
            </a:endParaRPr>
          </a:p>
        </p:txBody>
      </p:sp>
      <p:sp>
        <p:nvSpPr>
          <p:cNvPr id="175" name="Google Shape;175;p2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76" name="Google Shape;176;p24"/>
          <p:cNvSpPr txBox="1"/>
          <p:nvPr/>
        </p:nvSpPr>
        <p:spPr>
          <a:xfrm>
            <a:off x="2984100" y="2612000"/>
            <a:ext cx="7483500" cy="7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900">
                <a:solidFill>
                  <a:schemeClr val="lt1"/>
                </a:solidFill>
              </a:rPr>
              <a:t>HỆ THỐNG GIÁM SÁT VÀ CẢNH BÁO TRONG NHÀ</a:t>
            </a:r>
            <a:endParaRPr sz="19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80" name="Shape 180"/>
        <p:cNvGrpSpPr/>
        <p:nvPr/>
      </p:nvGrpSpPr>
      <p:grpSpPr>
        <a:xfrm>
          <a:off x="0" y="0"/>
          <a:ext cx="0" cy="0"/>
          <a:chOff x="0" y="0"/>
          <a:chExt cx="0" cy="0"/>
        </a:xfrm>
      </p:grpSpPr>
      <p:sp>
        <p:nvSpPr>
          <p:cNvPr id="181" name="Google Shape;181;p25"/>
          <p:cNvSpPr/>
          <p:nvPr/>
        </p:nvSpPr>
        <p:spPr>
          <a:xfrm>
            <a:off x="8730701" y="1743077"/>
            <a:ext cx="3071731" cy="3295014"/>
          </a:xfrm>
          <a:custGeom>
            <a:rect b="b" l="l" r="r" t="t"/>
            <a:pathLst>
              <a:path extrusionOk="0" h="6246472" w="5610468">
                <a:moveTo>
                  <a:pt x="0" y="0"/>
                </a:moveTo>
                <a:lnTo>
                  <a:pt x="5610468" y="0"/>
                </a:lnTo>
                <a:lnTo>
                  <a:pt x="5610468" y="6246472"/>
                </a:lnTo>
                <a:lnTo>
                  <a:pt x="0" y="6246472"/>
                </a:lnTo>
                <a:lnTo>
                  <a:pt x="0" y="0"/>
                </a:lnTo>
                <a:close/>
              </a:path>
            </a:pathLst>
          </a:custGeom>
          <a:blipFill rotWithShape="1">
            <a:blip r:embed="rId3">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2" name="Google Shape;182;p25"/>
          <p:cNvSpPr txBox="1"/>
          <p:nvPr/>
        </p:nvSpPr>
        <p:spPr>
          <a:xfrm>
            <a:off x="500383" y="225433"/>
            <a:ext cx="110325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TỔNG QUAN VỀ HỆ THỐNG THỜI GIAN THỰC</a:t>
            </a:r>
            <a:endParaRPr sz="900"/>
          </a:p>
        </p:txBody>
      </p:sp>
      <p:sp>
        <p:nvSpPr>
          <p:cNvPr id="183" name="Google Shape;183;p25"/>
          <p:cNvSpPr txBox="1"/>
          <p:nvPr/>
        </p:nvSpPr>
        <p:spPr>
          <a:xfrm>
            <a:off x="266183" y="1210499"/>
            <a:ext cx="7499700" cy="5048100"/>
          </a:xfrm>
          <a:prstGeom prst="rect">
            <a:avLst/>
          </a:prstGeom>
          <a:noFill/>
          <a:ln>
            <a:noFill/>
          </a:ln>
        </p:spPr>
        <p:txBody>
          <a:bodyPr anchorCtr="0" anchor="t" bIns="0" lIns="0" spcFirstLastPara="1" rIns="0" wrap="square" tIns="0">
            <a:spAutoFit/>
          </a:bodyPr>
          <a:lstStyle/>
          <a:p>
            <a:pPr indent="0" lvl="0" marL="0" marR="0" rtl="0" algn="just">
              <a:lnSpc>
                <a:spcPct val="139980"/>
              </a:lnSpc>
              <a:spcBef>
                <a:spcPts val="0"/>
              </a:spcBef>
              <a:spcAft>
                <a:spcPts val="0"/>
              </a:spcAft>
              <a:buNone/>
            </a:pPr>
            <a:r>
              <a:rPr lang="en-US" sz="2000">
                <a:solidFill>
                  <a:srgbClr val="343434"/>
                </a:solidFill>
              </a:rPr>
              <a:t>Hệ thống thời gian thực là hệ thống máy tính chuyên dụng tương tác với thế giới vật lý, phản hồi các sự kiện ngay lập tức. Chúng rất quan trọng trong các tình huống như hàng không, quy trình y tế và tự động hóa công nghiệp, nơi sự chậm trễ có thể dẫn đến hậu quả thảm khốc. Hai nguyên tắc xác định của hệ thống thời gian thực là:</a:t>
            </a:r>
            <a:endParaRPr sz="900"/>
          </a:p>
          <a:p>
            <a:pPr indent="0" lvl="0" marL="0" marR="0" rtl="0" algn="just">
              <a:lnSpc>
                <a:spcPct val="139980"/>
              </a:lnSpc>
              <a:spcBef>
                <a:spcPts val="0"/>
              </a:spcBef>
              <a:spcAft>
                <a:spcPts val="0"/>
              </a:spcAft>
              <a:buNone/>
            </a:pPr>
            <a:r>
              <a:t/>
            </a:r>
            <a:endParaRPr sz="2000">
              <a:solidFill>
                <a:srgbClr val="343434"/>
              </a:solidFill>
            </a:endParaRPr>
          </a:p>
          <a:p>
            <a:pPr indent="-279400" lvl="0" marL="304800" marR="0" rtl="0" algn="just">
              <a:lnSpc>
                <a:spcPct val="139980"/>
              </a:lnSpc>
              <a:spcBef>
                <a:spcPts val="0"/>
              </a:spcBef>
              <a:spcAft>
                <a:spcPts val="0"/>
              </a:spcAft>
              <a:buClr>
                <a:srgbClr val="343434"/>
              </a:buClr>
              <a:buSzPts val="2000"/>
              <a:buChar char="●"/>
            </a:pPr>
            <a:r>
              <a:rPr i="0" lang="en-US" sz="2000" u="none" cap="none" strike="noStrike">
                <a:solidFill>
                  <a:srgbClr val="343434"/>
                </a:solidFill>
              </a:rPr>
              <a:t>Tính kịp thời : Phản hồi phải diễn ra trong thời hạn nghiêm ngặt.</a:t>
            </a:r>
            <a:endParaRPr sz="900"/>
          </a:p>
          <a:p>
            <a:pPr indent="-279400" lvl="0" marL="304800" marR="0" rtl="0" algn="just">
              <a:lnSpc>
                <a:spcPct val="139980"/>
              </a:lnSpc>
              <a:spcBef>
                <a:spcPts val="0"/>
              </a:spcBef>
              <a:spcAft>
                <a:spcPts val="0"/>
              </a:spcAft>
              <a:buClr>
                <a:srgbClr val="343434"/>
              </a:buClr>
              <a:buSzPts val="2000"/>
              <a:buChar char="●"/>
            </a:pPr>
            <a:r>
              <a:rPr i="0" lang="en-US" sz="2000" u="none" cap="none" strike="noStrike">
                <a:solidFill>
                  <a:srgbClr val="343434"/>
                </a:solidFill>
              </a:rPr>
              <a:t>Tính nghiêm trọng : Việc trễ thời hạn có thể dẫn đến hậu quả nghiêm trọng.</a:t>
            </a:r>
            <a:endParaRPr sz="900"/>
          </a:p>
          <a:p>
            <a:pPr indent="0" lvl="0" marL="0" marR="0" rtl="0" algn="just">
              <a:lnSpc>
                <a:spcPct val="139980"/>
              </a:lnSpc>
              <a:spcBef>
                <a:spcPts val="0"/>
              </a:spcBef>
              <a:spcAft>
                <a:spcPts val="0"/>
              </a:spcAft>
              <a:buNone/>
            </a:pPr>
            <a:r>
              <a:t/>
            </a:r>
            <a:endParaRPr sz="2000">
              <a:solidFill>
                <a:srgbClr val="343434"/>
              </a:solidFill>
            </a:endParaRPr>
          </a:p>
        </p:txBody>
      </p:sp>
      <p:sp>
        <p:nvSpPr>
          <p:cNvPr id="184" name="Google Shape;184;p2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89" name="Shape 189"/>
        <p:cNvGrpSpPr/>
        <p:nvPr/>
      </p:nvGrpSpPr>
      <p:grpSpPr>
        <a:xfrm>
          <a:off x="0" y="0"/>
          <a:ext cx="0" cy="0"/>
          <a:chOff x="0" y="0"/>
          <a:chExt cx="0" cy="0"/>
        </a:xfrm>
      </p:grpSpPr>
      <p:sp>
        <p:nvSpPr>
          <p:cNvPr id="190" name="Google Shape;190;p26"/>
          <p:cNvSpPr txBox="1"/>
          <p:nvPr/>
        </p:nvSpPr>
        <p:spPr>
          <a:xfrm>
            <a:off x="1574800" y="177800"/>
            <a:ext cx="96087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ƯU ĐIỂM VÀ NHƯỢC ĐIỂM CỦA </a:t>
            </a:r>
            <a:endParaRPr sz="900"/>
          </a:p>
        </p:txBody>
      </p:sp>
      <p:sp>
        <p:nvSpPr>
          <p:cNvPr id="191" name="Google Shape;191;p26"/>
          <p:cNvSpPr txBox="1"/>
          <p:nvPr/>
        </p:nvSpPr>
        <p:spPr>
          <a:xfrm>
            <a:off x="768850" y="1319650"/>
            <a:ext cx="1625700" cy="4311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Ưu điểm:</a:t>
            </a:r>
            <a:endParaRPr sz="900"/>
          </a:p>
        </p:txBody>
      </p:sp>
      <p:pic>
        <p:nvPicPr>
          <p:cNvPr id="192" name="Google Shape;192;p26"/>
          <p:cNvPicPr preferRelativeResize="0"/>
          <p:nvPr/>
        </p:nvPicPr>
        <p:blipFill rotWithShape="1">
          <a:blip r:embed="rId3">
            <a:alphaModFix/>
          </a:blip>
          <a:srcRect b="0" l="0" r="0" t="0"/>
          <a:stretch/>
        </p:blipFill>
        <p:spPr>
          <a:xfrm>
            <a:off x="7629869" y="1750762"/>
            <a:ext cx="3854531" cy="3356488"/>
          </a:xfrm>
          <a:prstGeom prst="rect">
            <a:avLst/>
          </a:prstGeom>
          <a:noFill/>
          <a:ln>
            <a:noFill/>
          </a:ln>
        </p:spPr>
      </p:pic>
      <p:sp>
        <p:nvSpPr>
          <p:cNvPr id="193" name="Google Shape;193;p2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94" name="Google Shape;194;p26"/>
          <p:cNvSpPr txBox="1"/>
          <p:nvPr/>
        </p:nvSpPr>
        <p:spPr>
          <a:xfrm>
            <a:off x="701350" y="1895525"/>
            <a:ext cx="5163300" cy="4186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1200"/>
              </a:spcBef>
              <a:spcAft>
                <a:spcPts val="0"/>
              </a:spcAft>
              <a:buNone/>
            </a:pPr>
            <a:r>
              <a:rPr lang="en-US" sz="1800">
                <a:solidFill>
                  <a:schemeClr val="dk1"/>
                </a:solidFill>
                <a:latin typeface="Calibri"/>
                <a:ea typeface="Calibri"/>
                <a:cs typeface="Calibri"/>
                <a:sym typeface="Calibri"/>
              </a:rPr>
              <a:t>Ứng dụng thời gian thực (RTA): Ứng dụng hoạt động tức thời với độ trễ nhỏ hơn vài giây. </a:t>
            </a:r>
            <a:endParaRPr sz="1800">
              <a:solidFill>
                <a:schemeClr val="dk1"/>
              </a:solidFill>
              <a:latin typeface="Calibri"/>
              <a:ea typeface="Calibri"/>
              <a:cs typeface="Calibri"/>
              <a:sym typeface="Calibri"/>
            </a:endParaRPr>
          </a:p>
          <a:p>
            <a:pPr indent="0" lvl="0" marL="0" rtl="0" algn="l">
              <a:lnSpc>
                <a:spcPct val="90000"/>
              </a:lnSpc>
              <a:spcBef>
                <a:spcPts val="1200"/>
              </a:spcBef>
              <a:spcAft>
                <a:spcPts val="0"/>
              </a:spcAft>
              <a:buNone/>
            </a:pPr>
            <a:r>
              <a:rPr lang="en-US" sz="1800">
                <a:solidFill>
                  <a:schemeClr val="dk1"/>
                </a:solidFill>
                <a:latin typeface="Calibri"/>
                <a:ea typeface="Calibri"/>
                <a:cs typeface="Calibri"/>
                <a:sym typeface="Calibri"/>
              </a:rPr>
              <a:t>Tính năng:</a:t>
            </a:r>
            <a:endParaRPr sz="1800">
              <a:solidFill>
                <a:schemeClr val="dk1"/>
              </a:solidFill>
              <a:latin typeface="Calibri"/>
              <a:ea typeface="Calibri"/>
              <a:cs typeface="Calibri"/>
              <a:sym typeface="Calibri"/>
            </a:endParaRPr>
          </a:p>
          <a:p>
            <a:pPr indent="-342900" lvl="0" marL="457200" rtl="0" algn="l">
              <a:lnSpc>
                <a:spcPct val="90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Phản hồi tức thì</a:t>
            </a:r>
            <a:endParaRPr sz="1800">
              <a:solidFill>
                <a:schemeClr val="dk1"/>
              </a:solidFill>
              <a:latin typeface="Calibri"/>
              <a:ea typeface="Calibri"/>
              <a:cs typeface="Calibri"/>
              <a:sym typeface="Calibri"/>
            </a:endParaRPr>
          </a:p>
          <a:p>
            <a:pPr indent="-342900" lvl="0" marL="457200" rtl="0" algn="l">
              <a:lnSpc>
                <a:spcPct val="90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Giao tiếp thời gian thực, 2 chiều</a:t>
            </a:r>
            <a:endParaRPr sz="1800">
              <a:solidFill>
                <a:schemeClr val="dk1"/>
              </a:solidFill>
              <a:latin typeface="Calibri"/>
              <a:ea typeface="Calibri"/>
              <a:cs typeface="Calibri"/>
              <a:sym typeface="Calibri"/>
            </a:endParaRPr>
          </a:p>
          <a:p>
            <a:pPr indent="-342900" lvl="0" marL="457200" rtl="0" algn="l">
              <a:lnSpc>
                <a:spcPct val="90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Quy trình làm việc động, thích ứng dữ liệu</a:t>
            </a:r>
            <a:endParaRPr sz="1800">
              <a:solidFill>
                <a:schemeClr val="dk1"/>
              </a:solidFill>
              <a:latin typeface="Calibri"/>
              <a:ea typeface="Calibri"/>
              <a:cs typeface="Calibri"/>
              <a:sym typeface="Calibri"/>
            </a:endParaRPr>
          </a:p>
          <a:p>
            <a:pPr indent="0" lvl="0" marL="0" rtl="0" algn="l">
              <a:lnSpc>
                <a:spcPct val="90000"/>
              </a:lnSpc>
              <a:spcBef>
                <a:spcPts val="1200"/>
              </a:spcBef>
              <a:spcAft>
                <a:spcPts val="0"/>
              </a:spcAft>
              <a:buNone/>
            </a:pPr>
            <a:r>
              <a:rPr lang="en-US" sz="1800">
                <a:solidFill>
                  <a:schemeClr val="dk1"/>
                </a:solidFill>
                <a:latin typeface="Calibri"/>
                <a:ea typeface="Calibri"/>
                <a:cs typeface="Calibri"/>
                <a:sym typeface="Calibri"/>
              </a:rPr>
              <a:t>Lợi ích: </a:t>
            </a:r>
            <a:endParaRPr sz="1800">
              <a:solidFill>
                <a:schemeClr val="dk1"/>
              </a:solidFill>
              <a:latin typeface="Calibri"/>
              <a:ea typeface="Calibri"/>
              <a:cs typeface="Calibri"/>
              <a:sym typeface="Calibri"/>
            </a:endParaRPr>
          </a:p>
          <a:p>
            <a:pPr indent="-342900" lvl="0" marL="457200" rtl="0" algn="l">
              <a:lnSpc>
                <a:spcPct val="90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Cải thiện kết nối với khách hàng</a:t>
            </a:r>
            <a:endParaRPr sz="1800">
              <a:solidFill>
                <a:schemeClr val="dk1"/>
              </a:solidFill>
              <a:latin typeface="Calibri"/>
              <a:ea typeface="Calibri"/>
              <a:cs typeface="Calibri"/>
              <a:sym typeface="Calibri"/>
            </a:endParaRPr>
          </a:p>
          <a:p>
            <a:pPr indent="-342900" lvl="0" marL="457200" rtl="0" algn="l">
              <a:lnSpc>
                <a:spcPct val="90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Tăng năng suất</a:t>
            </a:r>
            <a:endParaRPr sz="1800">
              <a:solidFill>
                <a:schemeClr val="dk1"/>
              </a:solidFill>
              <a:latin typeface="Calibri"/>
              <a:ea typeface="Calibri"/>
              <a:cs typeface="Calibri"/>
              <a:sym typeface="Calibri"/>
            </a:endParaRPr>
          </a:p>
          <a:p>
            <a:pPr indent="-342900" lvl="0" marL="457200" rtl="0" algn="l">
              <a:lnSpc>
                <a:spcPct val="90000"/>
              </a:lnSpc>
              <a:spcBef>
                <a:spcPts val="1200"/>
              </a:spcBef>
              <a:spcAft>
                <a:spcPts val="0"/>
              </a:spcAft>
              <a:buClr>
                <a:schemeClr val="dk1"/>
              </a:buClr>
              <a:buSzPts val="1800"/>
              <a:buChar char="•"/>
            </a:pPr>
            <a:r>
              <a:rPr lang="en-US" sz="1800">
                <a:solidFill>
                  <a:schemeClr val="dk1"/>
                </a:solidFill>
                <a:latin typeface="Calibri"/>
                <a:ea typeface="Calibri"/>
                <a:cs typeface="Calibri"/>
                <a:sym typeface="Calibri"/>
              </a:rPr>
              <a:t>Quyết định dựa trên dữ liệu</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199" name="Shape 199"/>
        <p:cNvGrpSpPr/>
        <p:nvPr/>
      </p:nvGrpSpPr>
      <p:grpSpPr>
        <a:xfrm>
          <a:off x="0" y="0"/>
          <a:ext cx="0" cy="0"/>
          <a:chOff x="0" y="0"/>
          <a:chExt cx="0" cy="0"/>
        </a:xfrm>
      </p:grpSpPr>
      <p:sp>
        <p:nvSpPr>
          <p:cNvPr id="200" name="Google Shape;200;p27"/>
          <p:cNvSpPr txBox="1"/>
          <p:nvPr/>
        </p:nvSpPr>
        <p:spPr>
          <a:xfrm>
            <a:off x="1574800" y="177800"/>
            <a:ext cx="96087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ƯU ĐIỂM VÀ NHƯỢC ĐIỂM CỦA </a:t>
            </a:r>
            <a:endParaRPr sz="900"/>
          </a:p>
        </p:txBody>
      </p:sp>
      <p:sp>
        <p:nvSpPr>
          <p:cNvPr id="201" name="Google Shape;201;p27"/>
          <p:cNvSpPr txBox="1"/>
          <p:nvPr/>
        </p:nvSpPr>
        <p:spPr>
          <a:xfrm>
            <a:off x="450852" y="1014419"/>
            <a:ext cx="1981200" cy="4311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Nhược điểm:</a:t>
            </a:r>
            <a:endParaRPr sz="900"/>
          </a:p>
        </p:txBody>
      </p:sp>
      <p:sp>
        <p:nvSpPr>
          <p:cNvPr id="202" name="Google Shape;202;p27"/>
          <p:cNvSpPr txBox="1"/>
          <p:nvPr/>
        </p:nvSpPr>
        <p:spPr>
          <a:xfrm>
            <a:off x="1441452" y="1594345"/>
            <a:ext cx="9875700" cy="5233500"/>
          </a:xfrm>
          <a:prstGeom prst="rect">
            <a:avLst/>
          </a:prstGeom>
          <a:noFill/>
          <a:ln>
            <a:noFill/>
          </a:ln>
        </p:spPr>
        <p:txBody>
          <a:bodyPr anchorCtr="0" anchor="t" bIns="30475" lIns="60950" spcFirstLastPara="1" rIns="60950" wrap="square" tIns="30475">
            <a:spAutoFit/>
          </a:bodyPr>
          <a:lstStyle/>
          <a:p>
            <a:pPr indent="-285750" lvl="0" marL="304800" marR="0" rtl="0" algn="l">
              <a:spcBef>
                <a:spcPts val="0"/>
              </a:spcBef>
              <a:spcAft>
                <a:spcPts val="0"/>
              </a:spcAft>
              <a:buClr>
                <a:srgbClr val="242424"/>
              </a:buClr>
              <a:buSzPts val="2100"/>
              <a:buChar char="●"/>
            </a:pPr>
            <a:r>
              <a:rPr i="0" lang="en-US" sz="2100">
                <a:solidFill>
                  <a:srgbClr val="242424"/>
                </a:solidFill>
              </a:rPr>
              <a:t>Hệ thống thời gian thực có thể phức tạp và khó thiết kế, triển khai và thử nghiệm, đòi hỏi kỹ năng và chuyên môn đặc biệt.</a:t>
            </a:r>
            <a:endParaRPr i="0" sz="2100">
              <a:solidFill>
                <a:srgbClr val="242424"/>
              </a:solidFill>
            </a:endParaRPr>
          </a:p>
          <a:p>
            <a:pPr indent="0" lvl="0" marL="304800" marR="0" rtl="0" algn="l">
              <a:spcBef>
                <a:spcPts val="0"/>
              </a:spcBef>
              <a:spcAft>
                <a:spcPts val="0"/>
              </a:spcAft>
              <a:buNone/>
            </a:pPr>
            <a:r>
              <a:t/>
            </a:r>
            <a:endParaRPr i="0" sz="2100">
              <a:solidFill>
                <a:srgbClr val="242424"/>
              </a:solidFill>
            </a:endParaRPr>
          </a:p>
          <a:p>
            <a:pPr indent="-285750" lvl="0" marL="304800" marR="0" rtl="0" algn="l">
              <a:spcBef>
                <a:spcPts val="0"/>
              </a:spcBef>
              <a:spcAft>
                <a:spcPts val="0"/>
              </a:spcAft>
              <a:buClr>
                <a:srgbClr val="242424"/>
              </a:buClr>
              <a:buSzPts val="2100"/>
              <a:buChar char="●"/>
            </a:pPr>
            <a:r>
              <a:rPr i="0" lang="en-US" sz="2100">
                <a:solidFill>
                  <a:srgbClr val="242424"/>
                </a:solidFill>
              </a:rPr>
              <a:t>Việc phát triển chúng có thể tốn kém vì chúng đòi hỏi các thành phần phần cứng và phần mềm chuyên dụng.</a:t>
            </a:r>
            <a:endParaRPr i="0" sz="2100">
              <a:solidFill>
                <a:srgbClr val="242424"/>
              </a:solidFill>
            </a:endParaRPr>
          </a:p>
          <a:p>
            <a:pPr indent="0" lvl="0" marL="304800" marR="0" rtl="0" algn="l">
              <a:spcBef>
                <a:spcPts val="0"/>
              </a:spcBef>
              <a:spcAft>
                <a:spcPts val="0"/>
              </a:spcAft>
              <a:buNone/>
            </a:pPr>
            <a:r>
              <a:t/>
            </a:r>
            <a:endParaRPr i="0" sz="2100">
              <a:solidFill>
                <a:srgbClr val="242424"/>
              </a:solidFill>
            </a:endParaRPr>
          </a:p>
          <a:p>
            <a:pPr indent="-285750" lvl="0" marL="304800" marR="0" rtl="0" algn="l">
              <a:spcBef>
                <a:spcPts val="0"/>
              </a:spcBef>
              <a:spcAft>
                <a:spcPts val="0"/>
              </a:spcAft>
              <a:buClr>
                <a:srgbClr val="242424"/>
              </a:buClr>
              <a:buSzPts val="2100"/>
              <a:buChar char="●"/>
            </a:pPr>
            <a:r>
              <a:rPr i="0" lang="en-US" sz="2100">
                <a:solidFill>
                  <a:srgbClr val="242424"/>
                </a:solidFill>
              </a:rPr>
              <a:t>Hệ thống thời gian thực thường kém linh hoạt hơn các loại hệ thống máy tính khác vì chúng phải tuân thủ các yêu cầu nghiêm ngặt về thời gian và không thể dễ dàng sửa đổi hoặc thích ứng với các hoàn cảnh thay đổi.</a:t>
            </a:r>
            <a:endParaRPr i="0" sz="2100">
              <a:solidFill>
                <a:srgbClr val="242424"/>
              </a:solidFill>
            </a:endParaRPr>
          </a:p>
          <a:p>
            <a:pPr indent="0" lvl="0" marL="304800" marR="0" rtl="0" algn="l">
              <a:spcBef>
                <a:spcPts val="0"/>
              </a:spcBef>
              <a:spcAft>
                <a:spcPts val="0"/>
              </a:spcAft>
              <a:buNone/>
            </a:pPr>
            <a:r>
              <a:t/>
            </a:r>
            <a:endParaRPr i="0" sz="2100">
              <a:solidFill>
                <a:srgbClr val="242424"/>
              </a:solidFill>
            </a:endParaRPr>
          </a:p>
          <a:p>
            <a:pPr indent="-285750" lvl="0" marL="304800" marR="0" rtl="0" algn="l">
              <a:spcBef>
                <a:spcPts val="0"/>
              </a:spcBef>
              <a:spcAft>
                <a:spcPts val="0"/>
              </a:spcAft>
              <a:buClr>
                <a:srgbClr val="242424"/>
              </a:buClr>
              <a:buSzPts val="2100"/>
              <a:buChar char="●"/>
            </a:pPr>
            <a:r>
              <a:rPr i="0" lang="en-US" sz="2100">
                <a:solidFill>
                  <a:srgbClr val="242424"/>
                </a:solidFill>
              </a:rPr>
              <a:t>Chúng có thể dễ bị hỏng hóc và trục trặc, gây ra hậu quả nghiêm trọng trong các ứng dụng quan trọng.</a:t>
            </a:r>
            <a:endParaRPr i="0" sz="2100">
              <a:solidFill>
                <a:srgbClr val="242424"/>
              </a:solidFill>
            </a:endParaRPr>
          </a:p>
          <a:p>
            <a:pPr indent="0" lvl="0" marL="304800" marR="0" rtl="0" algn="l">
              <a:spcBef>
                <a:spcPts val="0"/>
              </a:spcBef>
              <a:spcAft>
                <a:spcPts val="0"/>
              </a:spcAft>
              <a:buNone/>
            </a:pPr>
            <a:r>
              <a:t/>
            </a:r>
            <a:endParaRPr i="0" sz="2100">
              <a:solidFill>
                <a:srgbClr val="242424"/>
              </a:solidFill>
            </a:endParaRPr>
          </a:p>
          <a:p>
            <a:pPr indent="-285750" lvl="0" marL="304800" marR="0" rtl="0" algn="l">
              <a:spcBef>
                <a:spcPts val="0"/>
              </a:spcBef>
              <a:spcAft>
                <a:spcPts val="0"/>
              </a:spcAft>
              <a:buClr>
                <a:srgbClr val="242424"/>
              </a:buClr>
              <a:buSzPts val="2100"/>
              <a:buChar char="●"/>
            </a:pPr>
            <a:r>
              <a:rPr i="0" lang="en-US" sz="2100">
                <a:solidFill>
                  <a:srgbClr val="242424"/>
                </a:solidFill>
              </a:rPr>
              <a:t>Hệ thống thời gian thực đòi hỏi phải lập kế hoạch và quản lý cẩn thận vì chúng phải được giám sát và bảo trì liên tục để đảm bảo hoạt động chính xác.</a:t>
            </a:r>
            <a:endParaRPr sz="900"/>
          </a:p>
          <a:p>
            <a:pPr indent="0" lvl="0" marL="304800" marR="0" rtl="0" algn="l">
              <a:spcBef>
                <a:spcPts val="0"/>
              </a:spcBef>
              <a:spcAft>
                <a:spcPts val="0"/>
              </a:spcAft>
              <a:buNone/>
            </a:pPr>
            <a:r>
              <a:t/>
            </a:r>
            <a:endParaRPr sz="2100">
              <a:solidFill>
                <a:schemeClr val="dk1"/>
              </a:solidFill>
            </a:endParaRPr>
          </a:p>
        </p:txBody>
      </p:sp>
      <p:sp>
        <p:nvSpPr>
          <p:cNvPr id="203" name="Google Shape;203;p2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08" name="Shape 208"/>
        <p:cNvGrpSpPr/>
        <p:nvPr/>
      </p:nvGrpSpPr>
      <p:grpSpPr>
        <a:xfrm>
          <a:off x="0" y="0"/>
          <a:ext cx="0" cy="0"/>
          <a:chOff x="0" y="0"/>
          <a:chExt cx="0" cy="0"/>
        </a:xfrm>
      </p:grpSpPr>
      <p:sp>
        <p:nvSpPr>
          <p:cNvPr id="209" name="Google Shape;209;p28"/>
          <p:cNvSpPr txBox="1"/>
          <p:nvPr/>
        </p:nvSpPr>
        <p:spPr>
          <a:xfrm>
            <a:off x="1574800" y="177800"/>
            <a:ext cx="96087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SỰ ĐA DẠNG PHONG PHÚ </a:t>
            </a:r>
            <a:endParaRPr sz="900"/>
          </a:p>
        </p:txBody>
      </p:sp>
      <p:pic>
        <p:nvPicPr>
          <p:cNvPr id="210" name="Google Shape;210;p28"/>
          <p:cNvPicPr preferRelativeResize="0"/>
          <p:nvPr/>
        </p:nvPicPr>
        <p:blipFill rotWithShape="1">
          <a:blip r:embed="rId3">
            <a:alphaModFix/>
          </a:blip>
          <a:srcRect b="0" l="0" r="0" t="0"/>
          <a:stretch/>
        </p:blipFill>
        <p:spPr>
          <a:xfrm>
            <a:off x="2375800" y="807088"/>
            <a:ext cx="7305375" cy="4900975"/>
          </a:xfrm>
          <a:prstGeom prst="rect">
            <a:avLst/>
          </a:prstGeom>
          <a:noFill/>
          <a:ln>
            <a:noFill/>
          </a:ln>
        </p:spPr>
      </p:pic>
      <p:sp>
        <p:nvSpPr>
          <p:cNvPr id="211" name="Google Shape;211;p2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16" name="Shape 216"/>
        <p:cNvGrpSpPr/>
        <p:nvPr/>
      </p:nvGrpSpPr>
      <p:grpSpPr>
        <a:xfrm>
          <a:off x="0" y="0"/>
          <a:ext cx="0" cy="0"/>
          <a:chOff x="0" y="0"/>
          <a:chExt cx="0" cy="0"/>
        </a:xfrm>
      </p:grpSpPr>
      <p:sp>
        <p:nvSpPr>
          <p:cNvPr id="217" name="Google Shape;217;p29"/>
          <p:cNvSpPr txBox="1"/>
          <p:nvPr/>
        </p:nvSpPr>
        <p:spPr>
          <a:xfrm>
            <a:off x="361225" y="626013"/>
            <a:ext cx="93237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000">
                <a:solidFill>
                  <a:srgbClr val="343434"/>
                </a:solidFill>
                <a:latin typeface="Calibri"/>
                <a:ea typeface="Calibri"/>
                <a:cs typeface="Calibri"/>
                <a:sym typeface="Calibri"/>
              </a:rPr>
              <a:t>HỆ ĐIỀU HÀNH THỜI GIAN THỰC (RTOS) </a:t>
            </a:r>
            <a:endParaRPr sz="900"/>
          </a:p>
        </p:txBody>
      </p:sp>
      <p:sp>
        <p:nvSpPr>
          <p:cNvPr id="218" name="Google Shape;218;p29"/>
          <p:cNvSpPr txBox="1"/>
          <p:nvPr/>
        </p:nvSpPr>
        <p:spPr>
          <a:xfrm>
            <a:off x="8636000" y="626013"/>
            <a:ext cx="1656600" cy="6156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4000">
                <a:solidFill>
                  <a:srgbClr val="343434"/>
                </a:solidFill>
                <a:latin typeface="Calibri"/>
                <a:ea typeface="Calibri"/>
                <a:cs typeface="Calibri"/>
                <a:sym typeface="Calibri"/>
              </a:rPr>
              <a:t> LÀ GÌ ?</a:t>
            </a:r>
            <a:endParaRPr sz="900"/>
          </a:p>
        </p:txBody>
      </p:sp>
      <p:sp>
        <p:nvSpPr>
          <p:cNvPr id="219" name="Google Shape;219;p29"/>
          <p:cNvSpPr txBox="1"/>
          <p:nvPr/>
        </p:nvSpPr>
        <p:spPr>
          <a:xfrm>
            <a:off x="5406547" y="1600709"/>
            <a:ext cx="6453000" cy="3756300"/>
          </a:xfrm>
          <a:prstGeom prst="rect">
            <a:avLst/>
          </a:prstGeom>
          <a:noFill/>
          <a:ln>
            <a:noFill/>
          </a:ln>
        </p:spPr>
        <p:txBody>
          <a:bodyPr anchorCtr="0" anchor="t" bIns="0" lIns="0" spcFirstLastPara="1" rIns="0" wrap="square" tIns="0">
            <a:spAutoFit/>
          </a:bodyPr>
          <a:lstStyle/>
          <a:p>
            <a:pPr indent="0" lvl="0" marL="0" marR="0" rtl="0" algn="just">
              <a:lnSpc>
                <a:spcPct val="140027"/>
              </a:lnSpc>
              <a:spcBef>
                <a:spcPts val="0"/>
              </a:spcBef>
              <a:spcAft>
                <a:spcPts val="0"/>
              </a:spcAft>
              <a:buNone/>
            </a:pPr>
            <a:r>
              <a:rPr lang="en-US" sz="2000">
                <a:solidFill>
                  <a:srgbClr val="343434"/>
                </a:solidFill>
              </a:rPr>
              <a:t>Hệ điều hành thời gian thực (RTOS) là hệ điều hành được sử dụng trong các hệ thống máy tính yêu cầu thời hạn hoàn thành nghiêm ngặt cho tất cả các tác vụ cần thực hiện trên đó.</a:t>
            </a:r>
            <a:endParaRPr sz="900"/>
          </a:p>
          <a:p>
            <a:pPr indent="0" lvl="0" marL="0" marR="0" rtl="0" algn="just">
              <a:lnSpc>
                <a:spcPct val="140027"/>
              </a:lnSpc>
              <a:spcBef>
                <a:spcPts val="0"/>
              </a:spcBef>
              <a:spcAft>
                <a:spcPts val="0"/>
              </a:spcAft>
              <a:buNone/>
            </a:pPr>
            <a:r>
              <a:t/>
            </a:r>
            <a:endParaRPr sz="2000">
              <a:solidFill>
                <a:srgbClr val="343434"/>
              </a:solidFill>
            </a:endParaRPr>
          </a:p>
          <a:p>
            <a:pPr indent="0" lvl="0" marL="0" marR="0" rtl="0" algn="just">
              <a:lnSpc>
                <a:spcPct val="140027"/>
              </a:lnSpc>
              <a:spcBef>
                <a:spcPts val="0"/>
              </a:spcBef>
              <a:spcAft>
                <a:spcPts val="0"/>
              </a:spcAft>
              <a:buNone/>
            </a:pPr>
            <a:r>
              <a:rPr lang="en-US" sz="2000">
                <a:solidFill>
                  <a:srgbClr val="343434"/>
                </a:solidFill>
              </a:rPr>
              <a:t>Tại đây, hệ thống được kết nối với một sự kiện bên ngoài và bất cứ khi nào sự kiện đó hoàn tất, một tín hiệu sẽ được gửi đến hệ thống với sự trợ giúp của cảm biến.</a:t>
            </a:r>
            <a:endParaRPr sz="900"/>
          </a:p>
          <a:p>
            <a:pPr indent="0" lvl="0" marL="0" marR="0" rtl="0" algn="just">
              <a:lnSpc>
                <a:spcPct val="140027"/>
              </a:lnSpc>
              <a:spcBef>
                <a:spcPts val="0"/>
              </a:spcBef>
              <a:spcAft>
                <a:spcPts val="0"/>
              </a:spcAft>
              <a:buNone/>
            </a:pPr>
            <a:r>
              <a:t/>
            </a:r>
            <a:endParaRPr sz="2000">
              <a:solidFill>
                <a:srgbClr val="343434"/>
              </a:solidFill>
            </a:endParaRPr>
          </a:p>
        </p:txBody>
      </p:sp>
      <p:pic>
        <p:nvPicPr>
          <p:cNvPr descr="Hệ điều hành RTOS là gì? Hoạt động và ứng dụng của RTOS trong đồng hồ" id="220" name="Google Shape;220;p29"/>
          <p:cNvPicPr preferRelativeResize="0"/>
          <p:nvPr/>
        </p:nvPicPr>
        <p:blipFill rotWithShape="1">
          <a:blip r:embed="rId3">
            <a:alphaModFix/>
          </a:blip>
          <a:srcRect b="0" l="0" r="0" t="0"/>
          <a:stretch/>
        </p:blipFill>
        <p:spPr>
          <a:xfrm>
            <a:off x="96322" y="1600709"/>
            <a:ext cx="5151128" cy="3283641"/>
          </a:xfrm>
          <a:prstGeom prst="rect">
            <a:avLst/>
          </a:prstGeom>
          <a:noFill/>
          <a:ln>
            <a:noFill/>
          </a:ln>
        </p:spPr>
      </p:pic>
      <p:sp>
        <p:nvSpPr>
          <p:cNvPr id="221" name="Google Shape;221;p2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25" name="Shape 225"/>
        <p:cNvGrpSpPr/>
        <p:nvPr/>
      </p:nvGrpSpPr>
      <p:grpSpPr>
        <a:xfrm>
          <a:off x="0" y="0"/>
          <a:ext cx="0" cy="0"/>
          <a:chOff x="0" y="0"/>
          <a:chExt cx="0" cy="0"/>
        </a:xfrm>
      </p:grpSpPr>
      <p:sp>
        <p:nvSpPr>
          <p:cNvPr id="226" name="Google Shape;226;p30"/>
          <p:cNvSpPr/>
          <p:nvPr/>
        </p:nvSpPr>
        <p:spPr>
          <a:xfrm>
            <a:off x="5389487" y="1570096"/>
            <a:ext cx="7539389" cy="3722455"/>
          </a:xfrm>
          <a:custGeom>
            <a:rect b="b" l="l" r="r" t="t"/>
            <a:pathLst>
              <a:path extrusionOk="0" h="5576712" w="11294965">
                <a:moveTo>
                  <a:pt x="0" y="0"/>
                </a:moveTo>
                <a:lnTo>
                  <a:pt x="11294965" y="0"/>
                </a:lnTo>
                <a:lnTo>
                  <a:pt x="11294965" y="5576712"/>
                </a:lnTo>
                <a:lnTo>
                  <a:pt x="0" y="5576712"/>
                </a:lnTo>
                <a:lnTo>
                  <a:pt x="0" y="0"/>
                </a:lnTo>
                <a:close/>
              </a:path>
            </a:pathLst>
          </a:custGeom>
          <a:blipFill rotWithShape="1">
            <a:blip r:embed="rId3">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7" name="Google Shape;227;p30"/>
          <p:cNvSpPr txBox="1"/>
          <p:nvPr/>
        </p:nvSpPr>
        <p:spPr>
          <a:xfrm>
            <a:off x="148765" y="2455141"/>
            <a:ext cx="7900500" cy="1939500"/>
          </a:xfrm>
          <a:prstGeom prst="rect">
            <a:avLst/>
          </a:prstGeom>
          <a:noFill/>
          <a:ln>
            <a:noFill/>
          </a:ln>
        </p:spPr>
        <p:txBody>
          <a:bodyPr anchorCtr="0" anchor="t" bIns="0" lIns="0" spcFirstLastPara="1" rIns="0" wrap="square" tIns="0">
            <a:spAutoFit/>
          </a:bodyPr>
          <a:lstStyle/>
          <a:p>
            <a:pPr indent="-285750" lvl="0" marL="304800" rtl="0" algn="l">
              <a:spcBef>
                <a:spcPts val="0"/>
              </a:spcBef>
              <a:spcAft>
                <a:spcPts val="0"/>
              </a:spcAft>
              <a:buSzPts val="2100"/>
              <a:buChar char="●"/>
            </a:pPr>
            <a:r>
              <a:rPr lang="en-US" sz="2100"/>
              <a:t>Hệ điều hành thời gian thực cứng</a:t>
            </a:r>
            <a:endParaRPr sz="2100"/>
          </a:p>
          <a:p>
            <a:pPr indent="0" lvl="0" marL="304800" rtl="0" algn="l">
              <a:spcBef>
                <a:spcPts val="0"/>
              </a:spcBef>
              <a:spcAft>
                <a:spcPts val="0"/>
              </a:spcAft>
              <a:buNone/>
            </a:pPr>
            <a:r>
              <a:t/>
            </a:r>
            <a:endParaRPr sz="2100"/>
          </a:p>
          <a:p>
            <a:pPr indent="-285750" lvl="0" marL="304800" rtl="0" algn="l">
              <a:spcBef>
                <a:spcPts val="0"/>
              </a:spcBef>
              <a:spcAft>
                <a:spcPts val="0"/>
              </a:spcAft>
              <a:buSzPts val="2100"/>
              <a:buChar char="●"/>
            </a:pPr>
            <a:r>
              <a:rPr lang="en-US" sz="2100"/>
              <a:t>Hệ điều hành thời gian thực mềm</a:t>
            </a:r>
            <a:endParaRPr sz="2100"/>
          </a:p>
          <a:p>
            <a:pPr indent="0" lvl="0" marL="304800" rtl="0" algn="l">
              <a:spcBef>
                <a:spcPts val="0"/>
              </a:spcBef>
              <a:spcAft>
                <a:spcPts val="0"/>
              </a:spcAft>
              <a:buNone/>
            </a:pPr>
            <a:r>
              <a:t/>
            </a:r>
            <a:endParaRPr sz="2100"/>
          </a:p>
          <a:p>
            <a:pPr indent="-285750" lvl="0" marL="304800" rtl="0" algn="l">
              <a:spcBef>
                <a:spcPts val="0"/>
              </a:spcBef>
              <a:spcAft>
                <a:spcPts val="0"/>
              </a:spcAft>
              <a:buSzPts val="2100"/>
              <a:buChar char="●"/>
            </a:pPr>
            <a:r>
              <a:rPr lang="en-US" sz="2100"/>
              <a:t>Hệ điều hành thời gian thực vừa</a:t>
            </a:r>
            <a:endParaRPr sz="2100"/>
          </a:p>
          <a:p>
            <a:pPr indent="0" lvl="0" marL="304800" rtl="0" algn="l">
              <a:spcBef>
                <a:spcPts val="0"/>
              </a:spcBef>
              <a:spcAft>
                <a:spcPts val="0"/>
              </a:spcAft>
              <a:buNone/>
            </a:pPr>
            <a:r>
              <a:t/>
            </a:r>
            <a:endParaRPr sz="2100"/>
          </a:p>
        </p:txBody>
      </p:sp>
      <p:sp>
        <p:nvSpPr>
          <p:cNvPr id="228" name="Google Shape;228;p30"/>
          <p:cNvSpPr txBox="1"/>
          <p:nvPr/>
        </p:nvSpPr>
        <p:spPr>
          <a:xfrm>
            <a:off x="1243798" y="298450"/>
            <a:ext cx="103665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CÁC LOẠI Hệ THỐNG THỜI GIAN THỰC</a:t>
            </a:r>
            <a:endParaRPr sz="900"/>
          </a:p>
        </p:txBody>
      </p:sp>
      <p:sp>
        <p:nvSpPr>
          <p:cNvPr id="229" name="Google Shape;229;p3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34" name="Shape 234"/>
        <p:cNvGrpSpPr/>
        <p:nvPr/>
      </p:nvGrpSpPr>
      <p:grpSpPr>
        <a:xfrm>
          <a:off x="0" y="0"/>
          <a:ext cx="0" cy="0"/>
          <a:chOff x="0" y="0"/>
          <a:chExt cx="0" cy="0"/>
        </a:xfrm>
      </p:grpSpPr>
      <p:sp>
        <p:nvSpPr>
          <p:cNvPr id="235" name="Google Shape;235;p31"/>
          <p:cNvSpPr txBox="1"/>
          <p:nvPr/>
        </p:nvSpPr>
        <p:spPr>
          <a:xfrm>
            <a:off x="3048000" y="330200"/>
            <a:ext cx="67623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HỆ ĐIỀU HÀNH </a:t>
            </a:r>
            <a:endParaRPr sz="900"/>
          </a:p>
        </p:txBody>
      </p:sp>
      <p:pic>
        <p:nvPicPr>
          <p:cNvPr descr="Wind River VxWorks: Update/Clarification | Wind River" id="236" name="Google Shape;236;p31"/>
          <p:cNvPicPr preferRelativeResize="0"/>
          <p:nvPr/>
        </p:nvPicPr>
        <p:blipFill rotWithShape="1">
          <a:blip r:embed="rId3">
            <a:alphaModFix/>
          </a:blip>
          <a:srcRect b="0" l="0" r="0" t="0"/>
          <a:stretch/>
        </p:blipFill>
        <p:spPr>
          <a:xfrm>
            <a:off x="1280160" y="1234795"/>
            <a:ext cx="3301586" cy="1547618"/>
          </a:xfrm>
          <a:prstGeom prst="rect">
            <a:avLst/>
          </a:prstGeom>
          <a:noFill/>
          <a:ln>
            <a:noFill/>
          </a:ln>
        </p:spPr>
      </p:pic>
      <p:sp>
        <p:nvSpPr>
          <p:cNvPr id="237" name="Google Shape;237;p31"/>
          <p:cNvSpPr txBox="1"/>
          <p:nvPr/>
        </p:nvSpPr>
        <p:spPr>
          <a:xfrm>
            <a:off x="1769630" y="3121223"/>
            <a:ext cx="2946300" cy="3078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VxWorks (Wind River)</a:t>
            </a:r>
            <a:endParaRPr sz="900"/>
          </a:p>
        </p:txBody>
      </p:sp>
      <p:pic>
        <p:nvPicPr>
          <p:cNvPr descr="Smart Cities, Smart Mobility, Smart Transportation – BlackBerry" id="238" name="Google Shape;238;p31"/>
          <p:cNvPicPr preferRelativeResize="0"/>
          <p:nvPr/>
        </p:nvPicPr>
        <p:blipFill rotWithShape="1">
          <a:blip r:embed="rId4">
            <a:alphaModFix/>
          </a:blip>
          <a:srcRect b="0" l="0" r="0" t="0"/>
          <a:stretch/>
        </p:blipFill>
        <p:spPr>
          <a:xfrm>
            <a:off x="1298579" y="4075587"/>
            <a:ext cx="3301585" cy="1547618"/>
          </a:xfrm>
          <a:prstGeom prst="rect">
            <a:avLst/>
          </a:prstGeom>
          <a:noFill/>
          <a:ln>
            <a:noFill/>
          </a:ln>
        </p:spPr>
      </p:pic>
      <p:sp>
        <p:nvSpPr>
          <p:cNvPr id="239" name="Google Shape;239;p31"/>
          <p:cNvSpPr txBox="1"/>
          <p:nvPr/>
        </p:nvSpPr>
        <p:spPr>
          <a:xfrm>
            <a:off x="1617230" y="5134796"/>
            <a:ext cx="2946300" cy="3078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QNX (BlackBerry)</a:t>
            </a:r>
            <a:endParaRPr sz="900"/>
          </a:p>
        </p:txBody>
      </p:sp>
      <p:pic>
        <p:nvPicPr>
          <p:cNvPr descr="realtime:start [Wiki]" id="240" name="Google Shape;240;p31"/>
          <p:cNvPicPr preferRelativeResize="0"/>
          <p:nvPr/>
        </p:nvPicPr>
        <p:blipFill rotWithShape="1">
          <a:blip r:embed="rId5">
            <a:alphaModFix/>
          </a:blip>
          <a:srcRect b="0" l="0" r="0" t="0"/>
          <a:stretch/>
        </p:blipFill>
        <p:spPr>
          <a:xfrm>
            <a:off x="7140421" y="923672"/>
            <a:ext cx="2656206" cy="2656206"/>
          </a:xfrm>
          <a:prstGeom prst="rect">
            <a:avLst/>
          </a:prstGeom>
          <a:noFill/>
          <a:ln>
            <a:noFill/>
          </a:ln>
        </p:spPr>
      </p:pic>
      <p:sp>
        <p:nvSpPr>
          <p:cNvPr id="241" name="Google Shape;241;p31"/>
          <p:cNvSpPr txBox="1"/>
          <p:nvPr/>
        </p:nvSpPr>
        <p:spPr>
          <a:xfrm>
            <a:off x="6908800" y="2967335"/>
            <a:ext cx="3631800" cy="3078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Linux RT (Real-Time Linux - PREEMPT-RT)</a:t>
            </a:r>
            <a:endParaRPr sz="900"/>
          </a:p>
        </p:txBody>
      </p:sp>
      <p:pic>
        <p:nvPicPr>
          <p:cNvPr descr="Hiểu về Windows 10 IoT và Windows 11 IoT trong 5 phút" id="242" name="Google Shape;242;p31"/>
          <p:cNvPicPr preferRelativeResize="0"/>
          <p:nvPr/>
        </p:nvPicPr>
        <p:blipFill rotWithShape="1">
          <a:blip r:embed="rId6">
            <a:alphaModFix/>
          </a:blip>
          <a:srcRect b="0" l="0" r="0" t="0"/>
          <a:stretch/>
        </p:blipFill>
        <p:spPr>
          <a:xfrm>
            <a:off x="6085840" y="4075587"/>
            <a:ext cx="5016500" cy="1136650"/>
          </a:xfrm>
          <a:prstGeom prst="rect">
            <a:avLst/>
          </a:prstGeom>
          <a:noFill/>
          <a:ln>
            <a:noFill/>
          </a:ln>
        </p:spPr>
      </p:pic>
      <p:sp>
        <p:nvSpPr>
          <p:cNvPr id="243" name="Google Shape;243;p31"/>
          <p:cNvSpPr txBox="1"/>
          <p:nvPr/>
        </p:nvSpPr>
        <p:spPr>
          <a:xfrm>
            <a:off x="7197090" y="5195443"/>
            <a:ext cx="2946300" cy="3078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Windows IoT</a:t>
            </a:r>
            <a:endParaRPr sz="900"/>
          </a:p>
        </p:txBody>
      </p:sp>
      <p:sp>
        <p:nvSpPr>
          <p:cNvPr id="244" name="Google Shape;244;p3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48" name="Shape 248"/>
        <p:cNvGrpSpPr/>
        <p:nvPr/>
      </p:nvGrpSpPr>
      <p:grpSpPr>
        <a:xfrm>
          <a:off x="0" y="0"/>
          <a:ext cx="0" cy="0"/>
          <a:chOff x="0" y="0"/>
          <a:chExt cx="0" cy="0"/>
        </a:xfrm>
      </p:grpSpPr>
      <p:sp>
        <p:nvSpPr>
          <p:cNvPr id="249" name="Google Shape;249;p32"/>
          <p:cNvSpPr/>
          <p:nvPr/>
        </p:nvSpPr>
        <p:spPr>
          <a:xfrm>
            <a:off x="6680350" y="1036051"/>
            <a:ext cx="5969176" cy="5087631"/>
          </a:xfrm>
          <a:custGeom>
            <a:rect b="b" l="l" r="r" t="t"/>
            <a:pathLst>
              <a:path extrusionOk="0" h="8444200" w="9705978">
                <a:moveTo>
                  <a:pt x="0" y="0"/>
                </a:moveTo>
                <a:lnTo>
                  <a:pt x="9705977" y="0"/>
                </a:lnTo>
                <a:lnTo>
                  <a:pt x="9705977" y="8444200"/>
                </a:lnTo>
                <a:lnTo>
                  <a:pt x="0" y="8444200"/>
                </a:lnTo>
                <a:lnTo>
                  <a:pt x="0" y="0"/>
                </a:lnTo>
                <a:close/>
              </a:path>
            </a:pathLst>
          </a:custGeom>
          <a:blipFill rotWithShape="1">
            <a:blip r:embed="rId3">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0" name="Google Shape;250;p32"/>
          <p:cNvSpPr txBox="1"/>
          <p:nvPr/>
        </p:nvSpPr>
        <p:spPr>
          <a:xfrm>
            <a:off x="685800" y="256721"/>
            <a:ext cx="9756600" cy="15393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CÁC THÀNH PHẦN CỦA HỆ ĐIỀU HÀNH THỜI GIAN THỰC (RTOS)</a:t>
            </a:r>
            <a:endParaRPr sz="900"/>
          </a:p>
        </p:txBody>
      </p:sp>
      <p:sp>
        <p:nvSpPr>
          <p:cNvPr id="251" name="Google Shape;251;p32"/>
          <p:cNvSpPr txBox="1"/>
          <p:nvPr/>
        </p:nvSpPr>
        <p:spPr>
          <a:xfrm>
            <a:off x="373395" y="2709303"/>
            <a:ext cx="6936900" cy="2339700"/>
          </a:xfrm>
          <a:prstGeom prst="rect">
            <a:avLst/>
          </a:prstGeom>
          <a:noFill/>
          <a:ln>
            <a:noFill/>
          </a:ln>
        </p:spPr>
        <p:txBody>
          <a:bodyPr anchorCtr="0" anchor="t" bIns="0" lIns="0" spcFirstLastPara="1" rIns="0" wrap="square" tIns="0">
            <a:spAutoFit/>
          </a:bodyPr>
          <a:lstStyle/>
          <a:p>
            <a:pPr indent="-273050" lvl="0" marL="304800" rtl="0" algn="l">
              <a:spcBef>
                <a:spcPts val="0"/>
              </a:spcBef>
              <a:spcAft>
                <a:spcPts val="0"/>
              </a:spcAft>
              <a:buSzPts val="1900"/>
              <a:buChar char="●"/>
            </a:pPr>
            <a:r>
              <a:rPr lang="en-US" sz="1900"/>
              <a:t>Các đối tượng (Objects)</a:t>
            </a:r>
            <a:endParaRPr sz="1900"/>
          </a:p>
          <a:p>
            <a:pPr indent="0" lvl="0" marL="0" rtl="0" algn="l">
              <a:spcBef>
                <a:spcPts val="0"/>
              </a:spcBef>
              <a:spcAft>
                <a:spcPts val="0"/>
              </a:spcAft>
              <a:buNone/>
            </a:pPr>
            <a:r>
              <a:t/>
            </a:r>
            <a:endParaRPr sz="1900"/>
          </a:p>
          <a:p>
            <a:pPr indent="-273050" lvl="0" marL="304800" rtl="0" algn="l">
              <a:spcBef>
                <a:spcPts val="0"/>
              </a:spcBef>
              <a:spcAft>
                <a:spcPts val="0"/>
              </a:spcAft>
              <a:buSzPts val="1900"/>
              <a:buChar char="●"/>
            </a:pPr>
            <a:r>
              <a:rPr lang="en-US" sz="1900"/>
              <a:t>Các Cơ chế đồng bộ (Synchronization Mechanisms)</a:t>
            </a:r>
            <a:endParaRPr sz="1900"/>
          </a:p>
          <a:p>
            <a:pPr indent="0" lvl="0" marL="0" rtl="0" algn="l">
              <a:spcBef>
                <a:spcPts val="0"/>
              </a:spcBef>
              <a:spcAft>
                <a:spcPts val="0"/>
              </a:spcAft>
              <a:buNone/>
            </a:pPr>
            <a:r>
              <a:t/>
            </a:r>
            <a:endParaRPr sz="1900"/>
          </a:p>
          <a:p>
            <a:pPr indent="-273050" lvl="0" marL="304800" rtl="0" algn="l">
              <a:spcBef>
                <a:spcPts val="0"/>
              </a:spcBef>
              <a:spcAft>
                <a:spcPts val="0"/>
              </a:spcAft>
              <a:buSzPts val="1900"/>
              <a:buChar char="●"/>
            </a:pPr>
            <a:r>
              <a:rPr lang="en-US" sz="1900"/>
              <a:t>Bộ lập lịch (Scheduler)</a:t>
            </a:r>
            <a:endParaRPr sz="1900"/>
          </a:p>
          <a:p>
            <a:pPr indent="0" lvl="0" marL="0" rtl="0" algn="l">
              <a:spcBef>
                <a:spcPts val="0"/>
              </a:spcBef>
              <a:spcAft>
                <a:spcPts val="0"/>
              </a:spcAft>
              <a:buNone/>
            </a:pPr>
            <a:r>
              <a:t/>
            </a:r>
            <a:endParaRPr sz="1900"/>
          </a:p>
          <a:p>
            <a:pPr indent="-273050" lvl="0" marL="304800" rtl="0" algn="l">
              <a:spcBef>
                <a:spcPts val="0"/>
              </a:spcBef>
              <a:spcAft>
                <a:spcPts val="0"/>
              </a:spcAft>
              <a:buSzPts val="1900"/>
              <a:buChar char="●"/>
            </a:pPr>
            <a:r>
              <a:rPr lang="en-US" sz="1900"/>
              <a:t>Các dịch vụ (Services)</a:t>
            </a:r>
            <a:endParaRPr sz="1900"/>
          </a:p>
          <a:p>
            <a:pPr indent="0" lvl="0" marL="0" rtl="0" algn="l">
              <a:spcBef>
                <a:spcPts val="0"/>
              </a:spcBef>
              <a:spcAft>
                <a:spcPts val="0"/>
              </a:spcAft>
              <a:buNone/>
            </a:pPr>
            <a:r>
              <a:t/>
            </a:r>
            <a:endParaRPr sz="1900"/>
          </a:p>
        </p:txBody>
      </p:sp>
      <p:sp>
        <p:nvSpPr>
          <p:cNvPr id="252" name="Google Shape;252;p3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56" name="Shape 256"/>
        <p:cNvGrpSpPr/>
        <p:nvPr/>
      </p:nvGrpSpPr>
      <p:grpSpPr>
        <a:xfrm>
          <a:off x="0" y="0"/>
          <a:ext cx="0" cy="0"/>
          <a:chOff x="0" y="0"/>
          <a:chExt cx="0" cy="0"/>
        </a:xfrm>
      </p:grpSpPr>
      <p:sp>
        <p:nvSpPr>
          <p:cNvPr id="257" name="Google Shape;257;p33"/>
          <p:cNvSpPr/>
          <p:nvPr/>
        </p:nvSpPr>
        <p:spPr>
          <a:xfrm>
            <a:off x="1959684" y="-3609482"/>
            <a:ext cx="12373309" cy="21135731"/>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8" name="Google Shape;258;p33"/>
          <p:cNvSpPr txBox="1"/>
          <p:nvPr/>
        </p:nvSpPr>
        <p:spPr>
          <a:xfrm>
            <a:off x="457200" y="184150"/>
            <a:ext cx="11049000" cy="677400"/>
          </a:xfrm>
          <a:prstGeom prst="rect">
            <a:avLst/>
          </a:prstGeom>
          <a:noFill/>
          <a:ln>
            <a:noFill/>
          </a:ln>
        </p:spPr>
        <p:txBody>
          <a:bodyPr anchorCtr="0" anchor="t" bIns="0" lIns="0" spcFirstLastPara="1" rIns="0" wrap="square" tIns="0">
            <a:spAutoFit/>
          </a:bodyPr>
          <a:lstStyle/>
          <a:p>
            <a:pPr indent="0" lvl="0" marL="0" marR="0" rtl="0" algn="ctr">
              <a:lnSpc>
                <a:spcPct val="127272"/>
              </a:lnSpc>
              <a:spcBef>
                <a:spcPts val="0"/>
              </a:spcBef>
              <a:spcAft>
                <a:spcPts val="0"/>
              </a:spcAft>
              <a:buNone/>
            </a:pPr>
            <a:r>
              <a:rPr b="1" lang="en-US" sz="4400">
                <a:solidFill>
                  <a:srgbClr val="343434"/>
                </a:solidFill>
                <a:latin typeface="Calibri"/>
                <a:ea typeface="Calibri"/>
                <a:cs typeface="Calibri"/>
                <a:sym typeface="Calibri"/>
              </a:rPr>
              <a:t>CƠ CHẾ LẬP LỊCH </a:t>
            </a:r>
            <a:endParaRPr sz="900"/>
          </a:p>
        </p:txBody>
      </p:sp>
      <p:sp>
        <p:nvSpPr>
          <p:cNvPr id="259" name="Google Shape;259;p33"/>
          <p:cNvSpPr txBox="1"/>
          <p:nvPr/>
        </p:nvSpPr>
        <p:spPr>
          <a:xfrm>
            <a:off x="311574" y="1016000"/>
            <a:ext cx="6800400" cy="53259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900">
                <a:solidFill>
                  <a:schemeClr val="dk1"/>
                </a:solidFill>
              </a:rPr>
              <a:t>Lập lịch là gì:</a:t>
            </a:r>
            <a:endParaRPr sz="900"/>
          </a:p>
          <a:p>
            <a:pPr indent="-273050" lvl="0" marL="304800" marR="0" rtl="0" algn="l">
              <a:spcBef>
                <a:spcPts val="0"/>
              </a:spcBef>
              <a:spcAft>
                <a:spcPts val="0"/>
              </a:spcAft>
              <a:buClr>
                <a:schemeClr val="dk1"/>
              </a:buClr>
              <a:buSzPts val="1900"/>
              <a:buChar char="●"/>
            </a:pPr>
            <a:r>
              <a:rPr lang="en-US" sz="1900">
                <a:solidFill>
                  <a:schemeClr val="dk1"/>
                </a:solidFill>
              </a:rPr>
              <a:t>Là cách sắp xếp thứ tự thực hiện các tác vụ trong hệ thống.</a:t>
            </a:r>
            <a:endParaRPr sz="900"/>
          </a:p>
          <a:p>
            <a:pPr indent="-273050" lvl="0" marL="304800" marR="0" rtl="0" algn="l">
              <a:spcBef>
                <a:spcPts val="0"/>
              </a:spcBef>
              <a:spcAft>
                <a:spcPts val="0"/>
              </a:spcAft>
              <a:buClr>
                <a:schemeClr val="dk1"/>
              </a:buClr>
              <a:buSzPts val="1900"/>
              <a:buChar char="●"/>
            </a:pPr>
            <a:r>
              <a:rPr lang="en-US" sz="1900">
                <a:solidFill>
                  <a:schemeClr val="dk1"/>
                </a:solidFill>
              </a:rPr>
              <a:t>Đảm bảo tác vụ quan trọng được xử lý trước.</a:t>
            </a:r>
            <a:endParaRPr sz="1900">
              <a:solidFill>
                <a:schemeClr val="dk1"/>
              </a:solidFill>
            </a:endParaRPr>
          </a:p>
          <a:p>
            <a:pPr indent="0" lvl="0" marL="0" marR="0" rtl="0" algn="l">
              <a:spcBef>
                <a:spcPts val="0"/>
              </a:spcBef>
              <a:spcAft>
                <a:spcPts val="0"/>
              </a:spcAft>
              <a:buClr>
                <a:schemeClr val="dk1"/>
              </a:buClr>
              <a:buSzPts val="1900"/>
              <a:buFont typeface="Arial"/>
              <a:buNone/>
            </a:pPr>
            <a:r>
              <a:t/>
            </a:r>
            <a:endParaRPr sz="1900">
              <a:solidFill>
                <a:schemeClr val="dk1"/>
              </a:solidFill>
            </a:endParaRPr>
          </a:p>
          <a:p>
            <a:pPr indent="0" lvl="0" marL="0" marR="0" rtl="0" algn="l">
              <a:spcBef>
                <a:spcPts val="0"/>
              </a:spcBef>
              <a:spcAft>
                <a:spcPts val="0"/>
              </a:spcAft>
              <a:buNone/>
            </a:pPr>
            <a:r>
              <a:rPr lang="en-US" sz="1900">
                <a:solidFill>
                  <a:schemeClr val="dk1"/>
                </a:solidFill>
              </a:rPr>
              <a:t>Các thuật toán lập lịch phổ biến:</a:t>
            </a:r>
            <a:endParaRPr sz="1900">
              <a:solidFill>
                <a:schemeClr val="dk1"/>
              </a:solidFill>
            </a:endParaRPr>
          </a:p>
          <a:p>
            <a:pPr indent="-273050" lvl="0" marL="304800" marR="0" rtl="0" algn="l">
              <a:spcBef>
                <a:spcPts val="0"/>
              </a:spcBef>
              <a:spcAft>
                <a:spcPts val="0"/>
              </a:spcAft>
              <a:buClr>
                <a:schemeClr val="dk1"/>
              </a:buClr>
              <a:buSzPts val="1900"/>
              <a:buChar char="●"/>
            </a:pPr>
            <a:r>
              <a:rPr lang="en-US" sz="1900">
                <a:solidFill>
                  <a:schemeClr val="dk1"/>
                </a:solidFill>
              </a:rPr>
              <a:t>Lập lịch theo ưu tiên (Priority Scheduling): Tác vụ quan trọng hơn được ưu tiên.</a:t>
            </a:r>
            <a:endParaRPr sz="1900">
              <a:solidFill>
                <a:schemeClr val="dk1"/>
              </a:solidFill>
            </a:endParaRPr>
          </a:p>
          <a:p>
            <a:pPr indent="-273050" lvl="0" marL="304800" marR="0" rtl="0" algn="l">
              <a:spcBef>
                <a:spcPts val="0"/>
              </a:spcBef>
              <a:spcAft>
                <a:spcPts val="0"/>
              </a:spcAft>
              <a:buClr>
                <a:schemeClr val="dk1"/>
              </a:buClr>
              <a:buSzPts val="1900"/>
              <a:buChar char="●"/>
            </a:pPr>
            <a:r>
              <a:rPr lang="en-US" sz="1900">
                <a:solidFill>
                  <a:schemeClr val="dk1"/>
                </a:solidFill>
              </a:rPr>
              <a:t>Lập lịch theo vòng (Round Robin): Chia thời gian CPU đều cho các tác vụ.</a:t>
            </a:r>
            <a:endParaRPr sz="1900">
              <a:solidFill>
                <a:schemeClr val="dk1"/>
              </a:solidFill>
            </a:endParaRPr>
          </a:p>
          <a:p>
            <a:pPr indent="-273050" lvl="0" marL="304800" marR="0" rtl="0" algn="l">
              <a:spcBef>
                <a:spcPts val="0"/>
              </a:spcBef>
              <a:spcAft>
                <a:spcPts val="0"/>
              </a:spcAft>
              <a:buClr>
                <a:schemeClr val="dk1"/>
              </a:buClr>
              <a:buSzPts val="1900"/>
              <a:buChar char="●"/>
            </a:pPr>
            <a:r>
              <a:rPr lang="en-US" sz="1900">
                <a:solidFill>
                  <a:schemeClr val="dk1"/>
                </a:solidFill>
              </a:rPr>
              <a:t>Lập lịch EDF (Earliest Deadline First): Ưu tiên tác vụ có hạn chót gần nhất.</a:t>
            </a:r>
            <a:endParaRPr sz="1900">
              <a:solidFill>
                <a:schemeClr val="dk1"/>
              </a:solidFill>
            </a:endParaRPr>
          </a:p>
          <a:p>
            <a:pPr indent="0" lvl="0" marL="0" marR="0" rtl="0" algn="l">
              <a:spcBef>
                <a:spcPts val="0"/>
              </a:spcBef>
              <a:spcAft>
                <a:spcPts val="0"/>
              </a:spcAft>
              <a:buNone/>
            </a:pPr>
            <a:r>
              <a:t/>
            </a:r>
            <a:endParaRPr sz="1900">
              <a:solidFill>
                <a:schemeClr val="dk1"/>
              </a:solidFill>
            </a:endParaRPr>
          </a:p>
          <a:p>
            <a:pPr indent="0" lvl="0" marL="0" marR="0" rtl="0" algn="l">
              <a:spcBef>
                <a:spcPts val="0"/>
              </a:spcBef>
              <a:spcAft>
                <a:spcPts val="0"/>
              </a:spcAft>
              <a:buNone/>
            </a:pPr>
            <a:r>
              <a:rPr lang="en-US" sz="1900">
                <a:solidFill>
                  <a:schemeClr val="dk1"/>
                </a:solidFill>
              </a:rPr>
              <a:t>Ứng dụng của lập lịch:</a:t>
            </a:r>
            <a:endParaRPr sz="900"/>
          </a:p>
          <a:p>
            <a:pPr indent="-273050" lvl="0" marL="304800" marR="0" rtl="0" algn="l">
              <a:spcBef>
                <a:spcPts val="0"/>
              </a:spcBef>
              <a:spcAft>
                <a:spcPts val="0"/>
              </a:spcAft>
              <a:buClr>
                <a:schemeClr val="dk1"/>
              </a:buClr>
              <a:buSzPts val="1900"/>
              <a:buChar char="●"/>
            </a:pPr>
            <a:r>
              <a:rPr lang="en-US" sz="1900">
                <a:solidFill>
                  <a:schemeClr val="dk1"/>
                </a:solidFill>
              </a:rPr>
              <a:t>Điều khiển động cơ trong robot.</a:t>
            </a:r>
            <a:endParaRPr sz="900"/>
          </a:p>
          <a:p>
            <a:pPr indent="-273050" lvl="0" marL="304800" marR="0" rtl="0" algn="l">
              <a:spcBef>
                <a:spcPts val="0"/>
              </a:spcBef>
              <a:spcAft>
                <a:spcPts val="0"/>
              </a:spcAft>
              <a:buClr>
                <a:schemeClr val="dk1"/>
              </a:buClr>
              <a:buSzPts val="1900"/>
              <a:buChar char="●"/>
            </a:pPr>
            <a:r>
              <a:rPr lang="en-US" sz="1900">
                <a:solidFill>
                  <a:schemeClr val="dk1"/>
                </a:solidFill>
              </a:rPr>
              <a:t>Xử lý dữ liệu trong IoT.</a:t>
            </a:r>
            <a:endParaRPr sz="900"/>
          </a:p>
          <a:p>
            <a:pPr indent="-273050" lvl="0" marL="304800" marR="0" rtl="0" algn="l">
              <a:spcBef>
                <a:spcPts val="0"/>
              </a:spcBef>
              <a:spcAft>
                <a:spcPts val="0"/>
              </a:spcAft>
              <a:buClr>
                <a:schemeClr val="dk1"/>
              </a:buClr>
              <a:buSzPts val="1900"/>
              <a:buChar char="●"/>
            </a:pPr>
            <a:r>
              <a:rPr lang="en-US" sz="1900">
                <a:solidFill>
                  <a:schemeClr val="dk1"/>
                </a:solidFill>
              </a:rPr>
              <a:t>Giao tiếp với cảm biến thời gian thực.</a:t>
            </a:r>
            <a:endParaRPr sz="900"/>
          </a:p>
          <a:p>
            <a:pPr indent="0" lvl="0" marL="0" marR="0" rtl="0" algn="l">
              <a:spcBef>
                <a:spcPts val="0"/>
              </a:spcBef>
              <a:spcAft>
                <a:spcPts val="0"/>
              </a:spcAft>
              <a:buNone/>
            </a:pPr>
            <a:r>
              <a:t/>
            </a:r>
            <a:endParaRPr sz="1900">
              <a:solidFill>
                <a:schemeClr val="dk1"/>
              </a:solidFill>
            </a:endParaRPr>
          </a:p>
        </p:txBody>
      </p:sp>
      <p:pic>
        <p:nvPicPr>
          <p:cNvPr descr="Xu hướng sử dụng động cơ servo trong sản xuất hiện đại" id="260" name="Google Shape;260;p33"/>
          <p:cNvPicPr preferRelativeResize="0"/>
          <p:nvPr/>
        </p:nvPicPr>
        <p:blipFill rotWithShape="1">
          <a:blip r:embed="rId4">
            <a:alphaModFix/>
          </a:blip>
          <a:srcRect b="0" l="0" r="0" t="0"/>
          <a:stretch/>
        </p:blipFill>
        <p:spPr>
          <a:xfrm>
            <a:off x="7264400" y="1854200"/>
            <a:ext cx="4616026" cy="3149600"/>
          </a:xfrm>
          <a:prstGeom prst="rect">
            <a:avLst/>
          </a:prstGeom>
          <a:noFill/>
          <a:ln>
            <a:noFill/>
          </a:ln>
        </p:spPr>
      </p:pic>
      <p:sp>
        <p:nvSpPr>
          <p:cNvPr id="261" name="Google Shape;261;p3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66" name="Shape 266"/>
        <p:cNvGrpSpPr/>
        <p:nvPr/>
      </p:nvGrpSpPr>
      <p:grpSpPr>
        <a:xfrm>
          <a:off x="0" y="0"/>
          <a:ext cx="0" cy="0"/>
          <a:chOff x="0" y="0"/>
          <a:chExt cx="0" cy="0"/>
        </a:xfrm>
      </p:grpSpPr>
      <p:sp>
        <p:nvSpPr>
          <p:cNvPr id="267" name="Google Shape;267;p34"/>
          <p:cNvSpPr txBox="1"/>
          <p:nvPr/>
        </p:nvSpPr>
        <p:spPr>
          <a:xfrm>
            <a:off x="3048000" y="330200"/>
            <a:ext cx="67623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PHẦN CỨNG TRONG RTOS</a:t>
            </a:r>
            <a:endParaRPr sz="900"/>
          </a:p>
        </p:txBody>
      </p:sp>
      <p:sp>
        <p:nvSpPr>
          <p:cNvPr id="268" name="Google Shape;268;p34"/>
          <p:cNvSpPr txBox="1"/>
          <p:nvPr/>
        </p:nvSpPr>
        <p:spPr>
          <a:xfrm>
            <a:off x="481100" y="1170189"/>
            <a:ext cx="11379300" cy="52950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700">
                <a:solidFill>
                  <a:schemeClr val="dk1"/>
                </a:solidFill>
              </a:rPr>
              <a:t>Phần cứng sử dụng trong RTOS thường là các vi điều khiển (MCU) hoặc vi xử lý nhúng (MPU) có khả năng xử lý nhanh và hỗ trợ các tính năng thời gian thực.</a:t>
            </a:r>
            <a:endParaRPr sz="1700">
              <a:solidFill>
                <a:schemeClr val="dk1"/>
              </a:solidFill>
            </a:endParaRPr>
          </a:p>
          <a:p>
            <a:pPr indent="0" lvl="0" marL="0" marR="0" rtl="0" algn="l">
              <a:spcBef>
                <a:spcPts val="0"/>
              </a:spcBef>
              <a:spcAft>
                <a:spcPts val="0"/>
              </a:spcAft>
              <a:buNone/>
            </a:pPr>
            <a:r>
              <a:t/>
            </a:r>
            <a:endParaRPr sz="1700">
              <a:solidFill>
                <a:schemeClr val="dk1"/>
              </a:solidFill>
            </a:endParaRPr>
          </a:p>
          <a:p>
            <a:pPr indent="0" lvl="0" marL="0" marR="0" rtl="0" algn="l">
              <a:spcBef>
                <a:spcPts val="0"/>
              </a:spcBef>
              <a:spcAft>
                <a:spcPts val="0"/>
              </a:spcAft>
              <a:buNone/>
            </a:pPr>
            <a:r>
              <a:rPr b="1" lang="en-US" sz="1700">
                <a:solidFill>
                  <a:schemeClr val="dk1"/>
                </a:solidFill>
              </a:rPr>
              <a:t>Vi điều khiển và vi xử lý</a:t>
            </a:r>
            <a:endParaRPr sz="1100"/>
          </a:p>
          <a:p>
            <a:pPr indent="0" lvl="0" marL="304800" marR="0" rtl="0" algn="l">
              <a:spcBef>
                <a:spcPts val="0"/>
              </a:spcBef>
              <a:spcAft>
                <a:spcPts val="0"/>
              </a:spcAft>
              <a:buNone/>
            </a:pPr>
            <a:r>
              <a:rPr lang="en-US" sz="1700">
                <a:solidFill>
                  <a:schemeClr val="dk1"/>
                </a:solidFill>
              </a:rPr>
              <a:t>MCU phổ biến trong RTOS: STM32, ESP32, PIC, AVR, NXP, TI MSP430...</a:t>
            </a:r>
            <a:endParaRPr sz="1100"/>
          </a:p>
          <a:p>
            <a:pPr indent="0" lvl="0" marL="304800" marR="0" rtl="0" algn="l">
              <a:spcBef>
                <a:spcPts val="0"/>
              </a:spcBef>
              <a:spcAft>
                <a:spcPts val="0"/>
              </a:spcAft>
              <a:buNone/>
            </a:pPr>
            <a:r>
              <a:rPr lang="en-US" sz="1700">
                <a:solidFill>
                  <a:schemeClr val="dk1"/>
                </a:solidFill>
              </a:rPr>
              <a:t>MPU hỗ trợ RTOS mạnh mẽ hơn: ARM Cortex-A, Raspberry Pi (với Linux RTOS), iMX series của NXP.</a:t>
            </a:r>
            <a:endParaRPr sz="1700">
              <a:solidFill>
                <a:schemeClr val="dk1"/>
              </a:solidFill>
            </a:endParaRPr>
          </a:p>
          <a:p>
            <a:pPr indent="0" lvl="0" marL="0" marR="0" rtl="0" algn="l">
              <a:spcBef>
                <a:spcPts val="0"/>
              </a:spcBef>
              <a:spcAft>
                <a:spcPts val="0"/>
              </a:spcAft>
              <a:buNone/>
            </a:pPr>
            <a:r>
              <a:rPr b="1" lang="en-US" sz="1700">
                <a:solidFill>
                  <a:schemeClr val="dk1"/>
                </a:solidFill>
              </a:rPr>
              <a:t>Bộ định thời (Timers)</a:t>
            </a:r>
            <a:endParaRPr sz="1100"/>
          </a:p>
          <a:p>
            <a:pPr indent="0" lvl="0" marL="0" marR="0" rtl="0" algn="l">
              <a:spcBef>
                <a:spcPts val="0"/>
              </a:spcBef>
              <a:spcAft>
                <a:spcPts val="0"/>
              </a:spcAft>
              <a:buNone/>
            </a:pPr>
            <a:r>
              <a:rPr lang="en-US" sz="1700">
                <a:solidFill>
                  <a:schemeClr val="dk1"/>
                </a:solidFill>
              </a:rPr>
              <a:t>     </a:t>
            </a:r>
            <a:r>
              <a:rPr lang="en-US" sz="1700">
                <a:solidFill>
                  <a:schemeClr val="dk1"/>
                </a:solidFill>
              </a:rPr>
              <a:t>Bộ định thời (Timer) là phần không thể thiếu trong hệ thống RTOS:</a:t>
            </a:r>
            <a:endParaRPr sz="1100"/>
          </a:p>
          <a:p>
            <a:pPr indent="0" lvl="0" marL="304800" marR="0" rtl="0" algn="l">
              <a:spcBef>
                <a:spcPts val="0"/>
              </a:spcBef>
              <a:spcAft>
                <a:spcPts val="0"/>
              </a:spcAft>
              <a:buNone/>
            </a:pPr>
            <a:r>
              <a:rPr lang="en-US" sz="1700">
                <a:solidFill>
                  <a:schemeClr val="dk1"/>
                </a:solidFill>
              </a:rPr>
              <a:t>SysTick Timer: Dùng để tạo tick clock cho RTOS.</a:t>
            </a:r>
            <a:endParaRPr sz="1100"/>
          </a:p>
          <a:p>
            <a:pPr indent="0" lvl="0" marL="304800" marR="0" rtl="0" algn="l">
              <a:spcBef>
                <a:spcPts val="0"/>
              </a:spcBef>
              <a:spcAft>
                <a:spcPts val="0"/>
              </a:spcAft>
              <a:buNone/>
            </a:pPr>
            <a:r>
              <a:rPr lang="en-US" sz="1700">
                <a:solidFill>
                  <a:schemeClr val="dk1"/>
                </a:solidFill>
              </a:rPr>
              <a:t>Hardware Timers: Dùng để tạo ngắt thời gian thực chính xác.</a:t>
            </a:r>
            <a:endParaRPr sz="1100"/>
          </a:p>
          <a:p>
            <a:pPr indent="0" lvl="0" marL="304800" marR="0" rtl="0" algn="l">
              <a:spcBef>
                <a:spcPts val="0"/>
              </a:spcBef>
              <a:spcAft>
                <a:spcPts val="0"/>
              </a:spcAft>
              <a:buNone/>
            </a:pPr>
            <a:r>
              <a:rPr lang="en-US" sz="1700">
                <a:solidFill>
                  <a:schemeClr val="dk1"/>
                </a:solidFill>
              </a:rPr>
              <a:t>PWM Timers: Dùng để điều khiển động cơ, LED, ADC.</a:t>
            </a:r>
            <a:endParaRPr sz="1700">
              <a:solidFill>
                <a:schemeClr val="dk1"/>
              </a:solidFill>
            </a:endParaRPr>
          </a:p>
          <a:p>
            <a:pPr indent="0" lvl="0" marL="0" marR="0" rtl="0" algn="l">
              <a:spcBef>
                <a:spcPts val="0"/>
              </a:spcBef>
              <a:spcAft>
                <a:spcPts val="0"/>
              </a:spcAft>
              <a:buNone/>
            </a:pPr>
            <a:r>
              <a:rPr b="1" lang="en-US" sz="1700">
                <a:solidFill>
                  <a:schemeClr val="dk1"/>
                </a:solidFill>
              </a:rPr>
              <a:t>Bộ điều khiển ngắt (Interrupt Controller)</a:t>
            </a:r>
            <a:endParaRPr sz="1100"/>
          </a:p>
          <a:p>
            <a:pPr indent="0" lvl="0" marL="304800" marR="0" rtl="0" algn="l">
              <a:spcBef>
                <a:spcPts val="0"/>
              </a:spcBef>
              <a:spcAft>
                <a:spcPts val="0"/>
              </a:spcAft>
              <a:buNone/>
            </a:pPr>
            <a:r>
              <a:rPr lang="en-US" sz="1700">
                <a:solidFill>
                  <a:schemeClr val="dk1"/>
                </a:solidFill>
              </a:rPr>
              <a:t>Cho phép xử lý các sự kiện theo thời gian thực.</a:t>
            </a:r>
            <a:endParaRPr sz="1100"/>
          </a:p>
          <a:p>
            <a:pPr indent="0" lvl="0" marL="304800" marR="0" rtl="0" algn="l">
              <a:spcBef>
                <a:spcPts val="0"/>
              </a:spcBef>
              <a:spcAft>
                <a:spcPts val="0"/>
              </a:spcAft>
              <a:buNone/>
            </a:pPr>
            <a:r>
              <a:rPr lang="en-US" sz="1700">
                <a:solidFill>
                  <a:schemeClr val="dk1"/>
                </a:solidFill>
              </a:rPr>
              <a:t>Ngắt có độ ưu tiên giúp đảm bảo tác vụ quan trọng được thực hiện trước.</a:t>
            </a:r>
            <a:endParaRPr sz="1700">
              <a:solidFill>
                <a:schemeClr val="dk1"/>
              </a:solidFill>
            </a:endParaRPr>
          </a:p>
          <a:p>
            <a:pPr indent="0" lvl="0" marL="0" marR="0" rtl="0" algn="l">
              <a:spcBef>
                <a:spcPts val="0"/>
              </a:spcBef>
              <a:spcAft>
                <a:spcPts val="0"/>
              </a:spcAft>
              <a:buNone/>
            </a:pPr>
            <a:r>
              <a:rPr b="1" lang="en-US" sz="1700">
                <a:solidFill>
                  <a:schemeClr val="dk1"/>
                </a:solidFill>
              </a:rPr>
              <a:t>Bộ quản lý bộ nhớ (Memory Management)</a:t>
            </a:r>
            <a:endParaRPr sz="1100"/>
          </a:p>
          <a:p>
            <a:pPr indent="0" lvl="0" marL="304800" marR="0" rtl="0" algn="l">
              <a:spcBef>
                <a:spcPts val="0"/>
              </a:spcBef>
              <a:spcAft>
                <a:spcPts val="0"/>
              </a:spcAft>
              <a:buNone/>
            </a:pPr>
            <a:r>
              <a:rPr lang="en-US" sz="1700">
                <a:solidFill>
                  <a:schemeClr val="dk1"/>
                </a:solidFill>
              </a:rPr>
              <a:t>SRAM: Lưu trữ biến, ngăn xếp của RTOS.</a:t>
            </a:r>
            <a:endParaRPr sz="1100"/>
          </a:p>
          <a:p>
            <a:pPr indent="0" lvl="0" marL="304800" marR="0" rtl="0" algn="l">
              <a:spcBef>
                <a:spcPts val="0"/>
              </a:spcBef>
              <a:spcAft>
                <a:spcPts val="0"/>
              </a:spcAft>
              <a:buNone/>
            </a:pPr>
            <a:r>
              <a:rPr lang="en-US" sz="1700">
                <a:solidFill>
                  <a:schemeClr val="dk1"/>
                </a:solidFill>
              </a:rPr>
              <a:t>Flash: Lưu chương trình.</a:t>
            </a:r>
            <a:endParaRPr sz="1100"/>
          </a:p>
          <a:p>
            <a:pPr indent="0" lvl="0" marL="304800" marR="0" rtl="0" algn="l">
              <a:spcBef>
                <a:spcPts val="0"/>
              </a:spcBef>
              <a:spcAft>
                <a:spcPts val="0"/>
              </a:spcAft>
              <a:buNone/>
            </a:pPr>
            <a:r>
              <a:rPr lang="en-US" sz="1700">
                <a:solidFill>
                  <a:schemeClr val="dk1"/>
                </a:solidFill>
              </a:rPr>
              <a:t>Bộ quản lý DMA: Hỗ trợ truyền dữ liệu mà không cần CPU can thiệp.</a:t>
            </a:r>
            <a:endParaRPr sz="1100"/>
          </a:p>
          <a:p>
            <a:pPr indent="0" lvl="0" marL="0" marR="0" rtl="0" algn="l">
              <a:spcBef>
                <a:spcPts val="0"/>
              </a:spcBef>
              <a:spcAft>
                <a:spcPts val="0"/>
              </a:spcAft>
              <a:buNone/>
            </a:pPr>
            <a:r>
              <a:t/>
            </a:r>
            <a:endParaRPr sz="1700">
              <a:solidFill>
                <a:schemeClr val="dk1"/>
              </a:solidFill>
            </a:endParaRPr>
          </a:p>
          <a:p>
            <a:pPr indent="0" lvl="0" marL="0" marR="0" rtl="0" algn="l">
              <a:spcBef>
                <a:spcPts val="0"/>
              </a:spcBef>
              <a:spcAft>
                <a:spcPts val="0"/>
              </a:spcAft>
              <a:buNone/>
            </a:pPr>
            <a:r>
              <a:t/>
            </a:r>
            <a:endParaRPr sz="1700">
              <a:solidFill>
                <a:schemeClr val="dk1"/>
              </a:solidFill>
            </a:endParaRPr>
          </a:p>
        </p:txBody>
      </p:sp>
      <p:sp>
        <p:nvSpPr>
          <p:cNvPr id="269" name="Google Shape;269;p3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74" name="Shape 274"/>
        <p:cNvGrpSpPr/>
        <p:nvPr/>
      </p:nvGrpSpPr>
      <p:grpSpPr>
        <a:xfrm>
          <a:off x="0" y="0"/>
          <a:ext cx="0" cy="0"/>
          <a:chOff x="0" y="0"/>
          <a:chExt cx="0" cy="0"/>
        </a:xfrm>
      </p:grpSpPr>
      <p:sp>
        <p:nvSpPr>
          <p:cNvPr id="275" name="Google Shape;275;p35"/>
          <p:cNvSpPr txBox="1"/>
          <p:nvPr/>
        </p:nvSpPr>
        <p:spPr>
          <a:xfrm>
            <a:off x="3048000" y="330200"/>
            <a:ext cx="67623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CẢM BIẾN TRONG RTOS</a:t>
            </a:r>
            <a:endParaRPr sz="900"/>
          </a:p>
        </p:txBody>
      </p:sp>
      <p:pic>
        <p:nvPicPr>
          <p:cNvPr descr="Cảm biến là gì? Vai trò, phân loại, ứng dụng của cảm biến sensor" id="276" name="Google Shape;276;p35"/>
          <p:cNvPicPr preferRelativeResize="0"/>
          <p:nvPr/>
        </p:nvPicPr>
        <p:blipFill rotWithShape="1">
          <a:blip r:embed="rId3">
            <a:alphaModFix/>
          </a:blip>
          <a:srcRect b="0" l="0" r="0" t="0"/>
          <a:stretch/>
        </p:blipFill>
        <p:spPr>
          <a:xfrm>
            <a:off x="5605300" y="1727200"/>
            <a:ext cx="6288406" cy="3403600"/>
          </a:xfrm>
          <a:prstGeom prst="rect">
            <a:avLst/>
          </a:prstGeom>
          <a:noFill/>
          <a:ln>
            <a:noFill/>
          </a:ln>
        </p:spPr>
      </p:pic>
      <p:sp>
        <p:nvSpPr>
          <p:cNvPr id="277" name="Google Shape;277;p35"/>
          <p:cNvSpPr txBox="1"/>
          <p:nvPr/>
        </p:nvSpPr>
        <p:spPr>
          <a:xfrm>
            <a:off x="298293" y="1728893"/>
            <a:ext cx="4876800" cy="35709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b="1" lang="en-US" sz="1900">
                <a:solidFill>
                  <a:schemeClr val="dk1"/>
                </a:solidFill>
              </a:rPr>
              <a:t>Cảm biến (Sensors)</a:t>
            </a:r>
            <a:endParaRPr sz="900"/>
          </a:p>
          <a:p>
            <a:pPr indent="0" lvl="0" marL="0" marR="0" rtl="0" algn="l">
              <a:spcBef>
                <a:spcPts val="0"/>
              </a:spcBef>
              <a:spcAft>
                <a:spcPts val="0"/>
              </a:spcAft>
              <a:buNone/>
            </a:pPr>
            <a:r>
              <a:rPr lang="en-US" sz="1900">
                <a:solidFill>
                  <a:schemeClr val="dk1"/>
                </a:solidFill>
              </a:rPr>
              <a:t>Cảm biến là thiết bị thu thập dữ liệu từ môi trường và gửi tín hiệu đến vi điều khiển để xử lý. Các loại cảm biến phổ biến:</a:t>
            </a:r>
            <a:endParaRPr sz="1900">
              <a:solidFill>
                <a:schemeClr val="dk1"/>
              </a:solidFill>
            </a:endParaRPr>
          </a:p>
          <a:p>
            <a:pPr indent="0" lvl="0" marL="0" marR="0" rtl="0" algn="l">
              <a:spcBef>
                <a:spcPts val="0"/>
              </a:spcBef>
              <a:spcAft>
                <a:spcPts val="0"/>
              </a:spcAft>
              <a:buNone/>
            </a:pPr>
            <a:r>
              <a:t/>
            </a:r>
            <a:endParaRPr sz="1900">
              <a:solidFill>
                <a:schemeClr val="dk1"/>
              </a:solidFill>
            </a:endParaRPr>
          </a:p>
          <a:p>
            <a:pPr indent="-120650" lvl="0" marL="0" marR="0" rtl="0" algn="l">
              <a:spcBef>
                <a:spcPts val="0"/>
              </a:spcBef>
              <a:spcAft>
                <a:spcPts val="0"/>
              </a:spcAft>
              <a:buClr>
                <a:schemeClr val="dk1"/>
              </a:buClr>
              <a:buSzPts val="1900"/>
              <a:buFont typeface="Arial"/>
              <a:buChar char="•"/>
            </a:pPr>
            <a:r>
              <a:rPr b="1" lang="en-US" sz="1900">
                <a:solidFill>
                  <a:schemeClr val="dk1"/>
                </a:solidFill>
              </a:rPr>
              <a:t>Cảm biến môi trường:</a:t>
            </a:r>
            <a:r>
              <a:rPr lang="en-US" sz="1900">
                <a:solidFill>
                  <a:schemeClr val="dk1"/>
                </a:solidFill>
              </a:rPr>
              <a:t> Nhiệt độ, độ ẩm, khí gas, ánh sáng.</a:t>
            </a:r>
            <a:endParaRPr sz="1900">
              <a:solidFill>
                <a:schemeClr val="dk1"/>
              </a:solidFill>
            </a:endParaRPr>
          </a:p>
          <a:p>
            <a:pPr indent="0" lvl="0" marL="0" marR="0" rtl="0" algn="l">
              <a:spcBef>
                <a:spcPts val="0"/>
              </a:spcBef>
              <a:spcAft>
                <a:spcPts val="0"/>
              </a:spcAft>
              <a:buNone/>
            </a:pPr>
            <a:r>
              <a:t/>
            </a:r>
            <a:endParaRPr sz="1900">
              <a:solidFill>
                <a:schemeClr val="dk1"/>
              </a:solidFill>
            </a:endParaRPr>
          </a:p>
          <a:p>
            <a:pPr indent="-120650" lvl="0" marL="0" marR="0" rtl="0" algn="l">
              <a:spcBef>
                <a:spcPts val="0"/>
              </a:spcBef>
              <a:spcAft>
                <a:spcPts val="0"/>
              </a:spcAft>
              <a:buClr>
                <a:schemeClr val="dk1"/>
              </a:buClr>
              <a:buSzPts val="1900"/>
              <a:buFont typeface="Arial"/>
              <a:buChar char="•"/>
            </a:pPr>
            <a:r>
              <a:rPr b="1" lang="en-US" sz="1900">
                <a:solidFill>
                  <a:schemeClr val="dk1"/>
                </a:solidFill>
              </a:rPr>
              <a:t>Cảm biến chuyển động &amp; vị trí:</a:t>
            </a:r>
            <a:r>
              <a:rPr lang="en-US" sz="1900">
                <a:solidFill>
                  <a:schemeClr val="dk1"/>
                </a:solidFill>
              </a:rPr>
              <a:t> Gia tốc, con quay hồi chuyển, siêu âm, hồng ngoại.</a:t>
            </a:r>
            <a:endParaRPr sz="1900">
              <a:solidFill>
                <a:schemeClr val="dk1"/>
              </a:solidFill>
            </a:endParaRPr>
          </a:p>
          <a:p>
            <a:pPr indent="0" lvl="0" marL="0" marR="0" rtl="0" algn="l">
              <a:spcBef>
                <a:spcPts val="0"/>
              </a:spcBef>
              <a:spcAft>
                <a:spcPts val="0"/>
              </a:spcAft>
              <a:buNone/>
            </a:pPr>
            <a:r>
              <a:t/>
            </a:r>
            <a:endParaRPr sz="1900">
              <a:solidFill>
                <a:schemeClr val="dk1"/>
              </a:solidFill>
            </a:endParaRPr>
          </a:p>
          <a:p>
            <a:pPr indent="-120650" lvl="0" marL="0" marR="0" rtl="0" algn="l">
              <a:spcBef>
                <a:spcPts val="0"/>
              </a:spcBef>
              <a:spcAft>
                <a:spcPts val="0"/>
              </a:spcAft>
              <a:buClr>
                <a:schemeClr val="dk1"/>
              </a:buClr>
              <a:buSzPts val="1900"/>
              <a:buFont typeface="Arial"/>
              <a:buChar char="•"/>
            </a:pPr>
            <a:r>
              <a:rPr b="1" lang="en-US" sz="1900">
                <a:solidFill>
                  <a:schemeClr val="dk1"/>
                </a:solidFill>
              </a:rPr>
              <a:t>Cảm biến y tế:</a:t>
            </a:r>
            <a:r>
              <a:rPr lang="en-US" sz="1900">
                <a:solidFill>
                  <a:schemeClr val="dk1"/>
                </a:solidFill>
              </a:rPr>
              <a:t> Nhịp tim, SpO2, ECG.</a:t>
            </a:r>
            <a:endParaRPr sz="900"/>
          </a:p>
        </p:txBody>
      </p:sp>
      <p:sp>
        <p:nvSpPr>
          <p:cNvPr id="278" name="Google Shape;278;p3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82" name="Shape 282"/>
        <p:cNvGrpSpPr/>
        <p:nvPr/>
      </p:nvGrpSpPr>
      <p:grpSpPr>
        <a:xfrm>
          <a:off x="0" y="0"/>
          <a:ext cx="0" cy="0"/>
          <a:chOff x="0" y="0"/>
          <a:chExt cx="0" cy="0"/>
        </a:xfrm>
      </p:grpSpPr>
      <p:sp>
        <p:nvSpPr>
          <p:cNvPr id="283" name="Google Shape;283;p36"/>
          <p:cNvSpPr/>
          <p:nvPr/>
        </p:nvSpPr>
        <p:spPr>
          <a:xfrm>
            <a:off x="-323357" y="-2990357"/>
            <a:ext cx="12854761" cy="12854761"/>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4" name="Google Shape;284;p36"/>
          <p:cNvSpPr/>
          <p:nvPr/>
        </p:nvSpPr>
        <p:spPr>
          <a:xfrm>
            <a:off x="5179273" y="1426941"/>
            <a:ext cx="7012716" cy="4724817"/>
          </a:xfrm>
          <a:custGeom>
            <a:rect b="b" l="l" r="r" t="t"/>
            <a:pathLst>
              <a:path extrusionOk="0" h="7078378" w="10505942">
                <a:moveTo>
                  <a:pt x="0" y="0"/>
                </a:moveTo>
                <a:lnTo>
                  <a:pt x="10505942" y="0"/>
                </a:lnTo>
                <a:lnTo>
                  <a:pt x="10505942" y="7078378"/>
                </a:lnTo>
                <a:lnTo>
                  <a:pt x="0" y="7078378"/>
                </a:lnTo>
                <a:lnTo>
                  <a:pt x="0" y="0"/>
                </a:lnTo>
                <a:close/>
              </a:path>
            </a:pathLst>
          </a:custGeom>
          <a:blipFill rotWithShape="1">
            <a:blip r:embed="rId4">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85" name="Google Shape;285;p36"/>
          <p:cNvSpPr txBox="1"/>
          <p:nvPr/>
        </p:nvSpPr>
        <p:spPr>
          <a:xfrm>
            <a:off x="1094200" y="0"/>
            <a:ext cx="8420400" cy="2524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343434"/>
                </a:solidFill>
                <a:latin typeface="Calibri"/>
                <a:ea typeface="Calibri"/>
                <a:cs typeface="Calibri"/>
                <a:sym typeface="Calibri"/>
              </a:rPr>
              <a:t>SỰ KHÁC BIỆT GIỮA HỆ THỐNG THỜI GIAN THỰC CỨNG VÀ MỀM ?</a:t>
            </a:r>
            <a:endParaRPr sz="900"/>
          </a:p>
          <a:p>
            <a:pPr indent="0" lvl="0" marL="0" marR="0" rtl="0" algn="l">
              <a:lnSpc>
                <a:spcPct val="155555"/>
              </a:lnSpc>
              <a:spcBef>
                <a:spcPts val="0"/>
              </a:spcBef>
              <a:spcAft>
                <a:spcPts val="0"/>
              </a:spcAft>
              <a:buNone/>
            </a:pPr>
            <a:r>
              <a:t/>
            </a:r>
            <a:endParaRPr b="1" sz="3600">
              <a:solidFill>
                <a:srgbClr val="343434"/>
              </a:solidFill>
              <a:latin typeface="Calibri"/>
              <a:ea typeface="Calibri"/>
              <a:cs typeface="Calibri"/>
              <a:sym typeface="Calibri"/>
            </a:endParaRPr>
          </a:p>
          <a:p>
            <a:pPr indent="0" lvl="0" marL="0" marR="0" rtl="0" algn="l">
              <a:lnSpc>
                <a:spcPct val="155555"/>
              </a:lnSpc>
              <a:spcBef>
                <a:spcPts val="0"/>
              </a:spcBef>
              <a:spcAft>
                <a:spcPts val="0"/>
              </a:spcAft>
              <a:buNone/>
            </a:pPr>
            <a:r>
              <a:t/>
            </a:r>
            <a:endParaRPr b="1" sz="3600">
              <a:solidFill>
                <a:srgbClr val="343434"/>
              </a:solidFill>
              <a:latin typeface="Calibri"/>
              <a:ea typeface="Calibri"/>
              <a:cs typeface="Calibri"/>
              <a:sym typeface="Calibri"/>
            </a:endParaRPr>
          </a:p>
        </p:txBody>
      </p:sp>
      <p:pic>
        <p:nvPicPr>
          <p:cNvPr id="286" name="Google Shape;286;p36"/>
          <p:cNvPicPr preferRelativeResize="0"/>
          <p:nvPr/>
        </p:nvPicPr>
        <p:blipFill rotWithShape="1">
          <a:blip r:embed="rId5">
            <a:alphaModFix/>
          </a:blip>
          <a:srcRect b="0" l="0" r="0" t="0"/>
          <a:stretch/>
        </p:blipFill>
        <p:spPr>
          <a:xfrm>
            <a:off x="-87270" y="1346565"/>
            <a:ext cx="5044116" cy="4885567"/>
          </a:xfrm>
          <a:prstGeom prst="rect">
            <a:avLst/>
          </a:prstGeom>
          <a:noFill/>
          <a:ln>
            <a:noFill/>
          </a:ln>
        </p:spPr>
      </p:pic>
      <p:sp>
        <p:nvSpPr>
          <p:cNvPr id="287" name="Google Shape;287;p3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292" name="Shape 292"/>
        <p:cNvGrpSpPr/>
        <p:nvPr/>
      </p:nvGrpSpPr>
      <p:grpSpPr>
        <a:xfrm>
          <a:off x="0" y="0"/>
          <a:ext cx="0" cy="0"/>
          <a:chOff x="0" y="0"/>
          <a:chExt cx="0" cy="0"/>
        </a:xfrm>
      </p:grpSpPr>
      <p:sp>
        <p:nvSpPr>
          <p:cNvPr id="293" name="Google Shape;293;p37"/>
          <p:cNvSpPr/>
          <p:nvPr/>
        </p:nvSpPr>
        <p:spPr>
          <a:xfrm>
            <a:off x="-323357" y="-2761757"/>
            <a:ext cx="12854761" cy="12854761"/>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4" name="Google Shape;294;p37"/>
          <p:cNvSpPr/>
          <p:nvPr/>
        </p:nvSpPr>
        <p:spPr>
          <a:xfrm>
            <a:off x="1893018" y="883816"/>
            <a:ext cx="8677487" cy="4707536"/>
          </a:xfrm>
          <a:custGeom>
            <a:rect b="b" l="l" r="r" t="t"/>
            <a:pathLst>
              <a:path extrusionOk="0" h="7052489" w="12999981">
                <a:moveTo>
                  <a:pt x="0" y="0"/>
                </a:moveTo>
                <a:lnTo>
                  <a:pt x="12999981" y="0"/>
                </a:lnTo>
                <a:lnTo>
                  <a:pt x="12999981" y="7052489"/>
                </a:lnTo>
                <a:lnTo>
                  <a:pt x="0" y="7052489"/>
                </a:lnTo>
                <a:lnTo>
                  <a:pt x="0" y="0"/>
                </a:lnTo>
                <a:close/>
              </a:path>
            </a:pathLst>
          </a:custGeom>
          <a:blipFill rotWithShape="1">
            <a:blip r:embed="rId4">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5" name="Google Shape;295;p37"/>
          <p:cNvSpPr txBox="1"/>
          <p:nvPr/>
        </p:nvSpPr>
        <p:spPr>
          <a:xfrm>
            <a:off x="1806443" y="226167"/>
            <a:ext cx="9029100" cy="15393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ỨNG DỤNG THỜI GIAN THỰC LÀ GÌ ?</a:t>
            </a:r>
            <a:endParaRPr sz="900"/>
          </a:p>
          <a:p>
            <a:pPr indent="0" lvl="0" marL="0" marR="0" rtl="0" algn="l">
              <a:lnSpc>
                <a:spcPct val="127272"/>
              </a:lnSpc>
              <a:spcBef>
                <a:spcPts val="0"/>
              </a:spcBef>
              <a:spcAft>
                <a:spcPts val="0"/>
              </a:spcAft>
              <a:buNone/>
            </a:pPr>
            <a:r>
              <a:t/>
            </a:r>
            <a:endParaRPr b="1" sz="4400">
              <a:solidFill>
                <a:srgbClr val="343434"/>
              </a:solidFill>
              <a:latin typeface="Calibri"/>
              <a:ea typeface="Calibri"/>
              <a:cs typeface="Calibri"/>
              <a:sym typeface="Calibri"/>
            </a:endParaRPr>
          </a:p>
        </p:txBody>
      </p:sp>
      <p:sp>
        <p:nvSpPr>
          <p:cNvPr id="296" name="Google Shape;296;p3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01" name="Shape 301"/>
        <p:cNvGrpSpPr/>
        <p:nvPr/>
      </p:nvGrpSpPr>
      <p:grpSpPr>
        <a:xfrm>
          <a:off x="0" y="0"/>
          <a:ext cx="0" cy="0"/>
          <a:chOff x="0" y="0"/>
          <a:chExt cx="0" cy="0"/>
        </a:xfrm>
      </p:grpSpPr>
      <p:sp>
        <p:nvSpPr>
          <p:cNvPr id="302" name="Google Shape;302;p38"/>
          <p:cNvSpPr txBox="1"/>
          <p:nvPr/>
        </p:nvSpPr>
        <p:spPr>
          <a:xfrm>
            <a:off x="773819" y="330200"/>
            <a:ext cx="9718200" cy="15042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300">
                <a:solidFill>
                  <a:srgbClr val="343434"/>
                </a:solidFill>
                <a:latin typeface="Calibri"/>
                <a:ea typeface="Calibri"/>
                <a:cs typeface="Calibri"/>
                <a:sym typeface="Calibri"/>
              </a:rPr>
              <a:t>ĐẶC ĐIỂM ỨNG DỤNG THỜI GIAN THỰC </a:t>
            </a:r>
            <a:endParaRPr sz="800"/>
          </a:p>
          <a:p>
            <a:pPr indent="0" lvl="0" marL="0" marR="0" rtl="0" algn="l">
              <a:lnSpc>
                <a:spcPct val="127272"/>
              </a:lnSpc>
              <a:spcBef>
                <a:spcPts val="0"/>
              </a:spcBef>
              <a:spcAft>
                <a:spcPts val="0"/>
              </a:spcAft>
              <a:buNone/>
            </a:pPr>
            <a:r>
              <a:t/>
            </a:r>
            <a:endParaRPr b="1" sz="4300">
              <a:solidFill>
                <a:srgbClr val="343434"/>
              </a:solidFill>
              <a:latin typeface="Calibri"/>
              <a:ea typeface="Calibri"/>
              <a:cs typeface="Calibri"/>
              <a:sym typeface="Calibri"/>
            </a:endParaRPr>
          </a:p>
        </p:txBody>
      </p:sp>
      <p:pic>
        <p:nvPicPr>
          <p:cNvPr descr="Internet" id="303" name="Google Shape;303;p38"/>
          <p:cNvPicPr preferRelativeResize="0"/>
          <p:nvPr/>
        </p:nvPicPr>
        <p:blipFill rotWithShape="1">
          <a:blip r:embed="rId3">
            <a:alphaModFix/>
          </a:blip>
          <a:srcRect b="0" l="0" r="0" t="0"/>
          <a:stretch/>
        </p:blipFill>
        <p:spPr>
          <a:xfrm>
            <a:off x="709473" y="1431127"/>
            <a:ext cx="750147" cy="750147"/>
          </a:xfrm>
          <a:prstGeom prst="rect">
            <a:avLst/>
          </a:prstGeom>
          <a:noFill/>
          <a:ln>
            <a:noFill/>
          </a:ln>
        </p:spPr>
      </p:pic>
      <p:pic>
        <p:nvPicPr>
          <p:cNvPr descr="Internet" id="304" name="Google Shape;304;p38"/>
          <p:cNvPicPr preferRelativeResize="0"/>
          <p:nvPr/>
        </p:nvPicPr>
        <p:blipFill rotWithShape="1">
          <a:blip r:embed="rId3">
            <a:alphaModFix/>
          </a:blip>
          <a:srcRect b="0" l="0" r="0" t="0"/>
          <a:stretch/>
        </p:blipFill>
        <p:spPr>
          <a:xfrm>
            <a:off x="672219" y="2678853"/>
            <a:ext cx="750147" cy="750147"/>
          </a:xfrm>
          <a:prstGeom prst="rect">
            <a:avLst/>
          </a:prstGeom>
          <a:noFill/>
          <a:ln>
            <a:noFill/>
          </a:ln>
        </p:spPr>
      </p:pic>
      <p:pic>
        <p:nvPicPr>
          <p:cNvPr descr="Internet" id="305" name="Google Shape;305;p38"/>
          <p:cNvPicPr preferRelativeResize="0"/>
          <p:nvPr/>
        </p:nvPicPr>
        <p:blipFill rotWithShape="1">
          <a:blip r:embed="rId3">
            <a:alphaModFix/>
          </a:blip>
          <a:srcRect b="0" l="0" r="0" t="0"/>
          <a:stretch/>
        </p:blipFill>
        <p:spPr>
          <a:xfrm>
            <a:off x="689965" y="3928808"/>
            <a:ext cx="750147" cy="750147"/>
          </a:xfrm>
          <a:prstGeom prst="rect">
            <a:avLst/>
          </a:prstGeom>
          <a:noFill/>
          <a:ln>
            <a:noFill/>
          </a:ln>
        </p:spPr>
      </p:pic>
      <p:pic>
        <p:nvPicPr>
          <p:cNvPr descr="Internet" id="306" name="Google Shape;306;p38"/>
          <p:cNvPicPr preferRelativeResize="0"/>
          <p:nvPr/>
        </p:nvPicPr>
        <p:blipFill rotWithShape="1">
          <a:blip r:embed="rId3">
            <a:alphaModFix/>
          </a:blip>
          <a:srcRect b="0" l="0" r="0" t="0"/>
          <a:stretch/>
        </p:blipFill>
        <p:spPr>
          <a:xfrm>
            <a:off x="672219" y="5148805"/>
            <a:ext cx="750147" cy="750147"/>
          </a:xfrm>
          <a:prstGeom prst="rect">
            <a:avLst/>
          </a:prstGeom>
          <a:noFill/>
          <a:ln>
            <a:noFill/>
          </a:ln>
        </p:spPr>
      </p:pic>
      <p:sp>
        <p:nvSpPr>
          <p:cNvPr id="307" name="Google Shape;307;p38"/>
          <p:cNvSpPr txBox="1"/>
          <p:nvPr/>
        </p:nvSpPr>
        <p:spPr>
          <a:xfrm>
            <a:off x="1574800" y="1561521"/>
            <a:ext cx="5029200" cy="5541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900">
                <a:solidFill>
                  <a:schemeClr val="dk1"/>
                </a:solidFill>
                <a:latin typeface="Calibri"/>
                <a:ea typeface="Calibri"/>
                <a:cs typeface="Calibri"/>
                <a:sym typeface="Calibri"/>
              </a:rPr>
              <a:t>Tương tác cao</a:t>
            </a:r>
            <a:endParaRPr sz="19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Phản hồi tức thì giúp người dung duy trì sự chú ý</a:t>
            </a:r>
            <a:endParaRPr sz="900"/>
          </a:p>
        </p:txBody>
      </p:sp>
      <p:sp>
        <p:nvSpPr>
          <p:cNvPr id="308" name="Google Shape;308;p38"/>
          <p:cNvSpPr txBox="1"/>
          <p:nvPr/>
        </p:nvSpPr>
        <p:spPr>
          <a:xfrm>
            <a:off x="1574800" y="2816815"/>
            <a:ext cx="5029200" cy="5541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900">
                <a:solidFill>
                  <a:schemeClr val="dk1"/>
                </a:solidFill>
                <a:latin typeface="Calibri"/>
                <a:ea typeface="Calibri"/>
                <a:cs typeface="Calibri"/>
                <a:sym typeface="Calibri"/>
              </a:rPr>
              <a:t>Giao tiếp cải thiện </a:t>
            </a:r>
            <a:endParaRPr sz="900"/>
          </a:p>
          <a:p>
            <a:pPr indent="0" lvl="0" marL="0" marR="0" rtl="0" algn="l">
              <a:spcBef>
                <a:spcPts val="0"/>
              </a:spcBef>
              <a:spcAft>
                <a:spcPts val="0"/>
              </a:spcAft>
              <a:buNone/>
            </a:pPr>
            <a:r>
              <a:rPr lang="en-US" sz="1300">
                <a:solidFill>
                  <a:schemeClr val="dk1"/>
                </a:solidFill>
                <a:latin typeface="Calibri"/>
                <a:ea typeface="Calibri"/>
                <a:cs typeface="Calibri"/>
                <a:sym typeface="Calibri"/>
              </a:rPr>
              <a:t>Giao tiếp hai chiều thời gian thực thúc đẩy sự hợp tác hiệu quả.</a:t>
            </a:r>
            <a:endParaRPr sz="900"/>
          </a:p>
        </p:txBody>
      </p:sp>
      <p:sp>
        <p:nvSpPr>
          <p:cNvPr id="309" name="Google Shape;309;p38"/>
          <p:cNvSpPr txBox="1"/>
          <p:nvPr/>
        </p:nvSpPr>
        <p:spPr>
          <a:xfrm>
            <a:off x="1574800" y="4026882"/>
            <a:ext cx="5029200" cy="5541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900">
                <a:solidFill>
                  <a:schemeClr val="dk1"/>
                </a:solidFill>
                <a:latin typeface="Calibri"/>
                <a:ea typeface="Calibri"/>
                <a:cs typeface="Calibri"/>
                <a:sym typeface="Calibri"/>
              </a:rPr>
              <a:t>Phản hồi nhanh</a:t>
            </a:r>
            <a:endParaRPr sz="19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Phản hồi tức thì giúp tối ưu quy trình làm việc</a:t>
            </a:r>
            <a:endParaRPr sz="1300">
              <a:solidFill>
                <a:schemeClr val="dk1"/>
              </a:solidFill>
              <a:latin typeface="Calibri"/>
              <a:ea typeface="Calibri"/>
              <a:cs typeface="Calibri"/>
              <a:sym typeface="Calibri"/>
            </a:endParaRPr>
          </a:p>
        </p:txBody>
      </p:sp>
      <p:sp>
        <p:nvSpPr>
          <p:cNvPr id="310" name="Google Shape;310;p38"/>
          <p:cNvSpPr txBox="1"/>
          <p:nvPr/>
        </p:nvSpPr>
        <p:spPr>
          <a:xfrm>
            <a:off x="1574800" y="5236949"/>
            <a:ext cx="5029200" cy="5388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1900">
                <a:solidFill>
                  <a:schemeClr val="dk1"/>
                </a:solidFill>
                <a:latin typeface="Calibri"/>
                <a:ea typeface="Calibri"/>
                <a:cs typeface="Calibri"/>
                <a:sym typeface="Calibri"/>
              </a:rPr>
              <a:t>Quy trình linh hoạt</a:t>
            </a:r>
            <a:endParaRPr sz="19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Nhiệm vụ thích nghi với dữ liệu thời gian thực, tang hiệu quả</a:t>
            </a:r>
            <a:endParaRPr sz="1200">
              <a:solidFill>
                <a:schemeClr val="dk1"/>
              </a:solidFill>
              <a:latin typeface="Calibri"/>
              <a:ea typeface="Calibri"/>
              <a:cs typeface="Calibri"/>
              <a:sym typeface="Calibri"/>
            </a:endParaRPr>
          </a:p>
        </p:txBody>
      </p:sp>
      <p:pic>
        <p:nvPicPr>
          <p:cNvPr descr="Những Ứng Dụng Quản Lý Thời Gian Tốt Nhất Cho Sinh Viên - YBOX" id="311" name="Google Shape;311;p38"/>
          <p:cNvPicPr preferRelativeResize="0"/>
          <p:nvPr/>
        </p:nvPicPr>
        <p:blipFill rotWithShape="1">
          <a:blip r:embed="rId4">
            <a:alphaModFix/>
          </a:blip>
          <a:srcRect b="0" l="0" r="0" t="0"/>
          <a:stretch/>
        </p:blipFill>
        <p:spPr>
          <a:xfrm>
            <a:off x="6095999" y="1768407"/>
            <a:ext cx="5896310" cy="3369320"/>
          </a:xfrm>
          <a:prstGeom prst="rect">
            <a:avLst/>
          </a:prstGeom>
          <a:noFill/>
          <a:ln>
            <a:noFill/>
          </a:ln>
        </p:spPr>
      </p:pic>
      <p:sp>
        <p:nvSpPr>
          <p:cNvPr id="312" name="Google Shape;312;p3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16" name="Shape 316"/>
        <p:cNvGrpSpPr/>
        <p:nvPr/>
      </p:nvGrpSpPr>
      <p:grpSpPr>
        <a:xfrm>
          <a:off x="0" y="0"/>
          <a:ext cx="0" cy="0"/>
          <a:chOff x="0" y="0"/>
          <a:chExt cx="0" cy="0"/>
        </a:xfrm>
      </p:grpSpPr>
      <p:sp>
        <p:nvSpPr>
          <p:cNvPr id="317" name="Google Shape;317;p39"/>
          <p:cNvSpPr/>
          <p:nvPr/>
        </p:nvSpPr>
        <p:spPr>
          <a:xfrm>
            <a:off x="223619" y="1240739"/>
            <a:ext cx="3756281" cy="2502622"/>
          </a:xfrm>
          <a:custGeom>
            <a:rect b="b" l="l" r="r" t="t"/>
            <a:pathLst>
              <a:path extrusionOk="0" h="3749247" w="5627387">
                <a:moveTo>
                  <a:pt x="0" y="0"/>
                </a:moveTo>
                <a:lnTo>
                  <a:pt x="5627387" y="0"/>
                </a:lnTo>
                <a:lnTo>
                  <a:pt x="5627387" y="3749246"/>
                </a:lnTo>
                <a:lnTo>
                  <a:pt x="0" y="3749246"/>
                </a:lnTo>
                <a:lnTo>
                  <a:pt x="0" y="0"/>
                </a:lnTo>
                <a:close/>
              </a:path>
            </a:pathLst>
          </a:custGeom>
          <a:blipFill rotWithShape="1">
            <a:blip r:embed="rId3">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8" name="Google Shape;318;p39"/>
          <p:cNvSpPr/>
          <p:nvPr/>
        </p:nvSpPr>
        <p:spPr>
          <a:xfrm>
            <a:off x="4213157" y="1298166"/>
            <a:ext cx="3896612" cy="2445124"/>
          </a:xfrm>
          <a:custGeom>
            <a:rect b="b" l="l" r="r" t="t"/>
            <a:pathLst>
              <a:path extrusionOk="0" h="3663107" w="5837621">
                <a:moveTo>
                  <a:pt x="0" y="0"/>
                </a:moveTo>
                <a:lnTo>
                  <a:pt x="5837621" y="0"/>
                </a:lnTo>
                <a:lnTo>
                  <a:pt x="5837621" y="3663108"/>
                </a:lnTo>
                <a:lnTo>
                  <a:pt x="0" y="3663108"/>
                </a:lnTo>
                <a:lnTo>
                  <a:pt x="0" y="0"/>
                </a:lnTo>
                <a:close/>
              </a:path>
            </a:pathLst>
          </a:custGeom>
          <a:blipFill rotWithShape="1">
            <a:blip r:embed="rId4">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19" name="Google Shape;319;p39"/>
          <p:cNvSpPr/>
          <p:nvPr/>
        </p:nvSpPr>
        <p:spPr>
          <a:xfrm>
            <a:off x="8254203" y="1310019"/>
            <a:ext cx="3718820" cy="2445124"/>
          </a:xfrm>
          <a:custGeom>
            <a:rect b="b" l="l" r="r" t="t"/>
            <a:pathLst>
              <a:path extrusionOk="0" h="3663107" w="5571266">
                <a:moveTo>
                  <a:pt x="0" y="0"/>
                </a:moveTo>
                <a:lnTo>
                  <a:pt x="5571265" y="0"/>
                </a:lnTo>
                <a:lnTo>
                  <a:pt x="5571265" y="3663107"/>
                </a:lnTo>
                <a:lnTo>
                  <a:pt x="0" y="3663107"/>
                </a:lnTo>
                <a:lnTo>
                  <a:pt x="0" y="0"/>
                </a:lnTo>
                <a:close/>
              </a:path>
            </a:pathLst>
          </a:custGeom>
          <a:blipFill rotWithShape="1">
            <a:blip r:embed="rId5">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20" name="Google Shape;320;p39"/>
          <p:cNvSpPr txBox="1"/>
          <p:nvPr/>
        </p:nvSpPr>
        <p:spPr>
          <a:xfrm>
            <a:off x="2396593" y="152864"/>
            <a:ext cx="81219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NHỮNG ỨNG DỤNG THỰC TẾ</a:t>
            </a:r>
            <a:endParaRPr sz="900"/>
          </a:p>
        </p:txBody>
      </p:sp>
      <p:sp>
        <p:nvSpPr>
          <p:cNvPr id="321" name="Google Shape;321;p39"/>
          <p:cNvSpPr txBox="1"/>
          <p:nvPr/>
        </p:nvSpPr>
        <p:spPr>
          <a:xfrm>
            <a:off x="280275" y="801457"/>
            <a:ext cx="2786700" cy="292500"/>
          </a:xfrm>
          <a:prstGeom prst="rect">
            <a:avLst/>
          </a:prstGeom>
          <a:noFill/>
          <a:ln>
            <a:noFill/>
          </a:ln>
        </p:spPr>
        <p:txBody>
          <a:bodyPr anchorCtr="0" anchor="t" bIns="0" lIns="0" spcFirstLastPara="1" rIns="0" wrap="square" tIns="0">
            <a:spAutoFit/>
          </a:bodyPr>
          <a:lstStyle/>
          <a:p>
            <a:pPr indent="0" lvl="0" marL="0" marR="0" rtl="0" algn="ctr">
              <a:lnSpc>
                <a:spcPct val="162535"/>
              </a:lnSpc>
              <a:spcBef>
                <a:spcPts val="0"/>
              </a:spcBef>
              <a:spcAft>
                <a:spcPts val="0"/>
              </a:spcAft>
              <a:buNone/>
            </a:pPr>
            <a:r>
              <a:rPr lang="en-US" sz="1900">
                <a:solidFill>
                  <a:srgbClr val="343434"/>
                </a:solidFill>
                <a:latin typeface="Calibri"/>
                <a:ea typeface="Calibri"/>
                <a:cs typeface="Calibri"/>
                <a:sym typeface="Calibri"/>
              </a:rPr>
              <a:t>THEO DÕI Y TẾ</a:t>
            </a:r>
            <a:endParaRPr sz="900"/>
          </a:p>
        </p:txBody>
      </p:sp>
      <p:sp>
        <p:nvSpPr>
          <p:cNvPr id="322" name="Google Shape;322;p39"/>
          <p:cNvSpPr txBox="1"/>
          <p:nvPr/>
        </p:nvSpPr>
        <p:spPr>
          <a:xfrm>
            <a:off x="5622314" y="947097"/>
            <a:ext cx="646500" cy="261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700">
                <a:solidFill>
                  <a:srgbClr val="343434"/>
                </a:solidFill>
                <a:latin typeface="Calibri"/>
                <a:ea typeface="Calibri"/>
                <a:cs typeface="Calibri"/>
                <a:sym typeface="Calibri"/>
              </a:rPr>
              <a:t>IOT</a:t>
            </a:r>
            <a:endParaRPr sz="900"/>
          </a:p>
        </p:txBody>
      </p:sp>
      <p:sp>
        <p:nvSpPr>
          <p:cNvPr id="323" name="Google Shape;323;p39"/>
          <p:cNvSpPr txBox="1"/>
          <p:nvPr/>
        </p:nvSpPr>
        <p:spPr>
          <a:xfrm>
            <a:off x="7923839" y="929839"/>
            <a:ext cx="4133100" cy="231000"/>
          </a:xfrm>
          <a:prstGeom prst="rect">
            <a:avLst/>
          </a:prstGeom>
          <a:noFill/>
          <a:ln>
            <a:noFill/>
          </a:ln>
        </p:spPr>
        <p:txBody>
          <a:bodyPr anchorCtr="0" anchor="t" bIns="0" lIns="0" spcFirstLastPara="1" rIns="0" wrap="square" tIns="0">
            <a:spAutoFit/>
          </a:bodyPr>
          <a:lstStyle/>
          <a:p>
            <a:pPr indent="0" lvl="0" marL="0" marR="0" rtl="0" algn="ctr">
              <a:lnSpc>
                <a:spcPct val="140034"/>
              </a:lnSpc>
              <a:spcBef>
                <a:spcPts val="0"/>
              </a:spcBef>
              <a:spcAft>
                <a:spcPts val="0"/>
              </a:spcAft>
              <a:buNone/>
            </a:pPr>
            <a:r>
              <a:rPr lang="en-US" sz="1500">
                <a:solidFill>
                  <a:srgbClr val="343434"/>
                </a:solidFill>
                <a:latin typeface="Calibri"/>
                <a:ea typeface="Calibri"/>
                <a:cs typeface="Calibri"/>
                <a:sym typeface="Calibri"/>
              </a:rPr>
              <a:t>TỰ ĐỘNG HÓA TRONG CÔNG NGHIỆP</a:t>
            </a:r>
            <a:endParaRPr sz="900"/>
          </a:p>
        </p:txBody>
      </p:sp>
      <p:pic>
        <p:nvPicPr>
          <p:cNvPr id="324" name="Google Shape;324;p39"/>
          <p:cNvPicPr preferRelativeResize="0"/>
          <p:nvPr/>
        </p:nvPicPr>
        <p:blipFill rotWithShape="1">
          <a:blip r:embed="rId6">
            <a:alphaModFix/>
          </a:blip>
          <a:srcRect b="0" l="0" r="0" t="0"/>
          <a:stretch/>
        </p:blipFill>
        <p:spPr>
          <a:xfrm>
            <a:off x="223619" y="3855811"/>
            <a:ext cx="3751592" cy="2381583"/>
          </a:xfrm>
          <a:prstGeom prst="rect">
            <a:avLst/>
          </a:prstGeom>
          <a:noFill/>
          <a:ln>
            <a:noFill/>
          </a:ln>
        </p:spPr>
      </p:pic>
      <p:sp>
        <p:nvSpPr>
          <p:cNvPr id="325" name="Google Shape;325;p39"/>
          <p:cNvSpPr txBox="1"/>
          <p:nvPr/>
        </p:nvSpPr>
        <p:spPr>
          <a:xfrm>
            <a:off x="353073" y="6287864"/>
            <a:ext cx="2786700" cy="292500"/>
          </a:xfrm>
          <a:prstGeom prst="rect">
            <a:avLst/>
          </a:prstGeom>
          <a:noFill/>
          <a:ln>
            <a:noFill/>
          </a:ln>
        </p:spPr>
        <p:txBody>
          <a:bodyPr anchorCtr="0" anchor="t" bIns="0" lIns="0" spcFirstLastPara="1" rIns="0" wrap="square" tIns="0">
            <a:spAutoFit/>
          </a:bodyPr>
          <a:lstStyle/>
          <a:p>
            <a:pPr indent="0" lvl="0" marL="0" marR="0" rtl="0" algn="ctr">
              <a:lnSpc>
                <a:spcPct val="162535"/>
              </a:lnSpc>
              <a:spcBef>
                <a:spcPts val="0"/>
              </a:spcBef>
              <a:spcAft>
                <a:spcPts val="0"/>
              </a:spcAft>
              <a:buNone/>
            </a:pPr>
            <a:r>
              <a:rPr lang="en-US" sz="1900">
                <a:solidFill>
                  <a:srgbClr val="343434"/>
                </a:solidFill>
                <a:latin typeface="Calibri"/>
                <a:ea typeface="Calibri"/>
                <a:cs typeface="Calibri"/>
                <a:sym typeface="Calibri"/>
              </a:rPr>
              <a:t>ROBOT PHẪU THUẬT</a:t>
            </a:r>
            <a:endParaRPr sz="900"/>
          </a:p>
        </p:txBody>
      </p:sp>
      <p:pic>
        <p:nvPicPr>
          <p:cNvPr id="326" name="Google Shape;326;p39"/>
          <p:cNvPicPr preferRelativeResize="0"/>
          <p:nvPr/>
        </p:nvPicPr>
        <p:blipFill rotWithShape="1">
          <a:blip r:embed="rId7">
            <a:alphaModFix/>
          </a:blip>
          <a:srcRect b="0" l="0" r="0" t="0"/>
          <a:stretch/>
        </p:blipFill>
        <p:spPr>
          <a:xfrm>
            <a:off x="4214999" y="3865840"/>
            <a:ext cx="3889905" cy="2371553"/>
          </a:xfrm>
          <a:prstGeom prst="rect">
            <a:avLst/>
          </a:prstGeom>
          <a:noFill/>
          <a:ln>
            <a:noFill/>
          </a:ln>
        </p:spPr>
      </p:pic>
      <p:sp>
        <p:nvSpPr>
          <p:cNvPr id="327" name="Google Shape;327;p39"/>
          <p:cNvSpPr txBox="1"/>
          <p:nvPr/>
        </p:nvSpPr>
        <p:spPr>
          <a:xfrm>
            <a:off x="4702668" y="6272624"/>
            <a:ext cx="2786700" cy="292500"/>
          </a:xfrm>
          <a:prstGeom prst="rect">
            <a:avLst/>
          </a:prstGeom>
          <a:noFill/>
          <a:ln>
            <a:noFill/>
          </a:ln>
        </p:spPr>
        <p:txBody>
          <a:bodyPr anchorCtr="0" anchor="t" bIns="0" lIns="0" spcFirstLastPara="1" rIns="0" wrap="square" tIns="0">
            <a:spAutoFit/>
          </a:bodyPr>
          <a:lstStyle/>
          <a:p>
            <a:pPr indent="0" lvl="0" marL="0" marR="0" rtl="0" algn="ctr">
              <a:lnSpc>
                <a:spcPct val="162535"/>
              </a:lnSpc>
              <a:spcBef>
                <a:spcPts val="0"/>
              </a:spcBef>
              <a:spcAft>
                <a:spcPts val="0"/>
              </a:spcAft>
              <a:buNone/>
            </a:pPr>
            <a:r>
              <a:rPr lang="en-US" sz="1900">
                <a:solidFill>
                  <a:srgbClr val="343434"/>
                </a:solidFill>
                <a:latin typeface="Calibri"/>
                <a:ea typeface="Calibri"/>
                <a:cs typeface="Calibri"/>
                <a:sym typeface="Calibri"/>
              </a:rPr>
              <a:t>XE TỰ LÁI</a:t>
            </a:r>
            <a:endParaRPr sz="900"/>
          </a:p>
        </p:txBody>
      </p:sp>
      <p:pic>
        <p:nvPicPr>
          <p:cNvPr id="328" name="Google Shape;328;p39"/>
          <p:cNvPicPr preferRelativeResize="0"/>
          <p:nvPr/>
        </p:nvPicPr>
        <p:blipFill rotWithShape="1">
          <a:blip r:embed="rId8">
            <a:alphaModFix/>
          </a:blip>
          <a:srcRect b="0" l="0" r="0" t="0"/>
          <a:stretch/>
        </p:blipFill>
        <p:spPr>
          <a:xfrm>
            <a:off x="8344693" y="3870771"/>
            <a:ext cx="3623688" cy="2366622"/>
          </a:xfrm>
          <a:prstGeom prst="rect">
            <a:avLst/>
          </a:prstGeom>
          <a:noFill/>
          <a:ln>
            <a:noFill/>
          </a:ln>
        </p:spPr>
      </p:pic>
      <p:sp>
        <p:nvSpPr>
          <p:cNvPr id="329" name="Google Shape;329;p39"/>
          <p:cNvSpPr txBox="1"/>
          <p:nvPr/>
        </p:nvSpPr>
        <p:spPr>
          <a:xfrm>
            <a:off x="8763205" y="6237393"/>
            <a:ext cx="2786700" cy="292500"/>
          </a:xfrm>
          <a:prstGeom prst="rect">
            <a:avLst/>
          </a:prstGeom>
          <a:noFill/>
          <a:ln>
            <a:noFill/>
          </a:ln>
        </p:spPr>
        <p:txBody>
          <a:bodyPr anchorCtr="0" anchor="t" bIns="0" lIns="0" spcFirstLastPara="1" rIns="0" wrap="square" tIns="0">
            <a:spAutoFit/>
          </a:bodyPr>
          <a:lstStyle/>
          <a:p>
            <a:pPr indent="0" lvl="0" marL="0" marR="0" rtl="0" algn="ctr">
              <a:lnSpc>
                <a:spcPct val="162535"/>
              </a:lnSpc>
              <a:spcBef>
                <a:spcPts val="0"/>
              </a:spcBef>
              <a:spcAft>
                <a:spcPts val="0"/>
              </a:spcAft>
              <a:buNone/>
            </a:pPr>
            <a:r>
              <a:rPr lang="en-US" sz="1900">
                <a:solidFill>
                  <a:srgbClr val="343434"/>
                </a:solidFill>
                <a:latin typeface="Calibri"/>
                <a:ea typeface="Calibri"/>
                <a:cs typeface="Calibri"/>
                <a:sym typeface="Calibri"/>
              </a:rPr>
              <a:t>MAS EXPLORATION ROVER</a:t>
            </a:r>
            <a:endParaRPr sz="900"/>
          </a:p>
        </p:txBody>
      </p:sp>
      <p:sp>
        <p:nvSpPr>
          <p:cNvPr id="330" name="Google Shape;330;p3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34" name="Shape 334"/>
        <p:cNvGrpSpPr/>
        <p:nvPr/>
      </p:nvGrpSpPr>
      <p:grpSpPr>
        <a:xfrm>
          <a:off x="0" y="0"/>
          <a:ext cx="0" cy="0"/>
          <a:chOff x="0" y="0"/>
          <a:chExt cx="0" cy="0"/>
        </a:xfrm>
      </p:grpSpPr>
      <p:sp>
        <p:nvSpPr>
          <p:cNvPr id="335" name="Google Shape;335;p40"/>
          <p:cNvSpPr txBox="1"/>
          <p:nvPr/>
        </p:nvSpPr>
        <p:spPr>
          <a:xfrm>
            <a:off x="2331027" y="158751"/>
            <a:ext cx="5846700" cy="6618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300">
                <a:solidFill>
                  <a:srgbClr val="343434"/>
                </a:solidFill>
                <a:latin typeface="Calibri"/>
                <a:ea typeface="Calibri"/>
                <a:cs typeface="Calibri"/>
                <a:sym typeface="Calibri"/>
              </a:rPr>
              <a:t>CƠ HỘI VÀ THÁCH THỨC</a:t>
            </a:r>
            <a:endParaRPr sz="800"/>
          </a:p>
        </p:txBody>
      </p:sp>
      <p:sp>
        <p:nvSpPr>
          <p:cNvPr id="336" name="Google Shape;336;p40"/>
          <p:cNvSpPr txBox="1"/>
          <p:nvPr/>
        </p:nvSpPr>
        <p:spPr>
          <a:xfrm>
            <a:off x="636549" y="889000"/>
            <a:ext cx="11064300" cy="6341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2000">
                <a:solidFill>
                  <a:srgbClr val="343434"/>
                </a:solidFill>
              </a:rPr>
              <a:t>Cơ hội:</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Tự động hóa &amp; Tối ưu: Giám sát và điều khiển chính xác, kịp thời, tăng năng suất.</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An toàn: Đảm bảo an toàn trong các ứng dụng quan trọng (hàng không, y tế...).</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Trải nghiệm người dùng: Cung cấp dịch vụ tương tác, sống động (game online, VR...).</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Ra quyết định nhanh: Xử lý dữ liệu tức thời, hỗ trợ quyết định kịp thời.</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IoT: Nền tảng cho kết nối và điều khiển thiết bị thông minh.</a:t>
            </a:r>
            <a:endParaRPr sz="900"/>
          </a:p>
          <a:p>
            <a:pPr indent="0" lvl="0" marL="0" marR="0" rtl="0" algn="just">
              <a:lnSpc>
                <a:spcPct val="140000"/>
              </a:lnSpc>
              <a:spcBef>
                <a:spcPts val="0"/>
              </a:spcBef>
              <a:spcAft>
                <a:spcPts val="0"/>
              </a:spcAft>
              <a:buNone/>
            </a:pPr>
            <a:r>
              <a:rPr lang="en-US" sz="2000">
                <a:solidFill>
                  <a:srgbClr val="343434"/>
                </a:solidFill>
              </a:rPr>
              <a:t>Thách thức:</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Ràng buộc thời gian: Khó đáp ứng thời hạn do nhiều yếu tố (phần cứng, phần mềm, tải).</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Hạn chế tài nguyên: Khó triển khai thuật toán phức tạp trên thiết bị nhúng.</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Chịu lỗi: Yêu cầu thiết kế và thử nghiệm cẩn thận, dự phòng.</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Đồng thời: Vấn đề đồng thời (race condition, deadlock).</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Xác minh &amp; Xác thực: Quá trình phức tạp và tốn thời gian.</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Chi phí: Phát triển và bảo trì tốn kém.</a:t>
            </a:r>
            <a:endParaRPr sz="900"/>
          </a:p>
          <a:p>
            <a:pPr indent="-215900" lvl="1" marL="444500" marR="0" rtl="0" algn="just">
              <a:lnSpc>
                <a:spcPct val="140000"/>
              </a:lnSpc>
              <a:spcBef>
                <a:spcPts val="0"/>
              </a:spcBef>
              <a:spcAft>
                <a:spcPts val="0"/>
              </a:spcAft>
              <a:buClr>
                <a:srgbClr val="343434"/>
              </a:buClr>
              <a:buSzPts val="2000"/>
              <a:buChar char="•"/>
            </a:pPr>
            <a:r>
              <a:rPr i="0" lang="en-US" sz="2000" u="none" cap="none" strike="noStrike">
                <a:solidFill>
                  <a:srgbClr val="343434"/>
                </a:solidFill>
              </a:rPr>
              <a:t>Bảo mật: Nguy cơ tấn công mạng, đặc biệt trong IoT.</a:t>
            </a:r>
            <a:endParaRPr sz="900"/>
          </a:p>
          <a:p>
            <a:pPr indent="0" lvl="0" marL="0" marR="0" rtl="0" algn="just">
              <a:lnSpc>
                <a:spcPct val="140000"/>
              </a:lnSpc>
              <a:spcBef>
                <a:spcPts val="0"/>
              </a:spcBef>
              <a:spcAft>
                <a:spcPts val="0"/>
              </a:spcAft>
              <a:buNone/>
            </a:pPr>
            <a:r>
              <a:t/>
            </a:r>
            <a:endParaRPr sz="2000">
              <a:solidFill>
                <a:srgbClr val="343434"/>
              </a:solidFill>
            </a:endParaRPr>
          </a:p>
        </p:txBody>
      </p:sp>
      <p:sp>
        <p:nvSpPr>
          <p:cNvPr id="337" name="Google Shape;337;p4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42" name="Shape 342"/>
        <p:cNvGrpSpPr/>
        <p:nvPr/>
      </p:nvGrpSpPr>
      <p:grpSpPr>
        <a:xfrm>
          <a:off x="0" y="0"/>
          <a:ext cx="0" cy="0"/>
          <a:chOff x="0" y="0"/>
          <a:chExt cx="0" cy="0"/>
        </a:xfrm>
      </p:grpSpPr>
      <p:sp>
        <p:nvSpPr>
          <p:cNvPr id="343" name="Google Shape;343;p41"/>
          <p:cNvSpPr/>
          <p:nvPr/>
        </p:nvSpPr>
        <p:spPr>
          <a:xfrm>
            <a:off x="-304800" y="-3632200"/>
            <a:ext cx="10736373" cy="10736373"/>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pic>
        <p:nvPicPr>
          <p:cNvPr id="344" name="Google Shape;344;p41"/>
          <p:cNvPicPr preferRelativeResize="0"/>
          <p:nvPr/>
        </p:nvPicPr>
        <p:blipFill rotWithShape="1">
          <a:blip r:embed="rId4">
            <a:alphaModFix/>
          </a:blip>
          <a:srcRect b="0" l="0" r="0" t="0"/>
          <a:stretch/>
        </p:blipFill>
        <p:spPr>
          <a:xfrm>
            <a:off x="152408" y="6375719"/>
            <a:ext cx="2946547" cy="445124"/>
          </a:xfrm>
          <a:prstGeom prst="rect">
            <a:avLst/>
          </a:prstGeom>
          <a:noFill/>
          <a:ln>
            <a:noFill/>
          </a:ln>
        </p:spPr>
      </p:pic>
      <p:sp>
        <p:nvSpPr>
          <p:cNvPr id="345" name="Google Shape;345;p4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pSp>
        <p:nvGrpSpPr>
          <p:cNvPr id="346" name="Google Shape;346;p41"/>
          <p:cNvGrpSpPr/>
          <p:nvPr/>
        </p:nvGrpSpPr>
        <p:grpSpPr>
          <a:xfrm>
            <a:off x="0" y="0"/>
            <a:ext cx="12192000" cy="6857999"/>
            <a:chOff x="0" y="0"/>
            <a:chExt cx="12192000" cy="6857999"/>
          </a:xfrm>
        </p:grpSpPr>
        <p:pic>
          <p:nvPicPr>
            <p:cNvPr id="347" name="Google Shape;347;p41" title="Hệ Thống Giám Sát &amp; Cảnh Báo (ESP32).png"/>
            <p:cNvPicPr preferRelativeResize="0"/>
            <p:nvPr/>
          </p:nvPicPr>
          <p:blipFill>
            <a:blip r:embed="rId5">
              <a:alphaModFix/>
            </a:blip>
            <a:stretch>
              <a:fillRect/>
            </a:stretch>
          </p:blipFill>
          <p:spPr>
            <a:xfrm>
              <a:off x="0" y="0"/>
              <a:ext cx="12192000" cy="6857999"/>
            </a:xfrm>
            <a:prstGeom prst="rect">
              <a:avLst/>
            </a:prstGeom>
            <a:noFill/>
            <a:ln>
              <a:noFill/>
            </a:ln>
          </p:spPr>
        </p:pic>
        <p:pic>
          <p:nvPicPr>
            <p:cNvPr id="348" name="Google Shape;348;p41"/>
            <p:cNvPicPr preferRelativeResize="0"/>
            <p:nvPr/>
          </p:nvPicPr>
          <p:blipFill>
            <a:blip r:embed="rId6">
              <a:alphaModFix/>
            </a:blip>
            <a:stretch>
              <a:fillRect/>
            </a:stretch>
          </p:blipFill>
          <p:spPr>
            <a:xfrm>
              <a:off x="98575" y="6360175"/>
              <a:ext cx="3000375" cy="476250"/>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52" name="Shape 352"/>
        <p:cNvGrpSpPr/>
        <p:nvPr/>
      </p:nvGrpSpPr>
      <p:grpSpPr>
        <a:xfrm>
          <a:off x="0" y="0"/>
          <a:ext cx="0" cy="0"/>
          <a:chOff x="0" y="0"/>
          <a:chExt cx="0" cy="0"/>
        </a:xfrm>
      </p:grpSpPr>
      <p:sp>
        <p:nvSpPr>
          <p:cNvPr id="353" name="Google Shape;353;p4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54" name="Google Shape;354;p42"/>
          <p:cNvPicPr preferRelativeResize="0"/>
          <p:nvPr/>
        </p:nvPicPr>
        <p:blipFill>
          <a:blip r:embed="rId3">
            <a:alphaModFix/>
          </a:blip>
          <a:stretch>
            <a:fillRect/>
          </a:stretch>
        </p:blipFill>
        <p:spPr>
          <a:xfrm>
            <a:off x="2418151" y="739650"/>
            <a:ext cx="7083250" cy="465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58" name="Shape 358"/>
        <p:cNvGrpSpPr/>
        <p:nvPr/>
      </p:nvGrpSpPr>
      <p:grpSpPr>
        <a:xfrm>
          <a:off x="0" y="0"/>
          <a:ext cx="0" cy="0"/>
          <a:chOff x="0" y="0"/>
          <a:chExt cx="0" cy="0"/>
        </a:xfrm>
      </p:grpSpPr>
      <p:sp>
        <p:nvSpPr>
          <p:cNvPr id="359" name="Google Shape;359;p43"/>
          <p:cNvSpPr txBox="1"/>
          <p:nvPr/>
        </p:nvSpPr>
        <p:spPr>
          <a:xfrm>
            <a:off x="1779920" y="278888"/>
            <a:ext cx="99180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ƯU VÀ NHƯỢC ĐIỂM CỦA HỆ THỐNG </a:t>
            </a:r>
            <a:endParaRPr sz="900"/>
          </a:p>
        </p:txBody>
      </p:sp>
      <p:sp>
        <p:nvSpPr>
          <p:cNvPr id="360" name="Google Shape;360;p43"/>
          <p:cNvSpPr txBox="1"/>
          <p:nvPr/>
        </p:nvSpPr>
        <p:spPr>
          <a:xfrm>
            <a:off x="1206741" y="966470"/>
            <a:ext cx="11064300" cy="4202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2100">
              <a:solidFill>
                <a:schemeClr val="dk1"/>
              </a:solidFill>
            </a:endParaRPr>
          </a:p>
          <a:p>
            <a:pPr indent="0" lvl="0" marL="0" marR="0" rtl="0" algn="l">
              <a:spcBef>
                <a:spcPts val="0"/>
              </a:spcBef>
              <a:spcAft>
                <a:spcPts val="0"/>
              </a:spcAft>
              <a:buNone/>
            </a:pPr>
            <a:r>
              <a:rPr lang="en-US" sz="2100">
                <a:solidFill>
                  <a:schemeClr val="dk1"/>
                </a:solidFill>
              </a:rPr>
              <a:t> Ưu điểm:</a:t>
            </a:r>
            <a:endParaRPr sz="900"/>
          </a:p>
          <a:p>
            <a:pPr indent="-298450" lvl="0" marL="304800" marR="0" rtl="0" algn="l">
              <a:spcBef>
                <a:spcPts val="0"/>
              </a:spcBef>
              <a:spcAft>
                <a:spcPts val="0"/>
              </a:spcAft>
              <a:buClr>
                <a:schemeClr val="dk1"/>
              </a:buClr>
              <a:buSzPts val="2100"/>
              <a:buChar char="•"/>
            </a:pPr>
            <a:r>
              <a:rPr lang="en-US" sz="2100">
                <a:solidFill>
                  <a:schemeClr val="dk1"/>
                </a:solidFill>
              </a:rPr>
              <a:t>Xử lý đa nhiệm tốt: FreeRTOS giúp chạy song song nhiều tác vụ.</a:t>
            </a:r>
            <a:endParaRPr sz="900"/>
          </a:p>
          <a:p>
            <a:pPr indent="-298450" lvl="0" marL="304800" marR="0" rtl="0" algn="l">
              <a:spcBef>
                <a:spcPts val="0"/>
              </a:spcBef>
              <a:spcAft>
                <a:spcPts val="0"/>
              </a:spcAft>
              <a:buClr>
                <a:schemeClr val="dk1"/>
              </a:buClr>
              <a:buSzPts val="2100"/>
              <a:buChar char="•"/>
            </a:pPr>
            <a:r>
              <a:rPr lang="en-US" sz="2100">
                <a:solidFill>
                  <a:schemeClr val="dk1"/>
                </a:solidFill>
              </a:rPr>
              <a:t>Kết nối IoT mạnh: Hỗ trợ Wi-Fi, Telegram Bot…</a:t>
            </a:r>
            <a:endParaRPr sz="900"/>
          </a:p>
          <a:p>
            <a:pPr indent="-298450" lvl="0" marL="304800" marR="0" rtl="0" algn="l">
              <a:spcBef>
                <a:spcPts val="0"/>
              </a:spcBef>
              <a:spcAft>
                <a:spcPts val="0"/>
              </a:spcAft>
              <a:buClr>
                <a:schemeClr val="dk1"/>
              </a:buClr>
              <a:buSzPts val="2100"/>
              <a:buChar char="•"/>
            </a:pPr>
            <a:r>
              <a:rPr lang="en-US" sz="2100">
                <a:solidFill>
                  <a:schemeClr val="dk1"/>
                </a:solidFill>
              </a:rPr>
              <a:t>Tiết kiệm chi phí.</a:t>
            </a:r>
            <a:endParaRPr sz="900"/>
          </a:p>
          <a:p>
            <a:pPr indent="-298450" lvl="0" marL="304800" marR="0" rtl="0" algn="l">
              <a:spcBef>
                <a:spcPts val="0"/>
              </a:spcBef>
              <a:spcAft>
                <a:spcPts val="0"/>
              </a:spcAft>
              <a:buClr>
                <a:schemeClr val="dk1"/>
              </a:buClr>
              <a:buSzPts val="2100"/>
              <a:buChar char="•"/>
            </a:pPr>
            <a:r>
              <a:rPr lang="en-US" sz="2100">
                <a:solidFill>
                  <a:schemeClr val="dk1"/>
                </a:solidFill>
              </a:rPr>
              <a:t>Cảnh báo thời gian thực: Hiển thị LCD, gửi tin nhắn Telegram, gửi cảnh báo đến Mail.</a:t>
            </a:r>
            <a:endParaRPr sz="900"/>
          </a:p>
          <a:p>
            <a:pPr indent="-298450" lvl="0" marL="304800" marR="0" rtl="0" algn="l">
              <a:spcBef>
                <a:spcPts val="0"/>
              </a:spcBef>
              <a:spcAft>
                <a:spcPts val="0"/>
              </a:spcAft>
              <a:buClr>
                <a:schemeClr val="dk1"/>
              </a:buClr>
              <a:buSzPts val="2100"/>
              <a:buChar char="•"/>
            </a:pPr>
            <a:r>
              <a:rPr lang="en-US" sz="2100">
                <a:solidFill>
                  <a:schemeClr val="dk1"/>
                </a:solidFill>
              </a:rPr>
              <a:t>Linh hoạt, dễ mở rộng: Thêm cảm biến, điều khiển thiết bị từ xa.</a:t>
            </a:r>
            <a:endParaRPr sz="2100">
              <a:solidFill>
                <a:schemeClr val="dk1"/>
              </a:solidFill>
            </a:endParaRPr>
          </a:p>
          <a:p>
            <a:pPr indent="0" lvl="0" marL="0" marR="0" rtl="0" algn="l">
              <a:spcBef>
                <a:spcPts val="0"/>
              </a:spcBef>
              <a:spcAft>
                <a:spcPts val="0"/>
              </a:spcAft>
              <a:buNone/>
            </a:pPr>
            <a:r>
              <a:t/>
            </a:r>
            <a:endParaRPr sz="2100">
              <a:solidFill>
                <a:schemeClr val="dk1"/>
              </a:solidFill>
            </a:endParaRPr>
          </a:p>
          <a:p>
            <a:pPr indent="0" lvl="0" marL="0" marR="0" rtl="0" algn="l">
              <a:spcBef>
                <a:spcPts val="0"/>
              </a:spcBef>
              <a:spcAft>
                <a:spcPts val="0"/>
              </a:spcAft>
              <a:buNone/>
            </a:pPr>
            <a:r>
              <a:t/>
            </a:r>
            <a:endParaRPr sz="2100">
              <a:solidFill>
                <a:schemeClr val="dk1"/>
              </a:solidFill>
            </a:endParaRPr>
          </a:p>
          <a:p>
            <a:pPr indent="0" lvl="0" marL="0" marR="0" rtl="0" algn="l">
              <a:spcBef>
                <a:spcPts val="0"/>
              </a:spcBef>
              <a:spcAft>
                <a:spcPts val="0"/>
              </a:spcAft>
              <a:buNone/>
            </a:pPr>
            <a:r>
              <a:rPr lang="en-US" sz="2100">
                <a:solidFill>
                  <a:schemeClr val="dk1"/>
                </a:solidFill>
              </a:rPr>
              <a:t> Nhược điểm:</a:t>
            </a:r>
            <a:endParaRPr sz="900"/>
          </a:p>
          <a:p>
            <a:pPr indent="-298450" lvl="0" marL="304800" marR="0" rtl="0" algn="l">
              <a:spcBef>
                <a:spcPts val="0"/>
              </a:spcBef>
              <a:spcAft>
                <a:spcPts val="0"/>
              </a:spcAft>
              <a:buClr>
                <a:schemeClr val="dk1"/>
              </a:buClr>
              <a:buSzPts val="2100"/>
              <a:buChar char="•"/>
            </a:pPr>
            <a:r>
              <a:rPr lang="en-US" sz="2100">
                <a:solidFill>
                  <a:schemeClr val="dk1"/>
                </a:solidFill>
              </a:rPr>
              <a:t>Phụ thuộc Wi-Fi: Mất mạng → không gửi dữ liệu.</a:t>
            </a:r>
            <a:endParaRPr sz="900"/>
          </a:p>
          <a:p>
            <a:pPr indent="-298450" lvl="0" marL="304800" marR="0" rtl="0" algn="l">
              <a:spcBef>
                <a:spcPts val="0"/>
              </a:spcBef>
              <a:spcAft>
                <a:spcPts val="0"/>
              </a:spcAft>
              <a:buClr>
                <a:schemeClr val="dk1"/>
              </a:buClr>
              <a:buSzPts val="2100"/>
              <a:buChar char="•"/>
            </a:pPr>
            <a:r>
              <a:rPr lang="en-US" sz="2100">
                <a:solidFill>
                  <a:schemeClr val="dk1"/>
                </a:solidFill>
              </a:rPr>
              <a:t>Giới hạn tài nguyên: RAM nhỏ, cần tối ưu task.</a:t>
            </a:r>
            <a:endParaRPr sz="900"/>
          </a:p>
          <a:p>
            <a:pPr indent="-298450" lvl="0" marL="304800" marR="0" rtl="0" algn="l">
              <a:spcBef>
                <a:spcPts val="0"/>
              </a:spcBef>
              <a:spcAft>
                <a:spcPts val="0"/>
              </a:spcAft>
              <a:buClr>
                <a:schemeClr val="dk1"/>
              </a:buClr>
              <a:buSzPts val="2100"/>
              <a:buFont typeface="Arial"/>
              <a:buChar char="•"/>
            </a:pPr>
            <a:r>
              <a:rPr lang="en-US" sz="2100">
                <a:solidFill>
                  <a:schemeClr val="dk1"/>
                </a:solidFill>
              </a:rPr>
              <a:t>Cấu hình phức tạp hơn Arduino: Cần hiểu FreeRTOS, lập lịch task.</a:t>
            </a:r>
            <a:endParaRPr sz="900"/>
          </a:p>
        </p:txBody>
      </p:sp>
      <p:sp>
        <p:nvSpPr>
          <p:cNvPr id="361" name="Google Shape;361;p4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65" name="Shape 365"/>
        <p:cNvGrpSpPr/>
        <p:nvPr/>
      </p:nvGrpSpPr>
      <p:grpSpPr>
        <a:xfrm>
          <a:off x="0" y="0"/>
          <a:ext cx="0" cy="0"/>
          <a:chOff x="0" y="0"/>
          <a:chExt cx="0" cy="0"/>
        </a:xfrm>
      </p:grpSpPr>
      <p:sp>
        <p:nvSpPr>
          <p:cNvPr id="366" name="Google Shape;366;p44"/>
          <p:cNvSpPr txBox="1"/>
          <p:nvPr/>
        </p:nvSpPr>
        <p:spPr>
          <a:xfrm>
            <a:off x="483969" y="228088"/>
            <a:ext cx="120756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LẬP LỊCH TRONG HỆ THỐNG(dùng FreeRTOS) </a:t>
            </a:r>
            <a:endParaRPr sz="900"/>
          </a:p>
        </p:txBody>
      </p:sp>
      <p:sp>
        <p:nvSpPr>
          <p:cNvPr id="367" name="Google Shape;367;p44"/>
          <p:cNvSpPr txBox="1"/>
          <p:nvPr/>
        </p:nvSpPr>
        <p:spPr>
          <a:xfrm>
            <a:off x="472017" y="973261"/>
            <a:ext cx="3978900" cy="2924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chemeClr val="dk1"/>
                </a:solidFill>
              </a:rPr>
              <a:t>Loại lập lịch trong hệ thống</a:t>
            </a:r>
            <a:endParaRPr b="1" sz="1900">
              <a:solidFill>
                <a:schemeClr val="dk1"/>
              </a:solidFill>
            </a:endParaRPr>
          </a:p>
          <a:p>
            <a:pPr indent="0" lvl="0" marL="0" marR="0" rtl="0" algn="l">
              <a:spcBef>
                <a:spcPts val="0"/>
              </a:spcBef>
              <a:spcAft>
                <a:spcPts val="0"/>
              </a:spcAft>
              <a:buNone/>
            </a:pPr>
            <a:r>
              <a:t/>
            </a:r>
            <a:endParaRPr b="1" sz="1900">
              <a:solidFill>
                <a:schemeClr val="dk1"/>
              </a:solidFill>
            </a:endParaRPr>
          </a:p>
          <a:p>
            <a:pPr indent="-311150" lvl="0" marL="304800" marR="0" rtl="0" algn="l">
              <a:spcBef>
                <a:spcPts val="0"/>
              </a:spcBef>
              <a:spcAft>
                <a:spcPts val="0"/>
              </a:spcAft>
              <a:buClr>
                <a:schemeClr val="dk1"/>
              </a:buClr>
              <a:buSzPts val="1900"/>
              <a:buChar char="•"/>
            </a:pPr>
            <a:r>
              <a:rPr lang="en-US" sz="1900">
                <a:solidFill>
                  <a:schemeClr val="dk1"/>
                </a:solidFill>
              </a:rPr>
              <a:t>ESP32 chạy FreeRTOS theo cơ chế lập lịch ưu tiên Task có độ ưu tiên cao hơn có thể giành quyền thực thi ngay lập tức.</a:t>
            </a:r>
            <a:endParaRPr sz="900"/>
          </a:p>
          <a:p>
            <a:pPr indent="-311150" lvl="0" marL="304800" marR="0" rtl="0" algn="l">
              <a:spcBef>
                <a:spcPts val="0"/>
              </a:spcBef>
              <a:spcAft>
                <a:spcPts val="0"/>
              </a:spcAft>
              <a:buClr>
                <a:schemeClr val="dk1"/>
              </a:buClr>
              <a:buSzPts val="1900"/>
              <a:buChar char="•"/>
            </a:pPr>
            <a:r>
              <a:rPr lang="en-US" sz="1900">
                <a:solidFill>
                  <a:schemeClr val="dk1"/>
                </a:solidFill>
              </a:rPr>
              <a:t>Task cùng độ ưu tiên sẽ thực thi theo kiểu Round Robin (luân phiên).</a:t>
            </a:r>
            <a:endParaRPr sz="1900">
              <a:solidFill>
                <a:schemeClr val="dk1"/>
              </a:solidFill>
            </a:endParaRPr>
          </a:p>
          <a:p>
            <a:pPr indent="0" lvl="0" marL="0" marR="0" rtl="0" algn="l">
              <a:spcBef>
                <a:spcPts val="0"/>
              </a:spcBef>
              <a:spcAft>
                <a:spcPts val="0"/>
              </a:spcAft>
              <a:buNone/>
            </a:pPr>
            <a:r>
              <a:t/>
            </a:r>
            <a:endParaRPr sz="1900">
              <a:solidFill>
                <a:schemeClr val="dk1"/>
              </a:solidFill>
            </a:endParaRPr>
          </a:p>
        </p:txBody>
      </p:sp>
      <p:pic>
        <p:nvPicPr>
          <p:cNvPr id="368" name="Google Shape;368;p44"/>
          <p:cNvPicPr preferRelativeResize="0"/>
          <p:nvPr/>
        </p:nvPicPr>
        <p:blipFill rotWithShape="1">
          <a:blip r:embed="rId3">
            <a:alphaModFix/>
          </a:blip>
          <a:srcRect b="0" l="0" r="36045" t="0"/>
          <a:stretch/>
        </p:blipFill>
        <p:spPr>
          <a:xfrm>
            <a:off x="5551092" y="1112500"/>
            <a:ext cx="6048999" cy="2934136"/>
          </a:xfrm>
          <a:prstGeom prst="rect">
            <a:avLst/>
          </a:prstGeom>
          <a:noFill/>
          <a:ln>
            <a:noFill/>
          </a:ln>
        </p:spPr>
      </p:pic>
      <p:sp>
        <p:nvSpPr>
          <p:cNvPr id="369" name="Google Shape;369;p44"/>
          <p:cNvSpPr txBox="1"/>
          <p:nvPr/>
        </p:nvSpPr>
        <p:spPr>
          <a:xfrm>
            <a:off x="343125" y="3675225"/>
            <a:ext cx="8818500" cy="21087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b="1" lang="en-US" sz="1900">
                <a:solidFill>
                  <a:schemeClr val="dk1"/>
                </a:solidFill>
              </a:rPr>
              <a:t>Cơ chế lập lịch giữa các task</a:t>
            </a:r>
            <a:endParaRPr b="1" sz="1900">
              <a:solidFill>
                <a:schemeClr val="dk1"/>
              </a:solidFill>
            </a:endParaRPr>
          </a:p>
          <a:p>
            <a:pPr indent="0" lvl="0" marL="0" marR="0" rtl="0" algn="l">
              <a:spcBef>
                <a:spcPts val="0"/>
              </a:spcBef>
              <a:spcAft>
                <a:spcPts val="0"/>
              </a:spcAft>
              <a:buNone/>
            </a:pPr>
            <a:r>
              <a:t/>
            </a:r>
            <a:endParaRPr b="1" sz="1900">
              <a:solidFill>
                <a:schemeClr val="dk1"/>
              </a:solidFill>
            </a:endParaRPr>
          </a:p>
          <a:p>
            <a:pPr indent="-311150" lvl="0" marL="304800" marR="0" rtl="0" algn="l">
              <a:spcBef>
                <a:spcPts val="0"/>
              </a:spcBef>
              <a:spcAft>
                <a:spcPts val="0"/>
              </a:spcAft>
              <a:buClr>
                <a:schemeClr val="dk1"/>
              </a:buClr>
              <a:buSzPts val="1900"/>
              <a:buChar char="•"/>
            </a:pPr>
            <a:r>
              <a:rPr lang="en-US" sz="1900">
                <a:solidFill>
                  <a:schemeClr val="dk1"/>
                </a:solidFill>
              </a:rPr>
              <a:t>Các task chạy song song theo FreeRTOS.</a:t>
            </a:r>
            <a:endParaRPr sz="900"/>
          </a:p>
          <a:p>
            <a:pPr indent="-311150" lvl="0" marL="304800" marR="0" rtl="0" algn="l">
              <a:spcBef>
                <a:spcPts val="0"/>
              </a:spcBef>
              <a:spcAft>
                <a:spcPts val="0"/>
              </a:spcAft>
              <a:buClr>
                <a:schemeClr val="dk1"/>
              </a:buClr>
              <a:buSzPts val="1900"/>
              <a:buFont typeface="Arial"/>
              <a:buChar char="•"/>
            </a:pPr>
            <a:r>
              <a:rPr lang="en-US" sz="1900">
                <a:solidFill>
                  <a:schemeClr val="dk1"/>
                </a:solidFill>
              </a:rPr>
              <a:t>Task cảnh báo (led + gửi Telegram) có </a:t>
            </a:r>
            <a:r>
              <a:rPr b="1" lang="en-US" sz="1900">
                <a:solidFill>
                  <a:schemeClr val="dk1"/>
                </a:solidFill>
              </a:rPr>
              <a:t>mức ưu tiên cao</a:t>
            </a:r>
            <a:r>
              <a:rPr lang="en-US" sz="1900">
                <a:solidFill>
                  <a:schemeClr val="dk1"/>
                </a:solidFill>
              </a:rPr>
              <a:t>.</a:t>
            </a:r>
            <a:endParaRPr sz="900"/>
          </a:p>
          <a:p>
            <a:pPr indent="-311150" lvl="0" marL="304800" marR="0" rtl="0" algn="l">
              <a:spcBef>
                <a:spcPts val="0"/>
              </a:spcBef>
              <a:spcAft>
                <a:spcPts val="0"/>
              </a:spcAft>
              <a:buClr>
                <a:schemeClr val="dk1"/>
              </a:buClr>
              <a:buSzPts val="1900"/>
              <a:buFont typeface="Arial"/>
              <a:buChar char="•"/>
            </a:pPr>
            <a:r>
              <a:rPr lang="en-US" sz="1900">
                <a:solidFill>
                  <a:schemeClr val="dk1"/>
                </a:solidFill>
              </a:rPr>
              <a:t>Task cập nhật LCD có </a:t>
            </a:r>
            <a:r>
              <a:rPr b="1" lang="en-US" sz="1900">
                <a:solidFill>
                  <a:schemeClr val="dk1"/>
                </a:solidFill>
              </a:rPr>
              <a:t>mức ưu tiên thấp</a:t>
            </a:r>
            <a:r>
              <a:rPr lang="en-US" sz="1900">
                <a:solidFill>
                  <a:schemeClr val="dk1"/>
                </a:solidFill>
              </a:rPr>
              <a:t> để tiết kiệm tài nguyên.</a:t>
            </a:r>
            <a:endParaRPr sz="900"/>
          </a:p>
          <a:p>
            <a:pPr indent="-311150" lvl="0" marL="304800" marR="0" rtl="0" algn="l">
              <a:spcBef>
                <a:spcPts val="0"/>
              </a:spcBef>
              <a:spcAft>
                <a:spcPts val="0"/>
              </a:spcAft>
              <a:buClr>
                <a:schemeClr val="dk1"/>
              </a:buClr>
              <a:buSzPts val="1900"/>
              <a:buChar char="•"/>
            </a:pPr>
            <a:r>
              <a:rPr lang="en-US" sz="1900">
                <a:solidFill>
                  <a:schemeClr val="dk1"/>
                </a:solidFill>
              </a:rPr>
              <a:t>Task gửi dữ liệu lên server và Telegram có độ ưu tiên vừa phải.</a:t>
            </a:r>
            <a:endParaRPr sz="900"/>
          </a:p>
          <a:p>
            <a:pPr indent="0" lvl="0" marL="0" marR="0" rtl="0" algn="l">
              <a:spcBef>
                <a:spcPts val="0"/>
              </a:spcBef>
              <a:spcAft>
                <a:spcPts val="0"/>
              </a:spcAft>
              <a:buNone/>
            </a:pPr>
            <a:r>
              <a:t/>
            </a:r>
            <a:endParaRPr sz="1900">
              <a:solidFill>
                <a:schemeClr val="dk1"/>
              </a:solidFill>
            </a:endParaRPr>
          </a:p>
        </p:txBody>
      </p:sp>
      <p:sp>
        <p:nvSpPr>
          <p:cNvPr id="370" name="Google Shape;370;p4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371" name="Google Shape;371;p44"/>
          <p:cNvPicPr preferRelativeResize="0"/>
          <p:nvPr/>
        </p:nvPicPr>
        <p:blipFill>
          <a:blip r:embed="rId4">
            <a:alphaModFix/>
          </a:blip>
          <a:stretch>
            <a:fillRect/>
          </a:stretch>
        </p:blipFill>
        <p:spPr>
          <a:xfrm>
            <a:off x="7328850" y="1921600"/>
            <a:ext cx="428625" cy="209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sp>
        <p:nvSpPr>
          <p:cNvPr id="376" name="Google Shape;376;p45"/>
          <p:cNvSpPr/>
          <p:nvPr/>
        </p:nvSpPr>
        <p:spPr>
          <a:xfrm>
            <a:off x="5140171" y="2183906"/>
            <a:ext cx="51300" cy="2033100"/>
          </a:xfrm>
          <a:prstGeom prst="rect">
            <a:avLst/>
          </a:prstGeom>
          <a:solidFill>
            <a:srgbClr val="FFF106"/>
          </a:solidFill>
          <a:ln cap="flat" cmpd="sng" w="12700">
            <a:solidFill>
              <a:srgbClr val="08518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77" name="Google Shape;377;p45"/>
          <p:cNvSpPr txBox="1"/>
          <p:nvPr/>
        </p:nvSpPr>
        <p:spPr>
          <a:xfrm>
            <a:off x="1474901" y="2363900"/>
            <a:ext cx="3555300" cy="366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PHẦN </a:t>
            </a:r>
            <a:r>
              <a:rPr b="1" lang="en-US" sz="3600">
                <a:solidFill>
                  <a:srgbClr val="FFFFFF"/>
                </a:solidFill>
              </a:rPr>
              <a:t>2</a:t>
            </a:r>
            <a:endParaRPr/>
          </a:p>
          <a:p>
            <a:pPr indent="0" lvl="0" marL="0" marR="0" rtl="0" algn="l">
              <a:lnSpc>
                <a:spcPct val="100000"/>
              </a:lnSpc>
              <a:spcBef>
                <a:spcPts val="0"/>
              </a:spcBef>
              <a:spcAft>
                <a:spcPts val="0"/>
              </a:spcAft>
              <a:buClr>
                <a:srgbClr val="FFF106"/>
              </a:buClr>
              <a:buSzPts val="8000"/>
              <a:buFont typeface="Arial"/>
              <a:buNone/>
            </a:pPr>
            <a:r>
              <a:rPr b="1" lang="en-US" sz="8000">
                <a:solidFill>
                  <a:srgbClr val="FFF106"/>
                </a:solidFill>
              </a:rPr>
              <a:t>ỨNG DỤNG</a:t>
            </a:r>
            <a:endParaRPr/>
          </a:p>
          <a:p>
            <a:pPr indent="0" lvl="0" marL="0" marR="0" rtl="0" algn="l">
              <a:lnSpc>
                <a:spcPct val="100000"/>
              </a:lnSpc>
              <a:spcBef>
                <a:spcPts val="0"/>
              </a:spcBef>
              <a:spcAft>
                <a:spcPts val="0"/>
              </a:spcAft>
              <a:buClr>
                <a:schemeClr val="dk1"/>
              </a:buClr>
              <a:buSzPts val="3600"/>
              <a:buFont typeface="Calibri"/>
              <a:buNone/>
            </a:pPr>
            <a:r>
              <a:t/>
            </a:r>
            <a:endParaRPr b="1" i="0" sz="3600" u="none" cap="none" strike="noStrike">
              <a:solidFill>
                <a:srgbClr val="FFFFFF"/>
              </a:solidFill>
              <a:latin typeface="Calibri"/>
              <a:ea typeface="Calibri"/>
              <a:cs typeface="Calibri"/>
              <a:sym typeface="Calibri"/>
            </a:endParaRPr>
          </a:p>
        </p:txBody>
      </p:sp>
      <p:sp>
        <p:nvSpPr>
          <p:cNvPr id="378" name="Google Shape;378;p45"/>
          <p:cNvSpPr txBox="1"/>
          <p:nvPr>
            <p:ph idx="12" type="sldNum"/>
          </p:nvPr>
        </p:nvSpPr>
        <p:spPr>
          <a:xfrm>
            <a:off x="8812600" y="6365975"/>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b="1" lang="en-US" sz="1500"/>
              <a:t>‹#›</a:t>
            </a:fld>
            <a:endParaRPr b="1"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82" name="Shape 382"/>
        <p:cNvGrpSpPr/>
        <p:nvPr/>
      </p:nvGrpSpPr>
      <p:grpSpPr>
        <a:xfrm>
          <a:off x="0" y="0"/>
          <a:ext cx="0" cy="0"/>
          <a:chOff x="0" y="0"/>
          <a:chExt cx="0" cy="0"/>
        </a:xfrm>
      </p:grpSpPr>
      <p:sp>
        <p:nvSpPr>
          <p:cNvPr id="383" name="Google Shape;383;p46"/>
          <p:cNvSpPr txBox="1"/>
          <p:nvPr/>
        </p:nvSpPr>
        <p:spPr>
          <a:xfrm>
            <a:off x="2917819" y="569288"/>
            <a:ext cx="120756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b="1" lang="en-US" sz="3000">
                <a:solidFill>
                  <a:schemeClr val="dk1"/>
                </a:solidFill>
              </a:rPr>
              <a:t>THREAD VÀ CÁCH TẠO THREAD</a:t>
            </a:r>
            <a:endParaRPr sz="900"/>
          </a:p>
        </p:txBody>
      </p:sp>
      <p:sp>
        <p:nvSpPr>
          <p:cNvPr id="384" name="Google Shape;384;p4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85" name="Google Shape;385;p46"/>
          <p:cNvSpPr txBox="1"/>
          <p:nvPr/>
        </p:nvSpPr>
        <p:spPr>
          <a:xfrm>
            <a:off x="906000" y="1745825"/>
            <a:ext cx="10380000" cy="30024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rgbClr val="000000"/>
              </a:buClr>
              <a:buSzPts val="1900"/>
              <a:buFont typeface="Arial"/>
              <a:buChar char="❖"/>
            </a:pPr>
            <a:r>
              <a:rPr lang="en-US" sz="1900">
                <a:solidFill>
                  <a:srgbClr val="000000"/>
                </a:solidFill>
              </a:rPr>
              <a:t>Thread (luồng) là một đơn vị xử lý nhỏ nhất trong một chương trình, cho phép thực thi đồng thời nhiều tác vụ trong cùng một tiến trình (process). Thread giúp tận dụng tối đa tài nguyên CPU, đặc biệt trong các ứng dụng đa nhiệm hoặc cần xử lý song song. </a:t>
            </a:r>
            <a:endParaRPr sz="1900">
              <a:solidFill>
                <a:srgbClr val="000000"/>
              </a:solidFill>
            </a:endParaRPr>
          </a:p>
          <a:p>
            <a:pPr indent="-349250" lvl="0" marL="457200" rtl="0" algn="l">
              <a:lnSpc>
                <a:spcPct val="115000"/>
              </a:lnSpc>
              <a:spcBef>
                <a:spcPts val="0"/>
              </a:spcBef>
              <a:spcAft>
                <a:spcPts val="0"/>
              </a:spcAft>
              <a:buClr>
                <a:srgbClr val="000000"/>
              </a:buClr>
              <a:buSzPts val="1900"/>
              <a:buFont typeface="Arial"/>
              <a:buChar char="❖"/>
            </a:pPr>
            <a:r>
              <a:rPr lang="en-US" sz="1900">
                <a:solidFill>
                  <a:srgbClr val="000000"/>
                </a:solidFill>
              </a:rPr>
              <a:t>Một thread là một chuỗi lệnh (sequence of instructions) được thực thi độc lập trong chương trình. </a:t>
            </a:r>
            <a:endParaRPr sz="1900">
              <a:solidFill>
                <a:srgbClr val="000000"/>
              </a:solidFill>
            </a:endParaRPr>
          </a:p>
          <a:p>
            <a:pPr indent="-349250" lvl="0" marL="457200" rtl="0" algn="l">
              <a:lnSpc>
                <a:spcPct val="115000"/>
              </a:lnSpc>
              <a:spcBef>
                <a:spcPts val="0"/>
              </a:spcBef>
              <a:spcAft>
                <a:spcPts val="0"/>
              </a:spcAft>
              <a:buClr>
                <a:srgbClr val="000000"/>
              </a:buClr>
              <a:buSzPts val="1900"/>
              <a:buFont typeface="Arial"/>
              <a:buChar char="❖"/>
            </a:pPr>
            <a:r>
              <a:rPr lang="en-US" sz="1900">
                <a:solidFill>
                  <a:srgbClr val="000000"/>
                </a:solidFill>
              </a:rPr>
              <a:t>Trong Java, mọi chương trình đều có ít nhất một thread chính (main thread), được tạo tự động khi chương trình khởi chạy. </a:t>
            </a:r>
            <a:endParaRPr sz="1900">
              <a:solidFill>
                <a:srgbClr val="000000"/>
              </a:solidFill>
            </a:endParaRPr>
          </a:p>
          <a:p>
            <a:pPr indent="-349250" lvl="0" marL="457200" rtl="0" algn="l">
              <a:spcBef>
                <a:spcPts val="0"/>
              </a:spcBef>
              <a:spcAft>
                <a:spcPts val="0"/>
              </a:spcAft>
              <a:buClr>
                <a:srgbClr val="000000"/>
              </a:buClr>
              <a:buSzPts val="1900"/>
              <a:buFont typeface="Lato"/>
              <a:buChar char="❖"/>
            </a:pPr>
            <a:r>
              <a:rPr lang="en-US" sz="1900">
                <a:solidFill>
                  <a:schemeClr val="dk1"/>
                </a:solidFill>
              </a:rPr>
              <a:t>Kế thừa Thread: Tạo một lớp mới kế thừa từ lớp Thread và ghi đè phương thức run(). Sau đó, gọi phương thức start() để chạy Thread</a:t>
            </a:r>
            <a:endParaRPr sz="19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89" name="Shape 389"/>
        <p:cNvGrpSpPr/>
        <p:nvPr/>
      </p:nvGrpSpPr>
      <p:grpSpPr>
        <a:xfrm>
          <a:off x="0" y="0"/>
          <a:ext cx="0" cy="0"/>
          <a:chOff x="0" y="0"/>
          <a:chExt cx="0" cy="0"/>
        </a:xfrm>
      </p:grpSpPr>
      <p:sp>
        <p:nvSpPr>
          <p:cNvPr id="390" name="Google Shape;390;p47"/>
          <p:cNvSpPr txBox="1"/>
          <p:nvPr/>
        </p:nvSpPr>
        <p:spPr>
          <a:xfrm>
            <a:off x="483969" y="228088"/>
            <a:ext cx="120756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BÀI TẬP</a:t>
            </a:r>
            <a:endParaRPr sz="900"/>
          </a:p>
        </p:txBody>
      </p:sp>
      <p:sp>
        <p:nvSpPr>
          <p:cNvPr id="391" name="Google Shape;391;p47"/>
          <p:cNvSpPr txBox="1"/>
          <p:nvPr/>
        </p:nvSpPr>
        <p:spPr>
          <a:xfrm>
            <a:off x="483969" y="1178285"/>
            <a:ext cx="10413900" cy="7080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b="1" lang="en-US" sz="2100"/>
              <a:t>Ví dụ về Thread</a:t>
            </a:r>
            <a:br>
              <a:rPr b="1" lang="en-US" sz="2100">
                <a:solidFill>
                  <a:schemeClr val="dk1"/>
                </a:solidFill>
                <a:latin typeface="Calibri"/>
                <a:ea typeface="Calibri"/>
                <a:cs typeface="Calibri"/>
                <a:sym typeface="Calibri"/>
              </a:rPr>
            </a:br>
            <a:endParaRPr b="1" sz="2100">
              <a:solidFill>
                <a:schemeClr val="dk1"/>
              </a:solidFill>
              <a:latin typeface="Calibri"/>
              <a:ea typeface="Calibri"/>
              <a:cs typeface="Calibri"/>
              <a:sym typeface="Calibri"/>
            </a:endParaRPr>
          </a:p>
        </p:txBody>
      </p:sp>
      <p:sp>
        <p:nvSpPr>
          <p:cNvPr id="392" name="Google Shape;392;p47"/>
          <p:cNvSpPr txBox="1"/>
          <p:nvPr/>
        </p:nvSpPr>
        <p:spPr>
          <a:xfrm>
            <a:off x="5240067" y="228083"/>
            <a:ext cx="6836400" cy="59679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b="1" lang="en-US" sz="1800">
                <a:solidFill>
                  <a:srgbClr val="0000FF"/>
                </a:solidFill>
                <a:latin typeface="Courier New"/>
                <a:ea typeface="Courier New"/>
                <a:cs typeface="Courier New"/>
                <a:sym typeface="Courier New"/>
              </a:rPr>
              <a:t>class</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MyThread</a:t>
            </a: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extends</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Thread</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public</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void</a:t>
            </a:r>
            <a:r>
              <a:rPr b="1" lang="en-US" sz="1800">
                <a:solidFill>
                  <a:schemeClr val="dk1"/>
                </a:solidFill>
                <a:latin typeface="Courier New"/>
                <a:ea typeface="Courier New"/>
                <a:cs typeface="Courier New"/>
                <a:sym typeface="Courier New"/>
              </a:rPr>
              <a:t> </a:t>
            </a:r>
            <a:r>
              <a:rPr b="1" lang="en-US" sz="1800">
                <a:solidFill>
                  <a:srgbClr val="74531F"/>
                </a:solidFill>
                <a:latin typeface="Courier New"/>
                <a:ea typeface="Courier New"/>
                <a:cs typeface="Courier New"/>
                <a:sym typeface="Courier New"/>
              </a:rPr>
              <a:t>run</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8F08C4"/>
                </a:solidFill>
                <a:latin typeface="Courier New"/>
                <a:ea typeface="Courier New"/>
                <a:cs typeface="Courier New"/>
                <a:sym typeface="Courier New"/>
              </a:rPr>
              <a:t>for</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int</a:t>
            </a: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i</a:t>
            </a:r>
            <a:r>
              <a:rPr b="1" lang="en-US" sz="1800">
                <a:solidFill>
                  <a:schemeClr val="dk1"/>
                </a:solidFill>
                <a:latin typeface="Courier New"/>
                <a:ea typeface="Courier New"/>
                <a:cs typeface="Courier New"/>
                <a:sym typeface="Courier New"/>
              </a:rPr>
              <a:t> = </a:t>
            </a:r>
            <a:r>
              <a:rPr b="1" lang="en-US" sz="1800">
                <a:solidFill>
                  <a:srgbClr val="098658"/>
                </a:solidFill>
                <a:latin typeface="Courier New"/>
                <a:ea typeface="Courier New"/>
                <a:cs typeface="Courier New"/>
                <a:sym typeface="Courier New"/>
              </a:rPr>
              <a:t>0</a:t>
            </a: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i</a:t>
            </a:r>
            <a:r>
              <a:rPr b="1" lang="en-US" sz="1800">
                <a:solidFill>
                  <a:schemeClr val="dk1"/>
                </a:solidFill>
                <a:latin typeface="Courier New"/>
                <a:ea typeface="Courier New"/>
                <a:cs typeface="Courier New"/>
                <a:sym typeface="Courier New"/>
              </a:rPr>
              <a:t> &lt; </a:t>
            </a:r>
            <a:r>
              <a:rPr b="1" lang="en-US" sz="1800">
                <a:solidFill>
                  <a:srgbClr val="098658"/>
                </a:solidFill>
                <a:latin typeface="Courier New"/>
                <a:ea typeface="Courier New"/>
                <a:cs typeface="Courier New"/>
                <a:sym typeface="Courier New"/>
              </a:rPr>
              <a:t>5</a:t>
            </a: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i</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System</a:t>
            </a:r>
            <a:r>
              <a:rPr b="1" lang="en-US" sz="1800">
                <a:solidFill>
                  <a:schemeClr val="dk1"/>
                </a:solidFill>
                <a:latin typeface="Courier New"/>
                <a:ea typeface="Courier New"/>
                <a:cs typeface="Courier New"/>
                <a:sym typeface="Courier New"/>
              </a:rPr>
              <a:t>.out.</a:t>
            </a:r>
            <a:r>
              <a:rPr b="1" lang="en-US" sz="1800">
                <a:solidFill>
                  <a:srgbClr val="74531F"/>
                </a:solidFill>
                <a:latin typeface="Courier New"/>
                <a:ea typeface="Courier New"/>
                <a:cs typeface="Courier New"/>
                <a:sym typeface="Courier New"/>
              </a:rPr>
              <a:t>println</a:t>
            </a:r>
            <a:r>
              <a:rPr b="1" lang="en-US" sz="1800">
                <a:solidFill>
                  <a:schemeClr val="dk1"/>
                </a:solidFill>
                <a:latin typeface="Courier New"/>
                <a:ea typeface="Courier New"/>
                <a:cs typeface="Courier New"/>
                <a:sym typeface="Courier New"/>
              </a:rPr>
              <a:t>(</a:t>
            </a:r>
            <a:r>
              <a:rPr b="1" lang="en-US" sz="1800">
                <a:solidFill>
                  <a:srgbClr val="E21F1F"/>
                </a:solidFill>
                <a:latin typeface="Courier New"/>
                <a:ea typeface="Courier New"/>
                <a:cs typeface="Courier New"/>
                <a:sym typeface="Courier New"/>
              </a:rPr>
              <a:t>"</a:t>
            </a:r>
            <a:r>
              <a:rPr b="1" lang="en-US" sz="1800">
                <a:solidFill>
                  <a:srgbClr val="A31515"/>
                </a:solidFill>
                <a:latin typeface="Courier New"/>
                <a:ea typeface="Courier New"/>
                <a:cs typeface="Courier New"/>
                <a:sym typeface="Courier New"/>
              </a:rPr>
              <a:t>Hello</a:t>
            </a:r>
            <a:r>
              <a:rPr b="1" lang="en-US" sz="1800">
                <a:solidFill>
                  <a:srgbClr val="E21F1F"/>
                </a:solidFill>
                <a:latin typeface="Courier New"/>
                <a:ea typeface="Courier New"/>
                <a:cs typeface="Courier New"/>
                <a:sym typeface="Courier New"/>
              </a:rPr>
              <a:t>"</a:t>
            </a:r>
            <a:r>
              <a:rPr b="1" lang="en-US"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rgbClr val="0000FF"/>
                </a:solidFill>
                <a:latin typeface="Courier New"/>
                <a:ea typeface="Courier New"/>
                <a:cs typeface="Courier New"/>
                <a:sym typeface="Courier New"/>
              </a:rPr>
              <a:t>public</a:t>
            </a: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class</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ThreadExample</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public</a:t>
            </a: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static</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void</a:t>
            </a:r>
            <a:r>
              <a:rPr b="1" lang="en-US" sz="1800">
                <a:solidFill>
                  <a:schemeClr val="dk1"/>
                </a:solidFill>
                <a:latin typeface="Courier New"/>
                <a:ea typeface="Courier New"/>
                <a:cs typeface="Courier New"/>
                <a:sym typeface="Courier New"/>
              </a:rPr>
              <a:t> </a:t>
            </a:r>
            <a:r>
              <a:rPr b="1" lang="en-US" sz="1800">
                <a:solidFill>
                  <a:srgbClr val="74531F"/>
                </a:solidFill>
                <a:latin typeface="Courier New"/>
                <a:ea typeface="Courier New"/>
                <a:cs typeface="Courier New"/>
                <a:sym typeface="Courier New"/>
              </a:rPr>
              <a:t>main</a:t>
            </a:r>
            <a:r>
              <a:rPr b="1" lang="en-US" sz="1800">
                <a:solidFill>
                  <a:schemeClr val="dk1"/>
                </a:solidFill>
                <a:latin typeface="Courier New"/>
                <a:ea typeface="Courier New"/>
                <a:cs typeface="Courier New"/>
                <a:sym typeface="Courier New"/>
              </a:rPr>
              <a:t>(</a:t>
            </a:r>
            <a:r>
              <a:rPr b="1" lang="en-US" sz="1800">
                <a:solidFill>
                  <a:srgbClr val="2B91AF"/>
                </a:solidFill>
                <a:latin typeface="Courier New"/>
                <a:ea typeface="Courier New"/>
                <a:cs typeface="Courier New"/>
                <a:sym typeface="Courier New"/>
              </a:rPr>
              <a:t>String</a:t>
            </a:r>
            <a:r>
              <a:rPr b="1" lang="en-US" sz="1800">
                <a:solidFill>
                  <a:schemeClr val="dk1"/>
                </a:solidFill>
                <a:latin typeface="Courier New"/>
                <a:ea typeface="Courier New"/>
                <a:cs typeface="Courier New"/>
                <a:sym typeface="Courier New"/>
              </a:rPr>
              <a:t>[] </a:t>
            </a:r>
            <a:r>
              <a:rPr b="1" lang="en-US" sz="1800">
                <a:solidFill>
                  <a:srgbClr val="808080"/>
                </a:solidFill>
                <a:latin typeface="Courier New"/>
                <a:ea typeface="Courier New"/>
                <a:cs typeface="Courier New"/>
                <a:sym typeface="Courier New"/>
              </a:rPr>
              <a:t>args</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MyThread</a:t>
            </a: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t1</a:t>
            </a:r>
            <a:r>
              <a:rPr b="1" lang="en-US" sz="1800">
                <a:solidFill>
                  <a:schemeClr val="dk1"/>
                </a:solidFill>
                <a:latin typeface="Courier New"/>
                <a:ea typeface="Courier New"/>
                <a:cs typeface="Courier New"/>
                <a:sym typeface="Courier New"/>
              </a:rPr>
              <a:t> = </a:t>
            </a:r>
            <a:r>
              <a:rPr b="1" lang="en-US" sz="1800">
                <a:solidFill>
                  <a:srgbClr val="8F08C4"/>
                </a:solidFill>
                <a:latin typeface="Courier New"/>
                <a:ea typeface="Courier New"/>
                <a:cs typeface="Courier New"/>
                <a:sym typeface="Courier New"/>
              </a:rPr>
              <a:t>new</a:t>
            </a:r>
            <a:r>
              <a:rPr b="1" lang="en-US" sz="1800">
                <a:solidFill>
                  <a:schemeClr val="dk1"/>
                </a:solidFill>
                <a:latin typeface="Courier New"/>
                <a:ea typeface="Courier New"/>
                <a:cs typeface="Courier New"/>
                <a:sym typeface="Courier New"/>
              </a:rPr>
              <a:t> </a:t>
            </a:r>
            <a:r>
              <a:rPr b="1" lang="en-US" sz="1800">
                <a:solidFill>
                  <a:srgbClr val="74531F"/>
                </a:solidFill>
                <a:latin typeface="Courier New"/>
                <a:ea typeface="Courier New"/>
                <a:cs typeface="Courier New"/>
                <a:sym typeface="Courier New"/>
              </a:rPr>
              <a:t>MyThread</a:t>
            </a:r>
            <a:r>
              <a:rPr b="1" lang="en-US" sz="1800">
                <a:solidFill>
                  <a:schemeClr val="dk1"/>
                </a:solidFill>
                <a:latin typeface="Courier New"/>
                <a:ea typeface="Courier New"/>
                <a:cs typeface="Courier New"/>
                <a:sym typeface="Courier New"/>
              </a:rPr>
              <a:t>(); </a:t>
            </a:r>
            <a:r>
              <a:rPr b="1" lang="en-US" sz="1800">
                <a:solidFill>
                  <a:srgbClr val="008000"/>
                </a:solidFill>
                <a:latin typeface="Courier New"/>
                <a:ea typeface="Courier New"/>
                <a:cs typeface="Courier New"/>
                <a:sym typeface="Courier New"/>
              </a:rPr>
              <a:t>// Tạo luồng</a:t>
            </a:r>
            <a:endParaRPr b="1" sz="18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t1</a:t>
            </a:r>
            <a:r>
              <a:rPr b="1" lang="en-US" sz="1800">
                <a:solidFill>
                  <a:schemeClr val="dk1"/>
                </a:solidFill>
                <a:latin typeface="Courier New"/>
                <a:ea typeface="Courier New"/>
                <a:cs typeface="Courier New"/>
                <a:sym typeface="Courier New"/>
              </a:rPr>
              <a:t>.</a:t>
            </a:r>
            <a:r>
              <a:rPr b="1" lang="en-US" sz="1800">
                <a:solidFill>
                  <a:srgbClr val="74531F"/>
                </a:solidFill>
                <a:latin typeface="Courier New"/>
                <a:ea typeface="Courier New"/>
                <a:cs typeface="Courier New"/>
                <a:sym typeface="Courier New"/>
              </a:rPr>
              <a:t>start</a:t>
            </a:r>
            <a:r>
              <a:rPr b="1" lang="en-US" sz="1800">
                <a:solidFill>
                  <a:schemeClr val="dk1"/>
                </a:solidFill>
                <a:latin typeface="Courier New"/>
                <a:ea typeface="Courier New"/>
                <a:cs typeface="Courier New"/>
                <a:sym typeface="Courier New"/>
              </a:rPr>
              <a:t>(); </a:t>
            </a:r>
            <a:r>
              <a:rPr b="1" lang="en-US" sz="1800">
                <a:solidFill>
                  <a:srgbClr val="008000"/>
                </a:solidFill>
                <a:latin typeface="Courier New"/>
                <a:ea typeface="Courier New"/>
                <a:cs typeface="Courier New"/>
                <a:sym typeface="Courier New"/>
              </a:rPr>
              <a:t>// Chạy luồng</a:t>
            </a:r>
            <a:endParaRPr b="1" sz="18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2600">
              <a:solidFill>
                <a:srgbClr val="0000FF"/>
              </a:solidFill>
              <a:latin typeface="Courier New"/>
              <a:ea typeface="Courier New"/>
              <a:cs typeface="Courier New"/>
              <a:sym typeface="Courier New"/>
            </a:endParaRPr>
          </a:p>
        </p:txBody>
      </p:sp>
      <p:sp>
        <p:nvSpPr>
          <p:cNvPr id="393" name="Google Shape;393;p4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397" name="Shape 397"/>
        <p:cNvGrpSpPr/>
        <p:nvPr/>
      </p:nvGrpSpPr>
      <p:grpSpPr>
        <a:xfrm>
          <a:off x="0" y="0"/>
          <a:ext cx="0" cy="0"/>
          <a:chOff x="0" y="0"/>
          <a:chExt cx="0" cy="0"/>
        </a:xfrm>
      </p:grpSpPr>
      <p:sp>
        <p:nvSpPr>
          <p:cNvPr id="398" name="Google Shape;398;p48"/>
          <p:cNvSpPr txBox="1"/>
          <p:nvPr/>
        </p:nvSpPr>
        <p:spPr>
          <a:xfrm>
            <a:off x="483969" y="228088"/>
            <a:ext cx="120756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BÀI TẬP</a:t>
            </a:r>
            <a:endParaRPr sz="900"/>
          </a:p>
        </p:txBody>
      </p:sp>
      <p:sp>
        <p:nvSpPr>
          <p:cNvPr id="399" name="Google Shape;399;p48"/>
          <p:cNvSpPr txBox="1"/>
          <p:nvPr/>
        </p:nvSpPr>
        <p:spPr>
          <a:xfrm>
            <a:off x="483969" y="1178285"/>
            <a:ext cx="10413900" cy="7080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b="1" lang="en-US" sz="2100"/>
              <a:t>Ví dụ về Thread với Sleep</a:t>
            </a:r>
            <a:br>
              <a:rPr b="1" lang="en-US" sz="2100">
                <a:solidFill>
                  <a:schemeClr val="dk1"/>
                </a:solidFill>
                <a:latin typeface="Calibri"/>
                <a:ea typeface="Calibri"/>
                <a:cs typeface="Calibri"/>
                <a:sym typeface="Calibri"/>
              </a:rPr>
            </a:br>
            <a:endParaRPr b="1" sz="2100">
              <a:solidFill>
                <a:schemeClr val="dk1"/>
              </a:solidFill>
              <a:latin typeface="Calibri"/>
              <a:ea typeface="Calibri"/>
              <a:cs typeface="Calibri"/>
              <a:sym typeface="Calibri"/>
            </a:endParaRPr>
          </a:p>
        </p:txBody>
      </p:sp>
      <p:sp>
        <p:nvSpPr>
          <p:cNvPr id="400" name="Google Shape;400;p48"/>
          <p:cNvSpPr txBox="1"/>
          <p:nvPr/>
        </p:nvSpPr>
        <p:spPr>
          <a:xfrm>
            <a:off x="4876150" y="242400"/>
            <a:ext cx="7200300" cy="63732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None/>
            </a:pPr>
            <a:r>
              <a:rPr b="1" lang="en-US" sz="1600">
                <a:solidFill>
                  <a:srgbClr val="0000FF"/>
                </a:solidFill>
                <a:latin typeface="Courier New"/>
                <a:ea typeface="Courier New"/>
                <a:cs typeface="Courier New"/>
                <a:sym typeface="Courier New"/>
              </a:rPr>
              <a:t>class</a:t>
            </a: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MyThread</a:t>
            </a:r>
            <a:r>
              <a:rPr b="1" lang="en-US" sz="1600">
                <a:solidFill>
                  <a:schemeClr val="dk1"/>
                </a:solidFill>
                <a:latin typeface="Courier New"/>
                <a:ea typeface="Courier New"/>
                <a:cs typeface="Courier New"/>
                <a:sym typeface="Courier New"/>
              </a:rPr>
              <a:t> </a:t>
            </a:r>
            <a:r>
              <a:rPr b="1" lang="en-US" sz="1600">
                <a:solidFill>
                  <a:srgbClr val="0000FF"/>
                </a:solidFill>
                <a:latin typeface="Courier New"/>
                <a:ea typeface="Courier New"/>
                <a:cs typeface="Courier New"/>
                <a:sym typeface="Courier New"/>
              </a:rPr>
              <a:t>extends</a:t>
            </a: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Thread</a:t>
            </a: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0000FF"/>
                </a:solidFill>
                <a:latin typeface="Courier New"/>
                <a:ea typeface="Courier New"/>
                <a:cs typeface="Courier New"/>
                <a:sym typeface="Courier New"/>
              </a:rPr>
              <a:t>public</a:t>
            </a: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void</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run</a:t>
            </a: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8F08C4"/>
                </a:solidFill>
                <a:latin typeface="Courier New"/>
                <a:ea typeface="Courier New"/>
                <a:cs typeface="Courier New"/>
                <a:sym typeface="Courier New"/>
              </a:rPr>
              <a:t>try</a:t>
            </a: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8F08C4"/>
                </a:solidFill>
                <a:latin typeface="Courier New"/>
                <a:ea typeface="Courier New"/>
                <a:cs typeface="Courier New"/>
                <a:sym typeface="Courier New"/>
              </a:rPr>
              <a:t>for</a:t>
            </a: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int</a:t>
            </a: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i</a:t>
            </a:r>
            <a:r>
              <a:rPr b="1" lang="en-US" sz="1600">
                <a:solidFill>
                  <a:schemeClr val="dk1"/>
                </a:solidFill>
                <a:latin typeface="Courier New"/>
                <a:ea typeface="Courier New"/>
                <a:cs typeface="Courier New"/>
                <a:sym typeface="Courier New"/>
              </a:rPr>
              <a:t> = </a:t>
            </a:r>
            <a:r>
              <a:rPr b="1" lang="en-US" sz="1600">
                <a:solidFill>
                  <a:srgbClr val="098658"/>
                </a:solidFill>
                <a:latin typeface="Courier New"/>
                <a:ea typeface="Courier New"/>
                <a:cs typeface="Courier New"/>
                <a:sym typeface="Courier New"/>
              </a:rPr>
              <a:t>0</a:t>
            </a: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i</a:t>
            </a:r>
            <a:r>
              <a:rPr b="1" lang="en-US" sz="1600">
                <a:solidFill>
                  <a:schemeClr val="dk1"/>
                </a:solidFill>
                <a:latin typeface="Courier New"/>
                <a:ea typeface="Courier New"/>
                <a:cs typeface="Courier New"/>
                <a:sym typeface="Courier New"/>
              </a:rPr>
              <a:t> &lt; </a:t>
            </a:r>
            <a:r>
              <a:rPr b="1" lang="en-US" sz="1600">
                <a:solidFill>
                  <a:srgbClr val="098658"/>
                </a:solidFill>
                <a:latin typeface="Courier New"/>
                <a:ea typeface="Courier New"/>
                <a:cs typeface="Courier New"/>
                <a:sym typeface="Courier New"/>
              </a:rPr>
              <a:t>5</a:t>
            </a: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i</a:t>
            </a: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System</a:t>
            </a:r>
            <a:r>
              <a:rPr b="1" lang="en-US" sz="1600">
                <a:solidFill>
                  <a:schemeClr val="dk1"/>
                </a:solidFill>
                <a:latin typeface="Courier New"/>
                <a:ea typeface="Courier New"/>
                <a:cs typeface="Courier New"/>
                <a:sym typeface="Courier New"/>
              </a:rPr>
              <a:t>.out.</a:t>
            </a:r>
            <a:r>
              <a:rPr b="1" lang="en-US" sz="1600">
                <a:solidFill>
                  <a:srgbClr val="74531F"/>
                </a:solidFill>
                <a:latin typeface="Courier New"/>
                <a:ea typeface="Courier New"/>
                <a:cs typeface="Courier New"/>
                <a:sym typeface="Courier New"/>
              </a:rPr>
              <a:t>println</a:t>
            </a:r>
            <a:r>
              <a:rPr b="1" lang="en-US" sz="1600">
                <a:solidFill>
                  <a:schemeClr val="dk1"/>
                </a:solidFill>
                <a:latin typeface="Courier New"/>
                <a:ea typeface="Courier New"/>
                <a:cs typeface="Courier New"/>
                <a:sym typeface="Courier New"/>
              </a:rPr>
              <a:t>(</a:t>
            </a:r>
            <a:r>
              <a:rPr b="1" lang="en-US" sz="1600">
                <a:solidFill>
                  <a:srgbClr val="E21F1F"/>
                </a:solidFill>
                <a:latin typeface="Courier New"/>
                <a:ea typeface="Courier New"/>
                <a:cs typeface="Courier New"/>
                <a:sym typeface="Courier New"/>
              </a:rPr>
              <a:t>"</a:t>
            </a:r>
            <a:r>
              <a:rPr b="1" lang="en-US" sz="1600">
                <a:solidFill>
                  <a:srgbClr val="A31515"/>
                </a:solidFill>
                <a:latin typeface="Courier New"/>
                <a:ea typeface="Courier New"/>
                <a:cs typeface="Courier New"/>
                <a:sym typeface="Courier New"/>
              </a:rPr>
              <a:t>Hello </a:t>
            </a:r>
            <a:r>
              <a:rPr b="1" lang="en-US" sz="1600">
                <a:solidFill>
                  <a:srgbClr val="E21F1F"/>
                </a:solidFill>
                <a:latin typeface="Courier New"/>
                <a:ea typeface="Courier New"/>
                <a:cs typeface="Courier New"/>
                <a:sym typeface="Courier New"/>
              </a:rPr>
              <a:t>"</a:t>
            </a: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Thread</a:t>
            </a:r>
            <a:r>
              <a:rPr b="1" lang="en-US" sz="1600">
                <a:solidFill>
                  <a:schemeClr val="dk1"/>
                </a:solidFill>
                <a:latin typeface="Courier New"/>
                <a:ea typeface="Courier New"/>
                <a:cs typeface="Courier New"/>
                <a:sym typeface="Courier New"/>
              </a:rPr>
              <a:t>.</a:t>
            </a:r>
            <a:r>
              <a:rPr b="1" lang="en-US" sz="1600">
                <a:solidFill>
                  <a:srgbClr val="74531F"/>
                </a:solidFill>
                <a:latin typeface="Courier New"/>
                <a:ea typeface="Courier New"/>
                <a:cs typeface="Courier New"/>
                <a:sym typeface="Courier New"/>
              </a:rPr>
              <a:t>sleep</a:t>
            </a:r>
            <a:r>
              <a:rPr b="1" lang="en-US" sz="1600">
                <a:solidFill>
                  <a:schemeClr val="dk1"/>
                </a:solidFill>
                <a:latin typeface="Courier New"/>
                <a:ea typeface="Courier New"/>
                <a:cs typeface="Courier New"/>
                <a:sym typeface="Courier New"/>
              </a:rPr>
              <a:t>(</a:t>
            </a:r>
            <a:r>
              <a:rPr b="1" lang="en-US" sz="1600">
                <a:solidFill>
                  <a:srgbClr val="098658"/>
                </a:solidFill>
                <a:latin typeface="Courier New"/>
                <a:ea typeface="Courier New"/>
                <a:cs typeface="Courier New"/>
                <a:sym typeface="Courier New"/>
              </a:rPr>
              <a:t>1000</a:t>
            </a:r>
            <a:r>
              <a:rPr b="1" lang="en-US" sz="1600">
                <a:solidFill>
                  <a:schemeClr val="dk1"/>
                </a:solidFill>
                <a:latin typeface="Courier New"/>
                <a:ea typeface="Courier New"/>
                <a:cs typeface="Courier New"/>
                <a:sym typeface="Courier New"/>
              </a:rPr>
              <a:t>); </a:t>
            </a:r>
            <a:r>
              <a:rPr b="1" lang="en-US" sz="1600">
                <a:solidFill>
                  <a:srgbClr val="008000"/>
                </a:solidFill>
                <a:latin typeface="Courier New"/>
                <a:ea typeface="Courier New"/>
                <a:cs typeface="Courier New"/>
                <a:sym typeface="Courier New"/>
              </a:rPr>
              <a:t>// Dừng luồng trong 1s </a:t>
            </a:r>
            <a:endParaRPr b="1" sz="16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 </a:t>
            </a:r>
            <a:r>
              <a:rPr b="1" lang="en-US" sz="1600">
                <a:solidFill>
                  <a:srgbClr val="8F08C4"/>
                </a:solidFill>
                <a:latin typeface="Courier New"/>
                <a:ea typeface="Courier New"/>
                <a:cs typeface="Courier New"/>
                <a:sym typeface="Courier New"/>
              </a:rPr>
              <a:t>catch</a:t>
            </a: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InterruptedException</a:t>
            </a: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e</a:t>
            </a: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System</a:t>
            </a:r>
            <a:r>
              <a:rPr b="1" lang="en-US" sz="1600">
                <a:solidFill>
                  <a:schemeClr val="dk1"/>
                </a:solidFill>
                <a:latin typeface="Courier New"/>
                <a:ea typeface="Courier New"/>
                <a:cs typeface="Courier New"/>
                <a:sym typeface="Courier New"/>
              </a:rPr>
              <a:t>.out.</a:t>
            </a:r>
            <a:r>
              <a:rPr b="1" lang="en-US" sz="1600">
                <a:solidFill>
                  <a:srgbClr val="74531F"/>
                </a:solidFill>
                <a:latin typeface="Courier New"/>
                <a:ea typeface="Courier New"/>
                <a:cs typeface="Courier New"/>
                <a:sym typeface="Courier New"/>
              </a:rPr>
              <a:t>println</a:t>
            </a:r>
            <a:r>
              <a:rPr b="1" lang="en-US" sz="1600">
                <a:solidFill>
                  <a:schemeClr val="dk1"/>
                </a:solidFill>
                <a:latin typeface="Courier New"/>
                <a:ea typeface="Courier New"/>
                <a:cs typeface="Courier New"/>
                <a:sym typeface="Courier New"/>
              </a:rPr>
              <a:t>(</a:t>
            </a:r>
            <a:r>
              <a:rPr b="1" lang="en-US" sz="1600">
                <a:solidFill>
                  <a:srgbClr val="E21F1F"/>
                </a:solidFill>
                <a:latin typeface="Courier New"/>
                <a:ea typeface="Courier New"/>
                <a:cs typeface="Courier New"/>
                <a:sym typeface="Courier New"/>
              </a:rPr>
              <a:t>"</a:t>
            </a:r>
            <a:r>
              <a:rPr b="1" lang="en-US" sz="1600">
                <a:solidFill>
                  <a:srgbClr val="A31515"/>
                </a:solidFill>
                <a:latin typeface="Courier New"/>
                <a:ea typeface="Courier New"/>
                <a:cs typeface="Courier New"/>
                <a:sym typeface="Courier New"/>
              </a:rPr>
              <a:t>Thread bị gián đoạn!</a:t>
            </a:r>
            <a:r>
              <a:rPr b="1" lang="en-US" sz="1600">
                <a:solidFill>
                  <a:srgbClr val="E21F1F"/>
                </a:solidFill>
                <a:latin typeface="Courier New"/>
                <a:ea typeface="Courier New"/>
                <a:cs typeface="Courier New"/>
                <a:sym typeface="Courier New"/>
              </a:rPr>
              <a:t>"</a:t>
            </a: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rgbClr val="0000FF"/>
                </a:solidFill>
                <a:latin typeface="Courier New"/>
                <a:ea typeface="Courier New"/>
                <a:cs typeface="Courier New"/>
                <a:sym typeface="Courier New"/>
              </a:rPr>
              <a:t>public</a:t>
            </a:r>
            <a:r>
              <a:rPr b="1" lang="en-US" sz="1600">
                <a:solidFill>
                  <a:schemeClr val="dk1"/>
                </a:solidFill>
                <a:latin typeface="Courier New"/>
                <a:ea typeface="Courier New"/>
                <a:cs typeface="Courier New"/>
                <a:sym typeface="Courier New"/>
              </a:rPr>
              <a:t> </a:t>
            </a:r>
            <a:r>
              <a:rPr b="1" lang="en-US" sz="1600">
                <a:solidFill>
                  <a:srgbClr val="0000FF"/>
                </a:solidFill>
                <a:latin typeface="Courier New"/>
                <a:ea typeface="Courier New"/>
                <a:cs typeface="Courier New"/>
                <a:sym typeface="Courier New"/>
              </a:rPr>
              <a:t>class</a:t>
            </a: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ThreadExample</a:t>
            </a: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0000FF"/>
                </a:solidFill>
                <a:latin typeface="Courier New"/>
                <a:ea typeface="Courier New"/>
                <a:cs typeface="Courier New"/>
                <a:sym typeface="Courier New"/>
              </a:rPr>
              <a:t>public</a:t>
            </a:r>
            <a:r>
              <a:rPr b="1" lang="en-US" sz="1600">
                <a:solidFill>
                  <a:schemeClr val="dk1"/>
                </a:solidFill>
                <a:latin typeface="Courier New"/>
                <a:ea typeface="Courier New"/>
                <a:cs typeface="Courier New"/>
                <a:sym typeface="Courier New"/>
              </a:rPr>
              <a:t> </a:t>
            </a:r>
            <a:r>
              <a:rPr b="1" lang="en-US" sz="1600">
                <a:solidFill>
                  <a:srgbClr val="0000FF"/>
                </a:solidFill>
                <a:latin typeface="Courier New"/>
                <a:ea typeface="Courier New"/>
                <a:cs typeface="Courier New"/>
                <a:sym typeface="Courier New"/>
              </a:rPr>
              <a:t>static</a:t>
            </a: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void</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main</a:t>
            </a:r>
            <a:r>
              <a:rPr b="1" lang="en-US" sz="1600">
                <a:solidFill>
                  <a:schemeClr val="dk1"/>
                </a:solidFill>
                <a:latin typeface="Courier New"/>
                <a:ea typeface="Courier New"/>
                <a:cs typeface="Courier New"/>
                <a:sym typeface="Courier New"/>
              </a:rPr>
              <a:t>(</a:t>
            </a:r>
            <a:r>
              <a:rPr b="1" lang="en-US" sz="1600">
                <a:solidFill>
                  <a:srgbClr val="2B91AF"/>
                </a:solidFill>
                <a:latin typeface="Courier New"/>
                <a:ea typeface="Courier New"/>
                <a:cs typeface="Courier New"/>
                <a:sym typeface="Courier New"/>
              </a:rPr>
              <a:t>String</a:t>
            </a:r>
            <a:r>
              <a:rPr b="1" lang="en-US" sz="1600">
                <a:solidFill>
                  <a:schemeClr val="dk1"/>
                </a:solidFill>
                <a:latin typeface="Courier New"/>
                <a:ea typeface="Courier New"/>
                <a:cs typeface="Courier New"/>
                <a:sym typeface="Courier New"/>
              </a:rPr>
              <a:t>[] </a:t>
            </a:r>
            <a:r>
              <a:rPr b="1" lang="en-US" sz="1600">
                <a:solidFill>
                  <a:srgbClr val="808080"/>
                </a:solidFill>
                <a:latin typeface="Courier New"/>
                <a:ea typeface="Courier New"/>
                <a:cs typeface="Courier New"/>
                <a:sym typeface="Courier New"/>
              </a:rPr>
              <a:t>args</a:t>
            </a: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MyThread</a:t>
            </a: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t1</a:t>
            </a:r>
            <a:r>
              <a:rPr b="1" lang="en-US" sz="1600">
                <a:solidFill>
                  <a:schemeClr val="dk1"/>
                </a:solidFill>
                <a:latin typeface="Courier New"/>
                <a:ea typeface="Courier New"/>
                <a:cs typeface="Courier New"/>
                <a:sym typeface="Courier New"/>
              </a:rPr>
              <a:t> = </a:t>
            </a:r>
            <a:r>
              <a:rPr b="1" lang="en-US" sz="1600">
                <a:solidFill>
                  <a:srgbClr val="8F08C4"/>
                </a:solidFill>
                <a:latin typeface="Courier New"/>
                <a:ea typeface="Courier New"/>
                <a:cs typeface="Courier New"/>
                <a:sym typeface="Courier New"/>
              </a:rPr>
              <a:t>new</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MyThread</a:t>
            </a:r>
            <a:r>
              <a:rPr b="1" lang="en-US" sz="1600">
                <a:solidFill>
                  <a:schemeClr val="dk1"/>
                </a:solidFill>
                <a:latin typeface="Courier New"/>
                <a:ea typeface="Courier New"/>
                <a:cs typeface="Courier New"/>
                <a:sym typeface="Courier New"/>
              </a:rPr>
              <a:t>(); </a:t>
            </a:r>
            <a:r>
              <a:rPr b="1" lang="en-US" sz="1600">
                <a:solidFill>
                  <a:srgbClr val="008000"/>
                </a:solidFill>
                <a:latin typeface="Courier New"/>
                <a:ea typeface="Courier New"/>
                <a:cs typeface="Courier New"/>
                <a:sym typeface="Courier New"/>
              </a:rPr>
              <a:t>// Tạo luồng</a:t>
            </a:r>
            <a:endParaRPr b="1" sz="16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t1</a:t>
            </a:r>
            <a:r>
              <a:rPr b="1" lang="en-US" sz="1600">
                <a:solidFill>
                  <a:schemeClr val="dk1"/>
                </a:solidFill>
                <a:latin typeface="Courier New"/>
                <a:ea typeface="Courier New"/>
                <a:cs typeface="Courier New"/>
                <a:sym typeface="Courier New"/>
              </a:rPr>
              <a:t>.</a:t>
            </a:r>
            <a:r>
              <a:rPr b="1" lang="en-US" sz="1600">
                <a:solidFill>
                  <a:srgbClr val="74531F"/>
                </a:solidFill>
                <a:latin typeface="Courier New"/>
                <a:ea typeface="Courier New"/>
                <a:cs typeface="Courier New"/>
                <a:sym typeface="Courier New"/>
              </a:rPr>
              <a:t>start</a:t>
            </a:r>
            <a:r>
              <a:rPr b="1" lang="en-US" sz="1600">
                <a:solidFill>
                  <a:schemeClr val="dk1"/>
                </a:solidFill>
                <a:latin typeface="Courier New"/>
                <a:ea typeface="Courier New"/>
                <a:cs typeface="Courier New"/>
                <a:sym typeface="Courier New"/>
              </a:rPr>
              <a:t>(); </a:t>
            </a:r>
            <a:r>
              <a:rPr b="1" lang="en-US" sz="1600">
                <a:solidFill>
                  <a:srgbClr val="008000"/>
                </a:solidFill>
                <a:latin typeface="Courier New"/>
                <a:ea typeface="Courier New"/>
                <a:cs typeface="Courier New"/>
                <a:sym typeface="Courier New"/>
              </a:rPr>
              <a:t>// Chạy luồng</a:t>
            </a:r>
            <a:endParaRPr b="1" sz="16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3000">
              <a:solidFill>
                <a:schemeClr val="dk1"/>
              </a:solidFill>
              <a:latin typeface="Calibri"/>
              <a:ea typeface="Calibri"/>
              <a:cs typeface="Calibri"/>
              <a:sym typeface="Calibri"/>
            </a:endParaRPr>
          </a:p>
        </p:txBody>
      </p:sp>
      <p:sp>
        <p:nvSpPr>
          <p:cNvPr id="401" name="Google Shape;401;p4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405" name="Shape 405"/>
        <p:cNvGrpSpPr/>
        <p:nvPr/>
      </p:nvGrpSpPr>
      <p:grpSpPr>
        <a:xfrm>
          <a:off x="0" y="0"/>
          <a:ext cx="0" cy="0"/>
          <a:chOff x="0" y="0"/>
          <a:chExt cx="0" cy="0"/>
        </a:xfrm>
      </p:grpSpPr>
      <p:sp>
        <p:nvSpPr>
          <p:cNvPr id="406" name="Google Shape;406;p49"/>
          <p:cNvSpPr txBox="1"/>
          <p:nvPr/>
        </p:nvSpPr>
        <p:spPr>
          <a:xfrm>
            <a:off x="483969" y="228088"/>
            <a:ext cx="120756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BÀI TẬP</a:t>
            </a:r>
            <a:endParaRPr sz="900"/>
          </a:p>
        </p:txBody>
      </p:sp>
      <p:sp>
        <p:nvSpPr>
          <p:cNvPr id="407" name="Google Shape;407;p49"/>
          <p:cNvSpPr txBox="1"/>
          <p:nvPr/>
        </p:nvSpPr>
        <p:spPr>
          <a:xfrm>
            <a:off x="8177317" y="-149416"/>
            <a:ext cx="7748100" cy="18573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t/>
            </a:r>
            <a:endParaRPr b="0" sz="2100">
              <a:solidFill>
                <a:schemeClr val="dk1"/>
              </a:solidFill>
              <a:latin typeface="Calibri"/>
              <a:ea typeface="Calibri"/>
              <a:cs typeface="Calibri"/>
              <a:sym typeface="Calibri"/>
            </a:endParaRPr>
          </a:p>
          <a:p>
            <a:pPr indent="0" lvl="0" marL="0" marR="0" rtl="0" algn="l">
              <a:spcBef>
                <a:spcPts val="700"/>
              </a:spcBef>
              <a:spcAft>
                <a:spcPts val="0"/>
              </a:spcAft>
              <a:buNone/>
            </a:pPr>
            <a:r>
              <a:rPr b="1" i="0" lang="en-US" sz="2100" u="none" strike="noStrike">
                <a:solidFill>
                  <a:srgbClr val="000000"/>
                </a:solidFill>
              </a:rPr>
              <a:t> </a:t>
            </a:r>
            <a:r>
              <a:rPr b="1" lang="en-US" sz="2100"/>
              <a:t>V</a:t>
            </a:r>
            <a:r>
              <a:rPr b="1" i="0" lang="en-US" sz="2100" u="none" strike="noStrike">
                <a:solidFill>
                  <a:srgbClr val="000000"/>
                </a:solidFill>
              </a:rPr>
              <a:t>í dụ c</a:t>
            </a:r>
            <a:r>
              <a:rPr b="1" lang="en-US" sz="2100"/>
              <a:t>hạy</a:t>
            </a:r>
            <a:r>
              <a:rPr b="1" i="0" lang="en-US" sz="2100" u="none" strike="noStrike">
                <a:solidFill>
                  <a:srgbClr val="000000"/>
                </a:solidFill>
              </a:rPr>
              <a:t> </a:t>
            </a:r>
            <a:r>
              <a:rPr b="1" lang="en-US" sz="2100"/>
              <a:t>nhiều </a:t>
            </a:r>
            <a:r>
              <a:rPr b="1" i="0" lang="en-US" sz="2100" u="none" strike="noStrike">
                <a:solidFill>
                  <a:srgbClr val="000000"/>
                </a:solidFill>
              </a:rPr>
              <a:t>Thread</a:t>
            </a:r>
            <a:r>
              <a:rPr b="0" i="0" lang="en-US" sz="2100" u="none" strike="noStrike">
                <a:solidFill>
                  <a:srgbClr val="000000"/>
                </a:solidFill>
                <a:latin typeface="Arial"/>
                <a:ea typeface="Arial"/>
                <a:cs typeface="Arial"/>
                <a:sym typeface="Arial"/>
              </a:rPr>
              <a:t> </a:t>
            </a:r>
            <a:endParaRPr b="0" sz="2100">
              <a:solidFill>
                <a:schemeClr val="dk1"/>
              </a:solidFill>
              <a:latin typeface="Calibri"/>
              <a:ea typeface="Calibri"/>
              <a:cs typeface="Calibri"/>
              <a:sym typeface="Calibri"/>
            </a:endParaRPr>
          </a:p>
          <a:p>
            <a:pPr indent="0" lvl="0" marL="0" marR="0" rtl="0" algn="l">
              <a:spcBef>
                <a:spcPts val="700"/>
              </a:spcBef>
              <a:spcAft>
                <a:spcPts val="0"/>
              </a:spcAft>
              <a:buNone/>
            </a:pPr>
            <a:r>
              <a:t/>
            </a:r>
            <a:endParaRPr b="0" sz="2100">
              <a:solidFill>
                <a:schemeClr val="dk1"/>
              </a:solidFill>
              <a:latin typeface="Calibri"/>
              <a:ea typeface="Calibri"/>
              <a:cs typeface="Calibri"/>
              <a:sym typeface="Calibri"/>
            </a:endParaRPr>
          </a:p>
          <a:p>
            <a:pPr indent="0" lvl="0" marL="0" marR="0" rtl="0" algn="l">
              <a:spcBef>
                <a:spcPts val="0"/>
              </a:spcBef>
              <a:spcAft>
                <a:spcPts val="0"/>
              </a:spcAft>
              <a:buNone/>
            </a:pPr>
            <a:br>
              <a:rPr b="0" lang="en-US" sz="2100">
                <a:solidFill>
                  <a:schemeClr val="dk1"/>
                </a:solidFill>
                <a:latin typeface="Calibri"/>
                <a:ea typeface="Calibri"/>
                <a:cs typeface="Calibri"/>
                <a:sym typeface="Calibri"/>
              </a:rPr>
            </a:br>
            <a:endParaRPr sz="2100">
              <a:solidFill>
                <a:schemeClr val="dk1"/>
              </a:solidFill>
              <a:latin typeface="Calibri"/>
              <a:ea typeface="Calibri"/>
              <a:cs typeface="Calibri"/>
              <a:sym typeface="Calibri"/>
            </a:endParaRPr>
          </a:p>
        </p:txBody>
      </p:sp>
      <p:sp>
        <p:nvSpPr>
          <p:cNvPr id="408" name="Google Shape;408;p49"/>
          <p:cNvSpPr txBox="1"/>
          <p:nvPr/>
        </p:nvSpPr>
        <p:spPr>
          <a:xfrm>
            <a:off x="576883" y="1094367"/>
            <a:ext cx="5123100" cy="66201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lang="en-US" sz="1600">
                <a:solidFill>
                  <a:srgbClr val="0000FF"/>
                </a:solidFill>
                <a:latin typeface="Courier New"/>
                <a:ea typeface="Courier New"/>
                <a:cs typeface="Courier New"/>
                <a:sym typeface="Courier New"/>
              </a:rPr>
              <a:t>class</a:t>
            </a: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HelloThread</a:t>
            </a:r>
            <a:r>
              <a:rPr lang="en-US" sz="1600">
                <a:solidFill>
                  <a:schemeClr val="dk1"/>
                </a:solidFill>
                <a:latin typeface="Courier New"/>
                <a:ea typeface="Courier New"/>
                <a:cs typeface="Courier New"/>
                <a:sym typeface="Courier New"/>
              </a:rPr>
              <a:t> </a:t>
            </a:r>
            <a:r>
              <a:rPr lang="en-US" sz="1600">
                <a:solidFill>
                  <a:srgbClr val="0000FF"/>
                </a:solidFill>
                <a:latin typeface="Courier New"/>
                <a:ea typeface="Courier New"/>
                <a:cs typeface="Courier New"/>
                <a:sym typeface="Courier New"/>
              </a:rPr>
              <a:t>extends</a:t>
            </a: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Thread</a:t>
            </a: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r>
              <a:rPr lang="en-US" sz="1600">
                <a:solidFill>
                  <a:srgbClr val="0000FF"/>
                </a:solidFill>
                <a:latin typeface="Courier New"/>
                <a:ea typeface="Courier New"/>
                <a:cs typeface="Courier New"/>
                <a:sym typeface="Courier New"/>
              </a:rPr>
              <a:t>public</a:t>
            </a: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void</a:t>
            </a:r>
            <a:r>
              <a:rPr lang="en-US" sz="1600">
                <a:solidFill>
                  <a:schemeClr val="dk1"/>
                </a:solidFill>
                <a:latin typeface="Courier New"/>
                <a:ea typeface="Courier New"/>
                <a:cs typeface="Courier New"/>
                <a:sym typeface="Courier New"/>
              </a:rPr>
              <a:t> </a:t>
            </a:r>
            <a:r>
              <a:rPr lang="en-US" sz="1600">
                <a:solidFill>
                  <a:srgbClr val="74531F"/>
                </a:solidFill>
                <a:latin typeface="Courier New"/>
                <a:ea typeface="Courier New"/>
                <a:cs typeface="Courier New"/>
                <a:sym typeface="Courier New"/>
              </a:rPr>
              <a:t>run</a:t>
            </a: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r>
              <a:rPr lang="en-US" sz="1600">
                <a:solidFill>
                  <a:srgbClr val="8F08C4"/>
                </a:solidFill>
                <a:latin typeface="Courier New"/>
                <a:ea typeface="Courier New"/>
                <a:cs typeface="Courier New"/>
                <a:sym typeface="Courier New"/>
              </a:rPr>
              <a:t>for</a:t>
            </a: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int</a:t>
            </a:r>
            <a:r>
              <a:rPr lang="en-US" sz="1600">
                <a:solidFill>
                  <a:schemeClr val="dk1"/>
                </a:solidFill>
                <a:latin typeface="Courier New"/>
                <a:ea typeface="Courier New"/>
                <a:cs typeface="Courier New"/>
                <a:sym typeface="Courier New"/>
              </a:rPr>
              <a:t> </a:t>
            </a:r>
            <a:r>
              <a:rPr lang="en-US" sz="1600">
                <a:solidFill>
                  <a:srgbClr val="1F377F"/>
                </a:solidFill>
                <a:latin typeface="Courier New"/>
                <a:ea typeface="Courier New"/>
                <a:cs typeface="Courier New"/>
                <a:sym typeface="Courier New"/>
              </a:rPr>
              <a:t>i</a:t>
            </a:r>
            <a:r>
              <a:rPr lang="en-US" sz="1600">
                <a:solidFill>
                  <a:schemeClr val="dk1"/>
                </a:solidFill>
                <a:latin typeface="Courier New"/>
                <a:ea typeface="Courier New"/>
                <a:cs typeface="Courier New"/>
                <a:sym typeface="Courier New"/>
              </a:rPr>
              <a:t> = </a:t>
            </a:r>
            <a:r>
              <a:rPr lang="en-US" sz="1600">
                <a:solidFill>
                  <a:srgbClr val="098658"/>
                </a:solidFill>
                <a:latin typeface="Courier New"/>
                <a:ea typeface="Courier New"/>
                <a:cs typeface="Courier New"/>
                <a:sym typeface="Courier New"/>
              </a:rPr>
              <a:t>0</a:t>
            </a:r>
            <a:r>
              <a:rPr lang="en-US" sz="1600">
                <a:solidFill>
                  <a:schemeClr val="dk1"/>
                </a:solidFill>
                <a:latin typeface="Courier New"/>
                <a:ea typeface="Courier New"/>
                <a:cs typeface="Courier New"/>
                <a:sym typeface="Courier New"/>
              </a:rPr>
              <a:t>; </a:t>
            </a:r>
            <a:r>
              <a:rPr lang="en-US" sz="1600">
                <a:solidFill>
                  <a:srgbClr val="1F377F"/>
                </a:solidFill>
                <a:latin typeface="Courier New"/>
                <a:ea typeface="Courier New"/>
                <a:cs typeface="Courier New"/>
                <a:sym typeface="Courier New"/>
              </a:rPr>
              <a:t>i</a:t>
            </a:r>
            <a:r>
              <a:rPr lang="en-US" sz="1600">
                <a:solidFill>
                  <a:schemeClr val="dk1"/>
                </a:solidFill>
                <a:latin typeface="Courier New"/>
                <a:ea typeface="Courier New"/>
                <a:cs typeface="Courier New"/>
                <a:sym typeface="Courier New"/>
              </a:rPr>
              <a:t> &lt; </a:t>
            </a:r>
            <a:r>
              <a:rPr lang="en-US" sz="1600">
                <a:solidFill>
                  <a:srgbClr val="098658"/>
                </a:solidFill>
                <a:latin typeface="Courier New"/>
                <a:ea typeface="Courier New"/>
                <a:cs typeface="Courier New"/>
                <a:sym typeface="Courier New"/>
              </a:rPr>
              <a:t>5</a:t>
            </a:r>
            <a:r>
              <a:rPr lang="en-US" sz="1600">
                <a:solidFill>
                  <a:schemeClr val="dk1"/>
                </a:solidFill>
                <a:latin typeface="Courier New"/>
                <a:ea typeface="Courier New"/>
                <a:cs typeface="Courier New"/>
                <a:sym typeface="Courier New"/>
              </a:rPr>
              <a:t>; </a:t>
            </a:r>
            <a:r>
              <a:rPr lang="en-US" sz="1600">
                <a:solidFill>
                  <a:srgbClr val="1F377F"/>
                </a:solidFill>
                <a:latin typeface="Courier New"/>
                <a:ea typeface="Courier New"/>
                <a:cs typeface="Courier New"/>
                <a:sym typeface="Courier New"/>
              </a:rPr>
              <a:t>i</a:t>
            </a: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System</a:t>
            </a:r>
            <a:r>
              <a:rPr lang="en-US" sz="1600">
                <a:solidFill>
                  <a:schemeClr val="dk1"/>
                </a:solidFill>
                <a:latin typeface="Courier New"/>
                <a:ea typeface="Courier New"/>
                <a:cs typeface="Courier New"/>
                <a:sym typeface="Courier New"/>
              </a:rPr>
              <a:t>.out.</a:t>
            </a:r>
            <a:r>
              <a:rPr lang="en-US" sz="1600">
                <a:solidFill>
                  <a:srgbClr val="74531F"/>
                </a:solidFill>
                <a:latin typeface="Courier New"/>
                <a:ea typeface="Courier New"/>
                <a:cs typeface="Courier New"/>
                <a:sym typeface="Courier New"/>
              </a:rPr>
              <a:t>println</a:t>
            </a:r>
            <a:r>
              <a:rPr lang="en-US" sz="1600">
                <a:solidFill>
                  <a:schemeClr val="dk1"/>
                </a:solidFill>
                <a:latin typeface="Courier New"/>
                <a:ea typeface="Courier New"/>
                <a:cs typeface="Courier New"/>
                <a:sym typeface="Courier New"/>
              </a:rPr>
              <a:t>(</a:t>
            </a:r>
            <a:r>
              <a:rPr lang="en-US" sz="1600">
                <a:solidFill>
                  <a:srgbClr val="E21F1F"/>
                </a:solidFill>
                <a:latin typeface="Courier New"/>
                <a:ea typeface="Courier New"/>
                <a:cs typeface="Courier New"/>
                <a:sym typeface="Courier New"/>
              </a:rPr>
              <a:t>"</a:t>
            </a:r>
            <a:r>
              <a:rPr lang="en-US" sz="1600">
                <a:solidFill>
                  <a:srgbClr val="A31515"/>
                </a:solidFill>
                <a:latin typeface="Courier New"/>
                <a:ea typeface="Courier New"/>
                <a:cs typeface="Courier New"/>
                <a:sym typeface="Courier New"/>
              </a:rPr>
              <a:t>Hello</a:t>
            </a:r>
            <a:r>
              <a:rPr lang="en-US" sz="1600">
                <a:solidFill>
                  <a:srgbClr val="E21F1F"/>
                </a:solidFill>
                <a:latin typeface="Courier New"/>
                <a:ea typeface="Courier New"/>
                <a:cs typeface="Courier New"/>
                <a:sym typeface="Courier New"/>
              </a:rPr>
              <a:t>"</a:t>
            </a:r>
            <a:r>
              <a:rPr lang="en-US" sz="1600">
                <a:solidFill>
                  <a:schemeClr val="dk1"/>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rgbClr val="0000FF"/>
                </a:solidFill>
                <a:latin typeface="Courier New"/>
                <a:ea typeface="Courier New"/>
                <a:cs typeface="Courier New"/>
                <a:sym typeface="Courier New"/>
              </a:rPr>
              <a:t>class</a:t>
            </a: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WorldThread</a:t>
            </a:r>
            <a:r>
              <a:rPr lang="en-US" sz="1600">
                <a:solidFill>
                  <a:schemeClr val="dk1"/>
                </a:solidFill>
                <a:latin typeface="Courier New"/>
                <a:ea typeface="Courier New"/>
                <a:cs typeface="Courier New"/>
                <a:sym typeface="Courier New"/>
              </a:rPr>
              <a:t> </a:t>
            </a:r>
            <a:r>
              <a:rPr lang="en-US" sz="1600">
                <a:solidFill>
                  <a:srgbClr val="0000FF"/>
                </a:solidFill>
                <a:latin typeface="Courier New"/>
                <a:ea typeface="Courier New"/>
                <a:cs typeface="Courier New"/>
                <a:sym typeface="Courier New"/>
              </a:rPr>
              <a:t>extends</a:t>
            </a: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Thread</a:t>
            </a: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r>
              <a:rPr lang="en-US" sz="1600">
                <a:solidFill>
                  <a:srgbClr val="0000FF"/>
                </a:solidFill>
                <a:latin typeface="Courier New"/>
                <a:ea typeface="Courier New"/>
                <a:cs typeface="Courier New"/>
                <a:sym typeface="Courier New"/>
              </a:rPr>
              <a:t>public</a:t>
            </a: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void</a:t>
            </a:r>
            <a:r>
              <a:rPr lang="en-US" sz="1600">
                <a:solidFill>
                  <a:schemeClr val="dk1"/>
                </a:solidFill>
                <a:latin typeface="Courier New"/>
                <a:ea typeface="Courier New"/>
                <a:cs typeface="Courier New"/>
                <a:sym typeface="Courier New"/>
              </a:rPr>
              <a:t> </a:t>
            </a:r>
            <a:r>
              <a:rPr lang="en-US" sz="1600">
                <a:solidFill>
                  <a:srgbClr val="74531F"/>
                </a:solidFill>
                <a:latin typeface="Courier New"/>
                <a:ea typeface="Courier New"/>
                <a:cs typeface="Courier New"/>
                <a:sym typeface="Courier New"/>
              </a:rPr>
              <a:t>run</a:t>
            </a: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r>
              <a:rPr lang="en-US" sz="1600">
                <a:solidFill>
                  <a:srgbClr val="8F08C4"/>
                </a:solidFill>
                <a:latin typeface="Courier New"/>
                <a:ea typeface="Courier New"/>
                <a:cs typeface="Courier New"/>
                <a:sym typeface="Courier New"/>
              </a:rPr>
              <a:t>for</a:t>
            </a: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int</a:t>
            </a:r>
            <a:r>
              <a:rPr lang="en-US" sz="1600">
                <a:solidFill>
                  <a:schemeClr val="dk1"/>
                </a:solidFill>
                <a:latin typeface="Courier New"/>
                <a:ea typeface="Courier New"/>
                <a:cs typeface="Courier New"/>
                <a:sym typeface="Courier New"/>
              </a:rPr>
              <a:t> </a:t>
            </a:r>
            <a:r>
              <a:rPr lang="en-US" sz="1600">
                <a:solidFill>
                  <a:srgbClr val="1F377F"/>
                </a:solidFill>
                <a:latin typeface="Courier New"/>
                <a:ea typeface="Courier New"/>
                <a:cs typeface="Courier New"/>
                <a:sym typeface="Courier New"/>
              </a:rPr>
              <a:t>i</a:t>
            </a:r>
            <a:r>
              <a:rPr lang="en-US" sz="1600">
                <a:solidFill>
                  <a:schemeClr val="dk1"/>
                </a:solidFill>
                <a:latin typeface="Courier New"/>
                <a:ea typeface="Courier New"/>
                <a:cs typeface="Courier New"/>
                <a:sym typeface="Courier New"/>
              </a:rPr>
              <a:t> = </a:t>
            </a:r>
            <a:r>
              <a:rPr lang="en-US" sz="1600">
                <a:solidFill>
                  <a:srgbClr val="098658"/>
                </a:solidFill>
                <a:latin typeface="Courier New"/>
                <a:ea typeface="Courier New"/>
                <a:cs typeface="Courier New"/>
                <a:sym typeface="Courier New"/>
              </a:rPr>
              <a:t>0</a:t>
            </a:r>
            <a:r>
              <a:rPr lang="en-US" sz="1600">
                <a:solidFill>
                  <a:schemeClr val="dk1"/>
                </a:solidFill>
                <a:latin typeface="Courier New"/>
                <a:ea typeface="Courier New"/>
                <a:cs typeface="Courier New"/>
                <a:sym typeface="Courier New"/>
              </a:rPr>
              <a:t>; </a:t>
            </a:r>
            <a:r>
              <a:rPr lang="en-US" sz="1600">
                <a:solidFill>
                  <a:srgbClr val="1F377F"/>
                </a:solidFill>
                <a:latin typeface="Courier New"/>
                <a:ea typeface="Courier New"/>
                <a:cs typeface="Courier New"/>
                <a:sym typeface="Courier New"/>
              </a:rPr>
              <a:t>i</a:t>
            </a:r>
            <a:r>
              <a:rPr lang="en-US" sz="1600">
                <a:solidFill>
                  <a:schemeClr val="dk1"/>
                </a:solidFill>
                <a:latin typeface="Courier New"/>
                <a:ea typeface="Courier New"/>
                <a:cs typeface="Courier New"/>
                <a:sym typeface="Courier New"/>
              </a:rPr>
              <a:t> &lt; </a:t>
            </a:r>
            <a:r>
              <a:rPr lang="en-US" sz="1600">
                <a:solidFill>
                  <a:srgbClr val="098658"/>
                </a:solidFill>
                <a:latin typeface="Courier New"/>
                <a:ea typeface="Courier New"/>
                <a:cs typeface="Courier New"/>
                <a:sym typeface="Courier New"/>
              </a:rPr>
              <a:t>5</a:t>
            </a:r>
            <a:r>
              <a:rPr lang="en-US" sz="1600">
                <a:solidFill>
                  <a:schemeClr val="dk1"/>
                </a:solidFill>
                <a:latin typeface="Courier New"/>
                <a:ea typeface="Courier New"/>
                <a:cs typeface="Courier New"/>
                <a:sym typeface="Courier New"/>
              </a:rPr>
              <a:t>; </a:t>
            </a:r>
            <a:r>
              <a:rPr lang="en-US" sz="1600">
                <a:solidFill>
                  <a:srgbClr val="1F377F"/>
                </a:solidFill>
                <a:latin typeface="Courier New"/>
                <a:ea typeface="Courier New"/>
                <a:cs typeface="Courier New"/>
                <a:sym typeface="Courier New"/>
              </a:rPr>
              <a:t>i</a:t>
            </a: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r>
              <a:rPr lang="en-US" sz="1600">
                <a:solidFill>
                  <a:srgbClr val="2B91AF"/>
                </a:solidFill>
                <a:latin typeface="Courier New"/>
                <a:ea typeface="Courier New"/>
                <a:cs typeface="Courier New"/>
                <a:sym typeface="Courier New"/>
              </a:rPr>
              <a:t>System</a:t>
            </a:r>
            <a:r>
              <a:rPr lang="en-US" sz="1600">
                <a:solidFill>
                  <a:schemeClr val="dk1"/>
                </a:solidFill>
                <a:latin typeface="Courier New"/>
                <a:ea typeface="Courier New"/>
                <a:cs typeface="Courier New"/>
                <a:sym typeface="Courier New"/>
              </a:rPr>
              <a:t>.out.</a:t>
            </a:r>
            <a:r>
              <a:rPr lang="en-US" sz="1600">
                <a:solidFill>
                  <a:srgbClr val="74531F"/>
                </a:solidFill>
                <a:latin typeface="Courier New"/>
                <a:ea typeface="Courier New"/>
                <a:cs typeface="Courier New"/>
                <a:sym typeface="Courier New"/>
              </a:rPr>
              <a:t>println</a:t>
            </a:r>
            <a:r>
              <a:rPr lang="en-US" sz="1600">
                <a:solidFill>
                  <a:schemeClr val="dk1"/>
                </a:solidFill>
                <a:latin typeface="Courier New"/>
                <a:ea typeface="Courier New"/>
                <a:cs typeface="Courier New"/>
                <a:sym typeface="Courier New"/>
              </a:rPr>
              <a:t>(</a:t>
            </a:r>
            <a:r>
              <a:rPr lang="en-US" sz="1600">
                <a:solidFill>
                  <a:srgbClr val="E21F1F"/>
                </a:solidFill>
                <a:latin typeface="Courier New"/>
                <a:ea typeface="Courier New"/>
                <a:cs typeface="Courier New"/>
                <a:sym typeface="Courier New"/>
              </a:rPr>
              <a:t>"</a:t>
            </a:r>
            <a:r>
              <a:rPr lang="en-US" sz="1600">
                <a:solidFill>
                  <a:srgbClr val="A31515"/>
                </a:solidFill>
                <a:latin typeface="Courier New"/>
                <a:ea typeface="Courier New"/>
                <a:cs typeface="Courier New"/>
                <a:sym typeface="Courier New"/>
              </a:rPr>
              <a:t>World</a:t>
            </a:r>
            <a:r>
              <a:rPr lang="en-US" sz="1600">
                <a:solidFill>
                  <a:srgbClr val="E21F1F"/>
                </a:solidFill>
                <a:latin typeface="Courier New"/>
                <a:ea typeface="Courier New"/>
                <a:cs typeface="Courier New"/>
                <a:sym typeface="Courier New"/>
              </a:rPr>
              <a:t>"</a:t>
            </a:r>
            <a:r>
              <a:rPr lang="en-US" sz="1600">
                <a:solidFill>
                  <a:schemeClr val="dk1"/>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    }</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lang="en-US" sz="1600">
                <a:solidFill>
                  <a:schemeClr val="dk1"/>
                </a:solidFill>
                <a:latin typeface="Courier New"/>
                <a:ea typeface="Courier New"/>
                <a:cs typeface="Courier New"/>
                <a:sym typeface="Courier New"/>
              </a:rPr>
              <a:t>}</a:t>
            </a:r>
            <a:endParaRPr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sz="1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2300">
              <a:solidFill>
                <a:srgbClr val="0000FF"/>
              </a:solidFill>
              <a:latin typeface="Courier New"/>
              <a:ea typeface="Courier New"/>
              <a:cs typeface="Courier New"/>
              <a:sym typeface="Courier New"/>
            </a:endParaRPr>
          </a:p>
        </p:txBody>
      </p:sp>
      <p:sp>
        <p:nvSpPr>
          <p:cNvPr id="409" name="Google Shape;409;p49"/>
          <p:cNvSpPr txBox="1"/>
          <p:nvPr/>
        </p:nvSpPr>
        <p:spPr>
          <a:xfrm>
            <a:off x="6849883" y="1094367"/>
            <a:ext cx="5342100" cy="6295500"/>
          </a:xfrm>
          <a:prstGeom prst="rect">
            <a:avLst/>
          </a:prstGeom>
          <a:noFill/>
          <a:ln>
            <a:noFill/>
          </a:ln>
        </p:spPr>
        <p:txBody>
          <a:bodyPr anchorCtr="0" anchor="t" bIns="60950" lIns="60950" spcFirstLastPara="1" rIns="60950" wrap="square" tIns="60950">
            <a:spAutoFit/>
          </a:bodyPr>
          <a:lstStyle/>
          <a:p>
            <a:pPr indent="0" lvl="0" marL="0" rtl="0" algn="l">
              <a:lnSpc>
                <a:spcPct val="135714"/>
              </a:lnSpc>
              <a:spcBef>
                <a:spcPts val="0"/>
              </a:spcBef>
              <a:spcAft>
                <a:spcPts val="0"/>
              </a:spcAft>
              <a:buNone/>
            </a:pPr>
            <a:r>
              <a:rPr b="1" lang="en-US" sz="1400">
                <a:solidFill>
                  <a:srgbClr val="0000FF"/>
                </a:solidFill>
                <a:latin typeface="Courier New"/>
                <a:ea typeface="Courier New"/>
                <a:cs typeface="Courier New"/>
                <a:sym typeface="Courier New"/>
              </a:rPr>
              <a:t>class</a:t>
            </a: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ByeThread</a:t>
            </a:r>
            <a:r>
              <a:rPr b="1" lang="en-US" sz="1400">
                <a:solidFill>
                  <a:schemeClr val="dk1"/>
                </a:solidFill>
                <a:latin typeface="Courier New"/>
                <a:ea typeface="Courier New"/>
                <a:cs typeface="Courier New"/>
                <a:sym typeface="Courier New"/>
              </a:rPr>
              <a:t> </a:t>
            </a:r>
            <a:r>
              <a:rPr b="1" lang="en-US" sz="1400">
                <a:solidFill>
                  <a:srgbClr val="0000FF"/>
                </a:solidFill>
                <a:latin typeface="Courier New"/>
                <a:ea typeface="Courier New"/>
                <a:cs typeface="Courier New"/>
                <a:sym typeface="Courier New"/>
              </a:rPr>
              <a:t>extends</a:t>
            </a: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Thread</a:t>
            </a:r>
            <a:r>
              <a:rPr b="1" lang="en-US" sz="1400">
                <a:solidFill>
                  <a:schemeClr val="dk1"/>
                </a:solidFill>
                <a:latin typeface="Courier New"/>
                <a:ea typeface="Courier New"/>
                <a:cs typeface="Courier New"/>
                <a:sym typeface="Courier New"/>
              </a:rPr>
              <a:t>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0000FF"/>
                </a:solidFill>
                <a:latin typeface="Courier New"/>
                <a:ea typeface="Courier New"/>
                <a:cs typeface="Courier New"/>
                <a:sym typeface="Courier New"/>
              </a:rPr>
              <a:t>public</a:t>
            </a: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void</a:t>
            </a:r>
            <a:r>
              <a:rPr b="1" lang="en-US" sz="1400">
                <a:solidFill>
                  <a:schemeClr val="dk1"/>
                </a:solidFill>
                <a:latin typeface="Courier New"/>
                <a:ea typeface="Courier New"/>
                <a:cs typeface="Courier New"/>
                <a:sym typeface="Courier New"/>
              </a:rPr>
              <a:t> </a:t>
            </a:r>
            <a:r>
              <a:rPr b="1" lang="en-US" sz="1400">
                <a:solidFill>
                  <a:srgbClr val="74531F"/>
                </a:solidFill>
                <a:latin typeface="Courier New"/>
                <a:ea typeface="Courier New"/>
                <a:cs typeface="Courier New"/>
                <a:sym typeface="Courier New"/>
              </a:rPr>
              <a:t>run</a:t>
            </a:r>
            <a:r>
              <a:rPr b="1" lang="en-US" sz="1400">
                <a:solidFill>
                  <a:schemeClr val="dk1"/>
                </a:solidFill>
                <a:latin typeface="Courier New"/>
                <a:ea typeface="Courier New"/>
                <a:cs typeface="Courier New"/>
                <a:sym typeface="Courier New"/>
              </a:rPr>
              <a:t>()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8F08C4"/>
                </a:solidFill>
                <a:latin typeface="Courier New"/>
                <a:ea typeface="Courier New"/>
                <a:cs typeface="Courier New"/>
                <a:sym typeface="Courier New"/>
              </a:rPr>
              <a:t>for</a:t>
            </a: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int</a:t>
            </a:r>
            <a:r>
              <a:rPr b="1" lang="en-US" sz="1400">
                <a:solidFill>
                  <a:schemeClr val="dk1"/>
                </a:solidFill>
                <a:latin typeface="Courier New"/>
                <a:ea typeface="Courier New"/>
                <a:cs typeface="Courier New"/>
                <a:sym typeface="Courier New"/>
              </a:rPr>
              <a:t> </a:t>
            </a:r>
            <a:r>
              <a:rPr b="1" lang="en-US" sz="1400">
                <a:solidFill>
                  <a:srgbClr val="1F377F"/>
                </a:solidFill>
                <a:latin typeface="Courier New"/>
                <a:ea typeface="Courier New"/>
                <a:cs typeface="Courier New"/>
                <a:sym typeface="Courier New"/>
              </a:rPr>
              <a:t>i</a:t>
            </a:r>
            <a:r>
              <a:rPr b="1" lang="en-US" sz="1400">
                <a:solidFill>
                  <a:schemeClr val="dk1"/>
                </a:solidFill>
                <a:latin typeface="Courier New"/>
                <a:ea typeface="Courier New"/>
                <a:cs typeface="Courier New"/>
                <a:sym typeface="Courier New"/>
              </a:rPr>
              <a:t> = </a:t>
            </a:r>
            <a:r>
              <a:rPr b="1" lang="en-US" sz="1400">
                <a:solidFill>
                  <a:srgbClr val="098658"/>
                </a:solidFill>
                <a:latin typeface="Courier New"/>
                <a:ea typeface="Courier New"/>
                <a:cs typeface="Courier New"/>
                <a:sym typeface="Courier New"/>
              </a:rPr>
              <a:t>5</a:t>
            </a:r>
            <a:r>
              <a:rPr b="1" lang="en-US" sz="1400">
                <a:solidFill>
                  <a:schemeClr val="dk1"/>
                </a:solidFill>
                <a:latin typeface="Courier New"/>
                <a:ea typeface="Courier New"/>
                <a:cs typeface="Courier New"/>
                <a:sym typeface="Courier New"/>
              </a:rPr>
              <a:t>; </a:t>
            </a:r>
            <a:r>
              <a:rPr b="1" lang="en-US" sz="1400">
                <a:solidFill>
                  <a:srgbClr val="1F377F"/>
                </a:solidFill>
                <a:latin typeface="Courier New"/>
                <a:ea typeface="Courier New"/>
                <a:cs typeface="Courier New"/>
                <a:sym typeface="Courier New"/>
              </a:rPr>
              <a:t>i</a:t>
            </a:r>
            <a:r>
              <a:rPr b="1" lang="en-US" sz="1400">
                <a:solidFill>
                  <a:schemeClr val="dk1"/>
                </a:solidFill>
                <a:latin typeface="Courier New"/>
                <a:ea typeface="Courier New"/>
                <a:cs typeface="Courier New"/>
                <a:sym typeface="Courier New"/>
              </a:rPr>
              <a:t> &gt; </a:t>
            </a:r>
            <a:r>
              <a:rPr b="1" lang="en-US" sz="1400">
                <a:solidFill>
                  <a:srgbClr val="098658"/>
                </a:solidFill>
                <a:latin typeface="Courier New"/>
                <a:ea typeface="Courier New"/>
                <a:cs typeface="Courier New"/>
                <a:sym typeface="Courier New"/>
              </a:rPr>
              <a:t>0</a:t>
            </a:r>
            <a:r>
              <a:rPr b="1" lang="en-US" sz="1400">
                <a:solidFill>
                  <a:schemeClr val="dk1"/>
                </a:solidFill>
                <a:latin typeface="Courier New"/>
                <a:ea typeface="Courier New"/>
                <a:cs typeface="Courier New"/>
                <a:sym typeface="Courier New"/>
              </a:rPr>
              <a:t>; </a:t>
            </a:r>
            <a:r>
              <a:rPr b="1" lang="en-US" sz="1400">
                <a:solidFill>
                  <a:srgbClr val="1F377F"/>
                </a:solidFill>
                <a:latin typeface="Courier New"/>
                <a:ea typeface="Courier New"/>
                <a:cs typeface="Courier New"/>
                <a:sym typeface="Courier New"/>
              </a:rPr>
              <a:t>i</a:t>
            </a:r>
            <a:r>
              <a:rPr b="1" lang="en-US" sz="1400">
                <a:solidFill>
                  <a:schemeClr val="dk1"/>
                </a:solidFill>
                <a:latin typeface="Courier New"/>
                <a:ea typeface="Courier New"/>
                <a:cs typeface="Courier New"/>
                <a:sym typeface="Courier New"/>
              </a:rPr>
              <a:t>--)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System</a:t>
            </a:r>
            <a:r>
              <a:rPr b="1" lang="en-US" sz="1400">
                <a:solidFill>
                  <a:schemeClr val="dk1"/>
                </a:solidFill>
                <a:latin typeface="Courier New"/>
                <a:ea typeface="Courier New"/>
                <a:cs typeface="Courier New"/>
                <a:sym typeface="Courier New"/>
              </a:rPr>
              <a:t>.out.</a:t>
            </a:r>
            <a:r>
              <a:rPr b="1" lang="en-US" sz="1400">
                <a:solidFill>
                  <a:srgbClr val="74531F"/>
                </a:solidFill>
                <a:latin typeface="Courier New"/>
                <a:ea typeface="Courier New"/>
                <a:cs typeface="Courier New"/>
                <a:sym typeface="Courier New"/>
              </a:rPr>
              <a:t>println</a:t>
            </a:r>
            <a:r>
              <a:rPr b="1" lang="en-US" sz="1400">
                <a:solidFill>
                  <a:schemeClr val="dk1"/>
                </a:solidFill>
                <a:latin typeface="Courier New"/>
                <a:ea typeface="Courier New"/>
                <a:cs typeface="Courier New"/>
                <a:sym typeface="Courier New"/>
              </a:rPr>
              <a:t>(</a:t>
            </a:r>
            <a:r>
              <a:rPr b="1" lang="en-US" sz="1400">
                <a:solidFill>
                  <a:srgbClr val="E21F1F"/>
                </a:solidFill>
                <a:latin typeface="Courier New"/>
                <a:ea typeface="Courier New"/>
                <a:cs typeface="Courier New"/>
                <a:sym typeface="Courier New"/>
              </a:rPr>
              <a:t>"</a:t>
            </a:r>
            <a:r>
              <a:rPr b="1" lang="en-US" sz="1400">
                <a:solidFill>
                  <a:srgbClr val="A31515"/>
                </a:solidFill>
                <a:latin typeface="Courier New"/>
                <a:ea typeface="Courier New"/>
                <a:cs typeface="Courier New"/>
                <a:sym typeface="Courier New"/>
              </a:rPr>
              <a:t>Bye</a:t>
            </a:r>
            <a:r>
              <a:rPr b="1" lang="en-US" sz="1400">
                <a:solidFill>
                  <a:srgbClr val="E21F1F"/>
                </a:solidFill>
                <a:latin typeface="Courier New"/>
                <a:ea typeface="Courier New"/>
                <a:cs typeface="Courier New"/>
                <a:sym typeface="Courier New"/>
              </a:rPr>
              <a:t>"</a:t>
            </a:r>
            <a:r>
              <a:rPr b="1" lang="en-US" sz="1400">
                <a:solidFill>
                  <a:schemeClr val="dk1"/>
                </a:solidFill>
                <a:latin typeface="Courier New"/>
                <a:ea typeface="Courier New"/>
                <a:cs typeface="Courier New"/>
                <a:sym typeface="Courier New"/>
              </a:rPr>
              <a:t>);</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rgbClr val="0000FF"/>
                </a:solidFill>
                <a:latin typeface="Courier New"/>
                <a:ea typeface="Courier New"/>
                <a:cs typeface="Courier New"/>
                <a:sym typeface="Courier New"/>
              </a:rPr>
              <a:t>public</a:t>
            </a:r>
            <a:r>
              <a:rPr b="1" lang="en-US" sz="1400">
                <a:solidFill>
                  <a:schemeClr val="dk1"/>
                </a:solidFill>
                <a:latin typeface="Courier New"/>
                <a:ea typeface="Courier New"/>
                <a:cs typeface="Courier New"/>
                <a:sym typeface="Courier New"/>
              </a:rPr>
              <a:t> </a:t>
            </a:r>
            <a:r>
              <a:rPr b="1" lang="en-US" sz="1400">
                <a:solidFill>
                  <a:srgbClr val="0000FF"/>
                </a:solidFill>
                <a:latin typeface="Courier New"/>
                <a:ea typeface="Courier New"/>
                <a:cs typeface="Courier New"/>
                <a:sym typeface="Courier New"/>
              </a:rPr>
              <a:t>class</a:t>
            </a: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manh</a:t>
            </a:r>
            <a:r>
              <a:rPr b="1" lang="en-US" sz="1400">
                <a:solidFill>
                  <a:schemeClr val="dk1"/>
                </a:solidFill>
                <a:latin typeface="Courier New"/>
                <a:ea typeface="Courier New"/>
                <a:cs typeface="Courier New"/>
                <a:sym typeface="Courier New"/>
              </a:rPr>
              <a:t>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0000FF"/>
                </a:solidFill>
                <a:latin typeface="Courier New"/>
                <a:ea typeface="Courier New"/>
                <a:cs typeface="Courier New"/>
                <a:sym typeface="Courier New"/>
              </a:rPr>
              <a:t>public</a:t>
            </a:r>
            <a:r>
              <a:rPr b="1" lang="en-US" sz="1400">
                <a:solidFill>
                  <a:schemeClr val="dk1"/>
                </a:solidFill>
                <a:latin typeface="Courier New"/>
                <a:ea typeface="Courier New"/>
                <a:cs typeface="Courier New"/>
                <a:sym typeface="Courier New"/>
              </a:rPr>
              <a:t> </a:t>
            </a:r>
            <a:r>
              <a:rPr b="1" lang="en-US" sz="1400">
                <a:solidFill>
                  <a:srgbClr val="0000FF"/>
                </a:solidFill>
                <a:latin typeface="Courier New"/>
                <a:ea typeface="Courier New"/>
                <a:cs typeface="Courier New"/>
                <a:sym typeface="Courier New"/>
              </a:rPr>
              <a:t>static</a:t>
            </a: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void</a:t>
            </a:r>
            <a:r>
              <a:rPr b="1" lang="en-US" sz="1400">
                <a:solidFill>
                  <a:schemeClr val="dk1"/>
                </a:solidFill>
                <a:latin typeface="Courier New"/>
                <a:ea typeface="Courier New"/>
                <a:cs typeface="Courier New"/>
                <a:sym typeface="Courier New"/>
              </a:rPr>
              <a:t> </a:t>
            </a:r>
            <a:r>
              <a:rPr b="1" lang="en-US" sz="1400">
                <a:solidFill>
                  <a:srgbClr val="74531F"/>
                </a:solidFill>
                <a:latin typeface="Courier New"/>
                <a:ea typeface="Courier New"/>
                <a:cs typeface="Courier New"/>
                <a:sym typeface="Courier New"/>
              </a:rPr>
              <a:t>main</a:t>
            </a:r>
            <a:r>
              <a:rPr b="1" lang="en-US" sz="1400">
                <a:solidFill>
                  <a:schemeClr val="dk1"/>
                </a:solidFill>
                <a:latin typeface="Courier New"/>
                <a:ea typeface="Courier New"/>
                <a:cs typeface="Courier New"/>
                <a:sym typeface="Courier New"/>
              </a:rPr>
              <a:t>(</a:t>
            </a:r>
            <a:r>
              <a:rPr b="1" lang="en-US" sz="1400">
                <a:solidFill>
                  <a:srgbClr val="2B91AF"/>
                </a:solidFill>
                <a:latin typeface="Courier New"/>
                <a:ea typeface="Courier New"/>
                <a:cs typeface="Courier New"/>
                <a:sym typeface="Courier New"/>
              </a:rPr>
              <a:t>String</a:t>
            </a:r>
            <a:r>
              <a:rPr b="1" lang="en-US" sz="1400">
                <a:solidFill>
                  <a:schemeClr val="dk1"/>
                </a:solidFill>
                <a:latin typeface="Courier New"/>
                <a:ea typeface="Courier New"/>
                <a:cs typeface="Courier New"/>
                <a:sym typeface="Courier New"/>
              </a:rPr>
              <a:t>[] </a:t>
            </a:r>
            <a:r>
              <a:rPr b="1" lang="en-US" sz="1400">
                <a:solidFill>
                  <a:srgbClr val="808080"/>
                </a:solidFill>
                <a:latin typeface="Courier New"/>
                <a:ea typeface="Courier New"/>
                <a:cs typeface="Courier New"/>
                <a:sym typeface="Courier New"/>
              </a:rPr>
              <a:t>args</a:t>
            </a:r>
            <a:r>
              <a:rPr b="1" lang="en-US" sz="1400">
                <a:solidFill>
                  <a:schemeClr val="dk1"/>
                </a:solidFill>
                <a:latin typeface="Courier New"/>
                <a:ea typeface="Courier New"/>
                <a:cs typeface="Courier New"/>
                <a:sym typeface="Courier New"/>
              </a:rPr>
              <a:t>)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HelloThread</a:t>
            </a:r>
            <a:r>
              <a:rPr b="1" lang="en-US" sz="1400">
                <a:solidFill>
                  <a:schemeClr val="dk1"/>
                </a:solidFill>
                <a:latin typeface="Courier New"/>
                <a:ea typeface="Courier New"/>
                <a:cs typeface="Courier New"/>
                <a:sym typeface="Courier New"/>
              </a:rPr>
              <a:t> </a:t>
            </a:r>
            <a:r>
              <a:rPr b="1" lang="en-US" sz="1400">
                <a:solidFill>
                  <a:srgbClr val="1F377F"/>
                </a:solidFill>
                <a:latin typeface="Courier New"/>
                <a:ea typeface="Courier New"/>
                <a:cs typeface="Courier New"/>
                <a:sym typeface="Courier New"/>
              </a:rPr>
              <a:t>t1</a:t>
            </a:r>
            <a:r>
              <a:rPr b="1" lang="en-US" sz="1400">
                <a:solidFill>
                  <a:schemeClr val="dk1"/>
                </a:solidFill>
                <a:latin typeface="Courier New"/>
                <a:ea typeface="Courier New"/>
                <a:cs typeface="Courier New"/>
                <a:sym typeface="Courier New"/>
              </a:rPr>
              <a:t> = </a:t>
            </a:r>
            <a:r>
              <a:rPr b="1" lang="en-US" sz="1400">
                <a:solidFill>
                  <a:srgbClr val="8F08C4"/>
                </a:solidFill>
                <a:latin typeface="Courier New"/>
                <a:ea typeface="Courier New"/>
                <a:cs typeface="Courier New"/>
                <a:sym typeface="Courier New"/>
              </a:rPr>
              <a:t>new</a:t>
            </a:r>
            <a:r>
              <a:rPr b="1" lang="en-US" sz="1400">
                <a:solidFill>
                  <a:schemeClr val="dk1"/>
                </a:solidFill>
                <a:latin typeface="Courier New"/>
                <a:ea typeface="Courier New"/>
                <a:cs typeface="Courier New"/>
                <a:sym typeface="Courier New"/>
              </a:rPr>
              <a:t> </a:t>
            </a:r>
            <a:r>
              <a:rPr b="1" lang="en-US" sz="1400">
                <a:solidFill>
                  <a:srgbClr val="74531F"/>
                </a:solidFill>
                <a:latin typeface="Courier New"/>
                <a:ea typeface="Courier New"/>
                <a:cs typeface="Courier New"/>
                <a:sym typeface="Courier New"/>
              </a:rPr>
              <a:t>HelloThread</a:t>
            </a:r>
            <a:r>
              <a:rPr b="1" lang="en-US" sz="1400">
                <a:solidFill>
                  <a:schemeClr val="dk1"/>
                </a:solidFill>
                <a:latin typeface="Courier New"/>
                <a:ea typeface="Courier New"/>
                <a:cs typeface="Courier New"/>
                <a:sym typeface="Courier New"/>
              </a:rPr>
              <a:t>();</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WorldThread</a:t>
            </a:r>
            <a:r>
              <a:rPr b="1" lang="en-US" sz="1400">
                <a:solidFill>
                  <a:schemeClr val="dk1"/>
                </a:solidFill>
                <a:latin typeface="Courier New"/>
                <a:ea typeface="Courier New"/>
                <a:cs typeface="Courier New"/>
                <a:sym typeface="Courier New"/>
              </a:rPr>
              <a:t> </a:t>
            </a:r>
            <a:r>
              <a:rPr b="1" lang="en-US" sz="1400">
                <a:solidFill>
                  <a:srgbClr val="1F377F"/>
                </a:solidFill>
                <a:latin typeface="Courier New"/>
                <a:ea typeface="Courier New"/>
                <a:cs typeface="Courier New"/>
                <a:sym typeface="Courier New"/>
              </a:rPr>
              <a:t>t2</a:t>
            </a:r>
            <a:r>
              <a:rPr b="1" lang="en-US" sz="1400">
                <a:solidFill>
                  <a:schemeClr val="dk1"/>
                </a:solidFill>
                <a:latin typeface="Courier New"/>
                <a:ea typeface="Courier New"/>
                <a:cs typeface="Courier New"/>
                <a:sym typeface="Courier New"/>
              </a:rPr>
              <a:t> = </a:t>
            </a:r>
            <a:r>
              <a:rPr b="1" lang="en-US" sz="1400">
                <a:solidFill>
                  <a:srgbClr val="8F08C4"/>
                </a:solidFill>
                <a:latin typeface="Courier New"/>
                <a:ea typeface="Courier New"/>
                <a:cs typeface="Courier New"/>
                <a:sym typeface="Courier New"/>
              </a:rPr>
              <a:t>new</a:t>
            </a:r>
            <a:r>
              <a:rPr b="1" lang="en-US" sz="1400">
                <a:solidFill>
                  <a:schemeClr val="dk1"/>
                </a:solidFill>
                <a:latin typeface="Courier New"/>
                <a:ea typeface="Courier New"/>
                <a:cs typeface="Courier New"/>
                <a:sym typeface="Courier New"/>
              </a:rPr>
              <a:t> </a:t>
            </a:r>
            <a:r>
              <a:rPr b="1" lang="en-US" sz="1400">
                <a:solidFill>
                  <a:srgbClr val="74531F"/>
                </a:solidFill>
                <a:latin typeface="Courier New"/>
                <a:ea typeface="Courier New"/>
                <a:cs typeface="Courier New"/>
                <a:sym typeface="Courier New"/>
              </a:rPr>
              <a:t>WorldThread</a:t>
            </a:r>
            <a:r>
              <a:rPr b="1" lang="en-US" sz="1400">
                <a:solidFill>
                  <a:schemeClr val="dk1"/>
                </a:solidFill>
                <a:latin typeface="Courier New"/>
                <a:ea typeface="Courier New"/>
                <a:cs typeface="Courier New"/>
                <a:sym typeface="Courier New"/>
              </a:rPr>
              <a:t>();</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2B91AF"/>
                </a:solidFill>
                <a:latin typeface="Courier New"/>
                <a:ea typeface="Courier New"/>
                <a:cs typeface="Courier New"/>
                <a:sym typeface="Courier New"/>
              </a:rPr>
              <a:t>ByeThread</a:t>
            </a:r>
            <a:r>
              <a:rPr b="1" lang="en-US" sz="1400">
                <a:solidFill>
                  <a:schemeClr val="dk1"/>
                </a:solidFill>
                <a:latin typeface="Courier New"/>
                <a:ea typeface="Courier New"/>
                <a:cs typeface="Courier New"/>
                <a:sym typeface="Courier New"/>
              </a:rPr>
              <a:t> </a:t>
            </a:r>
            <a:r>
              <a:rPr b="1" lang="en-US" sz="1400">
                <a:solidFill>
                  <a:srgbClr val="1F377F"/>
                </a:solidFill>
                <a:latin typeface="Courier New"/>
                <a:ea typeface="Courier New"/>
                <a:cs typeface="Courier New"/>
                <a:sym typeface="Courier New"/>
              </a:rPr>
              <a:t>t3</a:t>
            </a:r>
            <a:r>
              <a:rPr b="1" lang="en-US" sz="1400">
                <a:solidFill>
                  <a:schemeClr val="dk1"/>
                </a:solidFill>
                <a:latin typeface="Courier New"/>
                <a:ea typeface="Courier New"/>
                <a:cs typeface="Courier New"/>
                <a:sym typeface="Courier New"/>
              </a:rPr>
              <a:t> = </a:t>
            </a:r>
            <a:r>
              <a:rPr b="1" lang="en-US" sz="1400">
                <a:solidFill>
                  <a:srgbClr val="8F08C4"/>
                </a:solidFill>
                <a:latin typeface="Courier New"/>
                <a:ea typeface="Courier New"/>
                <a:cs typeface="Courier New"/>
                <a:sym typeface="Courier New"/>
              </a:rPr>
              <a:t>new</a:t>
            </a:r>
            <a:r>
              <a:rPr b="1" lang="en-US" sz="1400">
                <a:solidFill>
                  <a:schemeClr val="dk1"/>
                </a:solidFill>
                <a:latin typeface="Courier New"/>
                <a:ea typeface="Courier New"/>
                <a:cs typeface="Courier New"/>
                <a:sym typeface="Courier New"/>
              </a:rPr>
              <a:t> </a:t>
            </a:r>
            <a:r>
              <a:rPr b="1" lang="en-US" sz="1400">
                <a:solidFill>
                  <a:srgbClr val="74531F"/>
                </a:solidFill>
                <a:latin typeface="Courier New"/>
                <a:ea typeface="Courier New"/>
                <a:cs typeface="Courier New"/>
                <a:sym typeface="Courier New"/>
              </a:rPr>
              <a:t>ByeThread</a:t>
            </a:r>
            <a:r>
              <a:rPr b="1" lang="en-US" sz="1400">
                <a:solidFill>
                  <a:schemeClr val="dk1"/>
                </a:solidFill>
                <a:latin typeface="Courier New"/>
                <a:ea typeface="Courier New"/>
                <a:cs typeface="Courier New"/>
                <a:sym typeface="Courier New"/>
              </a:rPr>
              <a:t>();</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1F377F"/>
                </a:solidFill>
                <a:latin typeface="Courier New"/>
                <a:ea typeface="Courier New"/>
                <a:cs typeface="Courier New"/>
                <a:sym typeface="Courier New"/>
              </a:rPr>
              <a:t>t1</a:t>
            </a:r>
            <a:r>
              <a:rPr b="1" lang="en-US" sz="1400">
                <a:solidFill>
                  <a:schemeClr val="dk1"/>
                </a:solidFill>
                <a:latin typeface="Courier New"/>
                <a:ea typeface="Courier New"/>
                <a:cs typeface="Courier New"/>
                <a:sym typeface="Courier New"/>
              </a:rPr>
              <a:t>.</a:t>
            </a:r>
            <a:r>
              <a:rPr b="1" lang="en-US" sz="1400">
                <a:solidFill>
                  <a:srgbClr val="74531F"/>
                </a:solidFill>
                <a:latin typeface="Courier New"/>
                <a:ea typeface="Courier New"/>
                <a:cs typeface="Courier New"/>
                <a:sym typeface="Courier New"/>
              </a:rPr>
              <a:t>start</a:t>
            </a:r>
            <a:r>
              <a:rPr b="1" lang="en-US" sz="1400">
                <a:solidFill>
                  <a:schemeClr val="dk1"/>
                </a:solidFill>
                <a:latin typeface="Courier New"/>
                <a:ea typeface="Courier New"/>
                <a:cs typeface="Courier New"/>
                <a:sym typeface="Courier New"/>
              </a:rPr>
              <a:t>();</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1F377F"/>
                </a:solidFill>
                <a:latin typeface="Courier New"/>
                <a:ea typeface="Courier New"/>
                <a:cs typeface="Courier New"/>
                <a:sym typeface="Courier New"/>
              </a:rPr>
              <a:t>t2</a:t>
            </a:r>
            <a:r>
              <a:rPr b="1" lang="en-US" sz="1400">
                <a:solidFill>
                  <a:schemeClr val="dk1"/>
                </a:solidFill>
                <a:latin typeface="Courier New"/>
                <a:ea typeface="Courier New"/>
                <a:cs typeface="Courier New"/>
                <a:sym typeface="Courier New"/>
              </a:rPr>
              <a:t>.</a:t>
            </a:r>
            <a:r>
              <a:rPr b="1" lang="en-US" sz="1400">
                <a:solidFill>
                  <a:srgbClr val="74531F"/>
                </a:solidFill>
                <a:latin typeface="Courier New"/>
                <a:ea typeface="Courier New"/>
                <a:cs typeface="Courier New"/>
                <a:sym typeface="Courier New"/>
              </a:rPr>
              <a:t>start</a:t>
            </a:r>
            <a:r>
              <a:rPr b="1" lang="en-US" sz="1400">
                <a:solidFill>
                  <a:schemeClr val="dk1"/>
                </a:solidFill>
                <a:latin typeface="Courier New"/>
                <a:ea typeface="Courier New"/>
                <a:cs typeface="Courier New"/>
                <a:sym typeface="Courier New"/>
              </a:rPr>
              <a:t>();</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r>
              <a:rPr b="1" lang="en-US" sz="1400">
                <a:solidFill>
                  <a:srgbClr val="1F377F"/>
                </a:solidFill>
                <a:latin typeface="Courier New"/>
                <a:ea typeface="Courier New"/>
                <a:cs typeface="Courier New"/>
                <a:sym typeface="Courier New"/>
              </a:rPr>
              <a:t>t3</a:t>
            </a:r>
            <a:r>
              <a:rPr b="1" lang="en-US" sz="1400">
                <a:solidFill>
                  <a:schemeClr val="dk1"/>
                </a:solidFill>
                <a:latin typeface="Courier New"/>
                <a:ea typeface="Courier New"/>
                <a:cs typeface="Courier New"/>
                <a:sym typeface="Courier New"/>
              </a:rPr>
              <a:t>.</a:t>
            </a:r>
            <a:r>
              <a:rPr b="1" lang="en-US" sz="1400">
                <a:solidFill>
                  <a:srgbClr val="74531F"/>
                </a:solidFill>
                <a:latin typeface="Courier New"/>
                <a:ea typeface="Courier New"/>
                <a:cs typeface="Courier New"/>
                <a:sym typeface="Courier New"/>
              </a:rPr>
              <a:t>start</a:t>
            </a:r>
            <a:r>
              <a:rPr b="1" lang="en-US" sz="1400">
                <a:solidFill>
                  <a:schemeClr val="dk1"/>
                </a:solidFill>
                <a:latin typeface="Courier New"/>
                <a:ea typeface="Courier New"/>
                <a:cs typeface="Courier New"/>
                <a:sym typeface="Courier New"/>
              </a:rPr>
              <a:t>();</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400">
                <a:solidFill>
                  <a:schemeClr val="dk1"/>
                </a:solidFill>
                <a:latin typeface="Courier New"/>
                <a:ea typeface="Courier New"/>
                <a:cs typeface="Courier New"/>
                <a:sym typeface="Courier New"/>
              </a:rPr>
              <a:t>}</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4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2100">
              <a:solidFill>
                <a:schemeClr val="dk1"/>
              </a:solidFill>
              <a:latin typeface="Courier New"/>
              <a:ea typeface="Courier New"/>
              <a:cs typeface="Courier New"/>
              <a:sym typeface="Courier New"/>
            </a:endParaRPr>
          </a:p>
        </p:txBody>
      </p:sp>
      <p:sp>
        <p:nvSpPr>
          <p:cNvPr id="410" name="Google Shape;410;p4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414" name="Shape 414"/>
        <p:cNvGrpSpPr/>
        <p:nvPr/>
      </p:nvGrpSpPr>
      <p:grpSpPr>
        <a:xfrm>
          <a:off x="0" y="0"/>
          <a:ext cx="0" cy="0"/>
          <a:chOff x="0" y="0"/>
          <a:chExt cx="0" cy="0"/>
        </a:xfrm>
      </p:grpSpPr>
      <p:sp>
        <p:nvSpPr>
          <p:cNvPr id="415" name="Google Shape;415;p50"/>
          <p:cNvSpPr txBox="1"/>
          <p:nvPr/>
        </p:nvSpPr>
        <p:spPr>
          <a:xfrm>
            <a:off x="483969" y="228088"/>
            <a:ext cx="120756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BÀI TẬP</a:t>
            </a:r>
            <a:endParaRPr sz="900"/>
          </a:p>
        </p:txBody>
      </p:sp>
      <p:sp>
        <p:nvSpPr>
          <p:cNvPr id="416" name="Google Shape;416;p50"/>
          <p:cNvSpPr txBox="1"/>
          <p:nvPr/>
        </p:nvSpPr>
        <p:spPr>
          <a:xfrm>
            <a:off x="8351750" y="-311836"/>
            <a:ext cx="9172500" cy="18573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t/>
            </a:r>
            <a:endParaRPr b="0" sz="2100">
              <a:solidFill>
                <a:schemeClr val="dk1"/>
              </a:solidFill>
              <a:latin typeface="Calibri"/>
              <a:ea typeface="Calibri"/>
              <a:cs typeface="Calibri"/>
              <a:sym typeface="Calibri"/>
            </a:endParaRPr>
          </a:p>
          <a:p>
            <a:pPr indent="0" lvl="0" marL="0" marR="0" rtl="0" algn="l">
              <a:spcBef>
                <a:spcPts val="700"/>
              </a:spcBef>
              <a:spcAft>
                <a:spcPts val="0"/>
              </a:spcAft>
              <a:buNone/>
            </a:pPr>
            <a:r>
              <a:rPr lang="en-US" sz="2100"/>
              <a:t>V</a:t>
            </a:r>
            <a:r>
              <a:rPr b="0" i="0" lang="en-US" sz="2100" u="none" strike="noStrike">
                <a:solidFill>
                  <a:srgbClr val="000000"/>
                </a:solidFill>
                <a:latin typeface="Arial"/>
                <a:ea typeface="Arial"/>
                <a:cs typeface="Arial"/>
                <a:sym typeface="Arial"/>
              </a:rPr>
              <a:t>í dụ </a:t>
            </a:r>
            <a:r>
              <a:rPr lang="en-US" sz="2100"/>
              <a:t>nhiều Thread</a:t>
            </a:r>
            <a:r>
              <a:rPr b="0" i="0" lang="en-US" sz="2100" u="none" strike="noStrike">
                <a:solidFill>
                  <a:srgbClr val="000000"/>
                </a:solidFill>
                <a:latin typeface="Arial"/>
                <a:ea typeface="Arial"/>
                <a:cs typeface="Arial"/>
                <a:sym typeface="Arial"/>
              </a:rPr>
              <a:t> v</a:t>
            </a:r>
            <a:r>
              <a:rPr lang="en-US" sz="2100"/>
              <a:t>ới Sleep</a:t>
            </a:r>
            <a:endParaRPr b="0" sz="2100">
              <a:solidFill>
                <a:schemeClr val="dk1"/>
              </a:solidFill>
              <a:latin typeface="Calibri"/>
              <a:ea typeface="Calibri"/>
              <a:cs typeface="Calibri"/>
              <a:sym typeface="Calibri"/>
            </a:endParaRPr>
          </a:p>
          <a:p>
            <a:pPr indent="0" lvl="0" marL="0" marR="0" rtl="0" algn="l">
              <a:spcBef>
                <a:spcPts val="700"/>
              </a:spcBef>
              <a:spcAft>
                <a:spcPts val="0"/>
              </a:spcAft>
              <a:buNone/>
            </a:pPr>
            <a:r>
              <a:t/>
            </a:r>
            <a:endParaRPr b="0" sz="2100">
              <a:solidFill>
                <a:schemeClr val="dk1"/>
              </a:solidFill>
              <a:latin typeface="Calibri"/>
              <a:ea typeface="Calibri"/>
              <a:cs typeface="Calibri"/>
              <a:sym typeface="Calibri"/>
            </a:endParaRPr>
          </a:p>
          <a:p>
            <a:pPr indent="0" lvl="0" marL="0" marR="0" rtl="0" algn="l">
              <a:spcBef>
                <a:spcPts val="0"/>
              </a:spcBef>
              <a:spcAft>
                <a:spcPts val="0"/>
              </a:spcAft>
              <a:buNone/>
            </a:pPr>
            <a:br>
              <a:rPr b="0" lang="en-US" sz="2100">
                <a:solidFill>
                  <a:schemeClr val="dk1"/>
                </a:solidFill>
                <a:latin typeface="Calibri"/>
                <a:ea typeface="Calibri"/>
                <a:cs typeface="Calibri"/>
                <a:sym typeface="Calibri"/>
              </a:rPr>
            </a:br>
            <a:endParaRPr sz="2100">
              <a:solidFill>
                <a:schemeClr val="dk1"/>
              </a:solidFill>
              <a:latin typeface="Calibri"/>
              <a:ea typeface="Calibri"/>
              <a:cs typeface="Calibri"/>
              <a:sym typeface="Calibri"/>
            </a:endParaRPr>
          </a:p>
        </p:txBody>
      </p:sp>
      <p:sp>
        <p:nvSpPr>
          <p:cNvPr id="417" name="Google Shape;417;p50"/>
          <p:cNvSpPr txBox="1"/>
          <p:nvPr/>
        </p:nvSpPr>
        <p:spPr>
          <a:xfrm>
            <a:off x="190025" y="905508"/>
            <a:ext cx="6288900" cy="6864900"/>
          </a:xfrm>
          <a:prstGeom prst="rect">
            <a:avLst/>
          </a:prstGeom>
          <a:noFill/>
          <a:ln>
            <a:noFill/>
          </a:ln>
        </p:spPr>
        <p:txBody>
          <a:bodyPr anchorCtr="0" anchor="t" bIns="60950" lIns="60950" spcFirstLastPara="1" rIns="60950" wrap="square" tIns="60950">
            <a:spAutoFit/>
          </a:bodyPr>
          <a:lstStyle/>
          <a:p>
            <a:pPr indent="0" lvl="0" marL="0" rtl="0" algn="l">
              <a:lnSpc>
                <a:spcPct val="135714"/>
              </a:lnSpc>
              <a:spcBef>
                <a:spcPts val="0"/>
              </a:spcBef>
              <a:spcAft>
                <a:spcPts val="0"/>
              </a:spcAft>
              <a:buClr>
                <a:schemeClr val="dk1"/>
              </a:buClr>
              <a:buSzPts val="700"/>
              <a:buFont typeface="Arial"/>
              <a:buNone/>
            </a:pPr>
            <a:r>
              <a:rPr b="1" lang="en-US" sz="1400">
                <a:solidFill>
                  <a:srgbClr val="F286C4"/>
                </a:solidFill>
                <a:latin typeface="Courier New"/>
                <a:ea typeface="Courier New"/>
                <a:cs typeface="Courier New"/>
                <a:sym typeface="Courier New"/>
              </a:rPr>
              <a:t>class</a:t>
            </a: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MyThread</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extends</a:t>
            </a: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Thread</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private</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final</a:t>
            </a: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String</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message</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private</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final</a:t>
            </a:r>
            <a:r>
              <a:rPr b="1" lang="en-US" sz="1400">
                <a:solidFill>
                  <a:srgbClr val="F6F6F4"/>
                </a:solidFill>
                <a:latin typeface="Courier New"/>
                <a:ea typeface="Courier New"/>
                <a:cs typeface="Courier New"/>
                <a:sym typeface="Courier New"/>
              </a:rPr>
              <a:t> </a:t>
            </a:r>
            <a:r>
              <a:rPr b="1" i="1" lang="en-US" sz="1400">
                <a:solidFill>
                  <a:srgbClr val="97E1F1"/>
                </a:solidFill>
                <a:latin typeface="Courier New"/>
                <a:ea typeface="Courier New"/>
                <a:cs typeface="Courier New"/>
                <a:sym typeface="Courier New"/>
              </a:rPr>
              <a:t>int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delay</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public</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MyThread</a:t>
            </a:r>
            <a:r>
              <a:rPr b="1" lang="en-US" sz="1400">
                <a:solidFill>
                  <a:srgbClr val="F6F6F4"/>
                </a:solidFill>
                <a:latin typeface="Courier New"/>
                <a:ea typeface="Courier New"/>
                <a:cs typeface="Courier New"/>
                <a:sym typeface="Courier New"/>
              </a:rPr>
              <a:t>(</a:t>
            </a:r>
            <a:r>
              <a:rPr b="1" lang="en-US" sz="1400">
                <a:solidFill>
                  <a:srgbClr val="97E1F1"/>
                </a:solidFill>
                <a:latin typeface="Courier New"/>
                <a:ea typeface="Courier New"/>
                <a:cs typeface="Courier New"/>
                <a:sym typeface="Courier New"/>
              </a:rPr>
              <a:t>String</a:t>
            </a:r>
            <a:r>
              <a:rPr b="1" lang="en-US" sz="1400">
                <a:solidFill>
                  <a:srgbClr val="F6F6F4"/>
                </a:solidFill>
                <a:latin typeface="Courier New"/>
                <a:ea typeface="Courier New"/>
                <a:cs typeface="Courier New"/>
                <a:sym typeface="Courier New"/>
              </a:rPr>
              <a:t> </a:t>
            </a:r>
            <a:r>
              <a:rPr b="1" i="1" lang="en-US" sz="1400">
                <a:solidFill>
                  <a:srgbClr val="FFB86C"/>
                </a:solidFill>
                <a:latin typeface="Courier New"/>
                <a:ea typeface="Courier New"/>
                <a:cs typeface="Courier New"/>
                <a:sym typeface="Courier New"/>
              </a:rPr>
              <a:t>message</a:t>
            </a:r>
            <a:r>
              <a:rPr b="1" lang="en-US" sz="1400">
                <a:solidFill>
                  <a:srgbClr val="F6F6F4"/>
                </a:solidFill>
                <a:latin typeface="Courier New"/>
                <a:ea typeface="Courier New"/>
                <a:cs typeface="Courier New"/>
                <a:sym typeface="Courier New"/>
              </a:rPr>
              <a:t>, </a:t>
            </a:r>
            <a:r>
              <a:rPr b="1" i="1" lang="en-US" sz="1400">
                <a:solidFill>
                  <a:srgbClr val="97E1F1"/>
                </a:solidFill>
                <a:latin typeface="Courier New"/>
                <a:ea typeface="Courier New"/>
                <a:cs typeface="Courier New"/>
                <a:sym typeface="Courier New"/>
              </a:rPr>
              <a:t>int</a:t>
            </a:r>
            <a:r>
              <a:rPr b="1" lang="en-US" sz="1400">
                <a:solidFill>
                  <a:srgbClr val="F6F6F4"/>
                </a:solidFill>
                <a:latin typeface="Courier New"/>
                <a:ea typeface="Courier New"/>
                <a:cs typeface="Courier New"/>
                <a:sym typeface="Courier New"/>
              </a:rPr>
              <a:t> </a:t>
            </a:r>
            <a:r>
              <a:rPr b="1" i="1" lang="en-US" sz="1400">
                <a:solidFill>
                  <a:srgbClr val="FFB86C"/>
                </a:solidFill>
                <a:latin typeface="Courier New"/>
                <a:ea typeface="Courier New"/>
                <a:cs typeface="Courier New"/>
                <a:sym typeface="Courier New"/>
              </a:rPr>
              <a:t>delay</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i="1" lang="en-US" sz="1400">
                <a:solidFill>
                  <a:srgbClr val="BF9EEE"/>
                </a:solidFill>
                <a:latin typeface="Courier New"/>
                <a:ea typeface="Courier New"/>
                <a:cs typeface="Courier New"/>
                <a:sym typeface="Courier New"/>
              </a:rPr>
              <a:t>this</a:t>
            </a:r>
            <a:r>
              <a:rPr b="1" lang="en-US" sz="1400">
                <a:solidFill>
                  <a:srgbClr val="F6F6F4"/>
                </a:solidFill>
                <a:latin typeface="Courier New"/>
                <a:ea typeface="Courier New"/>
                <a:cs typeface="Courier New"/>
                <a:sym typeface="Courier New"/>
              </a:rPr>
              <a:t>.</a:t>
            </a:r>
            <a:r>
              <a:rPr b="1" lang="en-US" sz="1400">
                <a:solidFill>
                  <a:srgbClr val="BF9EEE"/>
                </a:solidFill>
                <a:latin typeface="Courier New"/>
                <a:ea typeface="Courier New"/>
                <a:cs typeface="Courier New"/>
                <a:sym typeface="Courier New"/>
              </a:rPr>
              <a:t>message</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i="1" lang="en-US" sz="1400">
                <a:solidFill>
                  <a:srgbClr val="FFB86C"/>
                </a:solidFill>
                <a:latin typeface="Courier New"/>
                <a:ea typeface="Courier New"/>
                <a:cs typeface="Courier New"/>
                <a:sym typeface="Courier New"/>
              </a:rPr>
              <a:t>message</a:t>
            </a:r>
            <a:r>
              <a:rPr b="1" lang="en-US" sz="1400">
                <a:solidFill>
                  <a:srgbClr val="F6F6F4"/>
                </a:solidFill>
                <a:latin typeface="Courier New"/>
                <a:ea typeface="Courier New"/>
                <a:cs typeface="Courier New"/>
                <a:sym typeface="Courier New"/>
              </a:rPr>
              <a:t>;        </a:t>
            </a:r>
            <a:r>
              <a:rPr b="1" i="1" lang="en-US" sz="1400">
                <a:solidFill>
                  <a:srgbClr val="BF9EEE"/>
                </a:solidFill>
                <a:latin typeface="Courier New"/>
                <a:ea typeface="Courier New"/>
                <a:cs typeface="Courier New"/>
                <a:sym typeface="Courier New"/>
              </a:rPr>
              <a:t>this</a:t>
            </a:r>
            <a:r>
              <a:rPr b="1" lang="en-US" sz="1400">
                <a:solidFill>
                  <a:srgbClr val="F6F6F4"/>
                </a:solidFill>
                <a:latin typeface="Courier New"/>
                <a:ea typeface="Courier New"/>
                <a:cs typeface="Courier New"/>
                <a:sym typeface="Courier New"/>
              </a:rPr>
              <a:t>.</a:t>
            </a:r>
            <a:r>
              <a:rPr b="1" lang="en-US" sz="1400">
                <a:solidFill>
                  <a:srgbClr val="BF9EEE"/>
                </a:solidFill>
                <a:latin typeface="Courier New"/>
                <a:ea typeface="Courier New"/>
                <a:cs typeface="Courier New"/>
                <a:sym typeface="Courier New"/>
              </a:rPr>
              <a:t>delay</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i="1" lang="en-US" sz="1400">
                <a:solidFill>
                  <a:srgbClr val="FFB86C"/>
                </a:solidFill>
                <a:latin typeface="Courier New"/>
                <a:ea typeface="Courier New"/>
                <a:cs typeface="Courier New"/>
                <a:sym typeface="Courier New"/>
              </a:rPr>
              <a:t>delay</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Override</a:t>
            </a:r>
            <a:endParaRPr b="1" sz="1400">
              <a:solidFill>
                <a:srgbClr val="F286C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public</a:t>
            </a:r>
            <a:r>
              <a:rPr b="1" lang="en-US" sz="1400">
                <a:solidFill>
                  <a:srgbClr val="F6F6F4"/>
                </a:solidFill>
                <a:latin typeface="Courier New"/>
                <a:ea typeface="Courier New"/>
                <a:cs typeface="Courier New"/>
                <a:sym typeface="Courier New"/>
              </a:rPr>
              <a:t> </a:t>
            </a:r>
            <a:r>
              <a:rPr b="1" i="1" lang="en-US" sz="1400">
                <a:solidFill>
                  <a:srgbClr val="97E1F1"/>
                </a:solidFill>
                <a:latin typeface="Courier New"/>
                <a:ea typeface="Courier New"/>
                <a:cs typeface="Courier New"/>
                <a:sym typeface="Courier New"/>
              </a:rPr>
              <a:t>void</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run</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for</a:t>
            </a:r>
            <a:r>
              <a:rPr b="1" lang="en-US" sz="1400">
                <a:solidFill>
                  <a:srgbClr val="F6F6F4"/>
                </a:solidFill>
                <a:latin typeface="Courier New"/>
                <a:ea typeface="Courier New"/>
                <a:cs typeface="Courier New"/>
                <a:sym typeface="Courier New"/>
              </a:rPr>
              <a:t> (</a:t>
            </a:r>
            <a:r>
              <a:rPr b="1" i="1" lang="en-US" sz="1400">
                <a:solidFill>
                  <a:srgbClr val="97E1F1"/>
                </a:solidFill>
                <a:latin typeface="Courier New"/>
                <a:ea typeface="Courier New"/>
                <a:cs typeface="Courier New"/>
                <a:sym typeface="Courier New"/>
              </a:rPr>
              <a:t>int</a:t>
            </a:r>
            <a:r>
              <a:rPr b="1" lang="en-US" sz="1400">
                <a:solidFill>
                  <a:srgbClr val="F6F6F4"/>
                </a:solidFill>
                <a:latin typeface="Courier New"/>
                <a:ea typeface="Courier New"/>
                <a:cs typeface="Courier New"/>
                <a:sym typeface="Courier New"/>
              </a:rPr>
              <a:t> i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1</a:t>
            </a:r>
            <a:r>
              <a:rPr b="1" lang="en-US" sz="1400">
                <a:solidFill>
                  <a:srgbClr val="F6F6F4"/>
                </a:solidFill>
                <a:latin typeface="Courier New"/>
                <a:ea typeface="Courier New"/>
                <a:cs typeface="Courier New"/>
                <a:sym typeface="Courier New"/>
              </a:rPr>
              <a:t>; i </a:t>
            </a:r>
            <a:r>
              <a:rPr b="1" lang="en-US" sz="1400">
                <a:solidFill>
                  <a:srgbClr val="F286C4"/>
                </a:solidFill>
                <a:latin typeface="Courier New"/>
                <a:ea typeface="Courier New"/>
                <a:cs typeface="Courier New"/>
                <a:sym typeface="Courier New"/>
              </a:rPr>
              <a:t>&lt;=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5</a:t>
            </a:r>
            <a:r>
              <a:rPr b="1" lang="en-US" sz="1400">
                <a:solidFill>
                  <a:srgbClr val="F6F6F4"/>
                </a:solidFill>
                <a:latin typeface="Courier New"/>
                <a:ea typeface="Courier New"/>
                <a:cs typeface="Courier New"/>
                <a:sym typeface="Courier New"/>
              </a:rPr>
              <a:t>; i</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 </a:t>
            </a:r>
            <a:r>
              <a:rPr b="1" lang="en-US" sz="1400">
                <a:solidFill>
                  <a:srgbClr val="7B7F8B"/>
                </a:solidFill>
                <a:latin typeface="Courier New"/>
                <a:ea typeface="Courier New"/>
                <a:cs typeface="Courier New"/>
                <a:sym typeface="Courier New"/>
              </a:rPr>
              <a:t>// Chạy 5 lần</a:t>
            </a:r>
            <a:endParaRPr b="1" sz="1400">
              <a:solidFill>
                <a:srgbClr val="7B7F8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System</a:t>
            </a:r>
            <a:r>
              <a:rPr b="1" lang="en-US" sz="1400">
                <a:solidFill>
                  <a:srgbClr val="F6F6F4"/>
                </a:solidFill>
                <a:latin typeface="Courier New"/>
                <a:ea typeface="Courier New"/>
                <a:cs typeface="Courier New"/>
                <a:sym typeface="Courier New"/>
              </a:rPr>
              <a:t>.</a:t>
            </a:r>
            <a:r>
              <a:rPr b="1" lang="en-US" sz="1400">
                <a:solidFill>
                  <a:srgbClr val="BF9EEE"/>
                </a:solidFill>
                <a:latin typeface="Courier New"/>
                <a:ea typeface="Courier New"/>
                <a:cs typeface="Courier New"/>
                <a:sym typeface="Courier New"/>
              </a:rPr>
              <a:t>out</a:t>
            </a:r>
            <a:r>
              <a:rPr b="1" lang="en-US" sz="1400">
                <a:solidFill>
                  <a:srgbClr val="F6F6F4"/>
                </a:solidFill>
                <a:latin typeface="Courier New"/>
                <a:ea typeface="Courier New"/>
                <a:cs typeface="Courier New"/>
                <a:sym typeface="Courier New"/>
              </a:rPr>
              <a:t>.</a:t>
            </a:r>
            <a:r>
              <a:rPr b="1" lang="en-US" sz="1400">
                <a:solidFill>
                  <a:srgbClr val="62E884"/>
                </a:solidFill>
                <a:latin typeface="Courier New"/>
                <a:ea typeface="Courier New"/>
                <a:cs typeface="Courier New"/>
                <a:sym typeface="Courier New"/>
              </a:rPr>
              <a:t>println</a:t>
            </a:r>
            <a:r>
              <a:rPr b="1" lang="en-US" sz="1400">
                <a:solidFill>
                  <a:srgbClr val="F6F6F4"/>
                </a:solidFill>
                <a:latin typeface="Courier New"/>
                <a:ea typeface="Courier New"/>
                <a:cs typeface="Courier New"/>
                <a:sym typeface="Courier New"/>
              </a:rPr>
              <a:t>(</a:t>
            </a:r>
            <a:r>
              <a:rPr b="1" lang="en-US" sz="1400">
                <a:solidFill>
                  <a:srgbClr val="BF9EEE"/>
                </a:solidFill>
                <a:latin typeface="Courier New"/>
                <a:ea typeface="Courier New"/>
                <a:cs typeface="Courier New"/>
                <a:sym typeface="Courier New"/>
              </a:rPr>
              <a:t>message</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 - Lan </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i);</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try</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Thread</a:t>
            </a:r>
            <a:r>
              <a:rPr b="1" lang="en-US" sz="1400">
                <a:solidFill>
                  <a:srgbClr val="F6F6F4"/>
                </a:solidFill>
                <a:latin typeface="Courier New"/>
                <a:ea typeface="Courier New"/>
                <a:cs typeface="Courier New"/>
                <a:sym typeface="Courier New"/>
              </a:rPr>
              <a:t>.</a:t>
            </a:r>
            <a:r>
              <a:rPr b="1" lang="en-US" sz="1400">
                <a:solidFill>
                  <a:srgbClr val="62E884"/>
                </a:solidFill>
                <a:latin typeface="Courier New"/>
                <a:ea typeface="Courier New"/>
                <a:cs typeface="Courier New"/>
                <a:sym typeface="Courier New"/>
              </a:rPr>
              <a:t>sleep</a:t>
            </a:r>
            <a:r>
              <a:rPr b="1" lang="en-US" sz="1400">
                <a:solidFill>
                  <a:srgbClr val="F6F6F4"/>
                </a:solidFill>
                <a:latin typeface="Courier New"/>
                <a:ea typeface="Courier New"/>
                <a:cs typeface="Courier New"/>
                <a:sym typeface="Courier New"/>
              </a:rPr>
              <a:t>(</a:t>
            </a:r>
            <a:r>
              <a:rPr b="1" lang="en-US" sz="1400">
                <a:solidFill>
                  <a:srgbClr val="BF9EEE"/>
                </a:solidFill>
                <a:latin typeface="Courier New"/>
                <a:ea typeface="Courier New"/>
                <a:cs typeface="Courier New"/>
                <a:sym typeface="Courier New"/>
              </a:rPr>
              <a:t>delay</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 </a:t>
            </a:r>
            <a:r>
              <a:rPr b="1" lang="en-US" sz="1400">
                <a:solidFill>
                  <a:srgbClr val="F286C4"/>
                </a:solidFill>
                <a:latin typeface="Courier New"/>
                <a:ea typeface="Courier New"/>
                <a:cs typeface="Courier New"/>
                <a:sym typeface="Courier New"/>
              </a:rPr>
              <a:t>catch</a:t>
            </a: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InterruptedException</a:t>
            </a:r>
            <a:r>
              <a:rPr b="1" lang="en-US" sz="1400">
                <a:solidFill>
                  <a:srgbClr val="F6F6F4"/>
                </a:solidFill>
                <a:latin typeface="Courier New"/>
                <a:ea typeface="Courier New"/>
                <a:cs typeface="Courier New"/>
                <a:sym typeface="Courier New"/>
              </a:rPr>
              <a:t> </a:t>
            </a:r>
            <a:r>
              <a:rPr b="1" i="1" lang="en-US" sz="1400">
                <a:solidFill>
                  <a:srgbClr val="F6F6F4"/>
                </a:solidFill>
                <a:latin typeface="Courier New"/>
                <a:ea typeface="Courier New"/>
                <a:cs typeface="Courier New"/>
                <a:sym typeface="Courier New"/>
              </a:rPr>
              <a:t>e</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e.</a:t>
            </a:r>
            <a:r>
              <a:rPr b="1" lang="en-US" sz="1400">
                <a:solidFill>
                  <a:srgbClr val="62E884"/>
                </a:solidFill>
                <a:latin typeface="Courier New"/>
                <a:ea typeface="Courier New"/>
                <a:cs typeface="Courier New"/>
                <a:sym typeface="Courier New"/>
              </a:rPr>
              <a:t>printStackTrace</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System</a:t>
            </a:r>
            <a:r>
              <a:rPr b="1" lang="en-US" sz="1400">
                <a:solidFill>
                  <a:srgbClr val="F6F6F4"/>
                </a:solidFill>
                <a:latin typeface="Courier New"/>
                <a:ea typeface="Courier New"/>
                <a:cs typeface="Courier New"/>
                <a:sym typeface="Courier New"/>
              </a:rPr>
              <a:t>.</a:t>
            </a:r>
            <a:r>
              <a:rPr b="1" lang="en-US" sz="1400">
                <a:solidFill>
                  <a:srgbClr val="BF9EEE"/>
                </a:solidFill>
                <a:latin typeface="Courier New"/>
                <a:ea typeface="Courier New"/>
                <a:cs typeface="Courier New"/>
                <a:sym typeface="Courier New"/>
              </a:rPr>
              <a:t>out</a:t>
            </a:r>
            <a:r>
              <a:rPr b="1" lang="en-US" sz="1400">
                <a:solidFill>
                  <a:srgbClr val="F6F6F4"/>
                </a:solidFill>
                <a:latin typeface="Courier New"/>
                <a:ea typeface="Courier New"/>
                <a:cs typeface="Courier New"/>
                <a:sym typeface="Courier New"/>
              </a:rPr>
              <a:t>.</a:t>
            </a:r>
            <a:r>
              <a:rPr b="1" lang="en-US" sz="1400">
                <a:solidFill>
                  <a:srgbClr val="62E884"/>
                </a:solidFill>
                <a:latin typeface="Courier New"/>
                <a:ea typeface="Courier New"/>
                <a:cs typeface="Courier New"/>
                <a:sym typeface="Courier New"/>
              </a:rPr>
              <a:t>println</a:t>
            </a:r>
            <a:r>
              <a:rPr b="1" lang="en-US" sz="1400">
                <a:solidFill>
                  <a:srgbClr val="F6F6F4"/>
                </a:solidFill>
                <a:latin typeface="Courier New"/>
                <a:ea typeface="Courier New"/>
                <a:cs typeface="Courier New"/>
                <a:sym typeface="Courier New"/>
              </a:rPr>
              <a:t>(</a:t>
            </a:r>
            <a:r>
              <a:rPr b="1" lang="en-US" sz="1400">
                <a:solidFill>
                  <a:srgbClr val="BF9EEE"/>
                </a:solidFill>
                <a:latin typeface="Courier New"/>
                <a:ea typeface="Courier New"/>
                <a:cs typeface="Courier New"/>
                <a:sym typeface="Courier New"/>
              </a:rPr>
              <a:t>message</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 đa hoan thanh!</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2000">
              <a:solidFill>
                <a:srgbClr val="0000FF"/>
              </a:solidFill>
              <a:latin typeface="Courier New"/>
              <a:ea typeface="Courier New"/>
              <a:cs typeface="Courier New"/>
              <a:sym typeface="Courier New"/>
            </a:endParaRPr>
          </a:p>
        </p:txBody>
      </p:sp>
      <p:sp>
        <p:nvSpPr>
          <p:cNvPr id="418" name="Google Shape;418;p50"/>
          <p:cNvSpPr txBox="1"/>
          <p:nvPr/>
        </p:nvSpPr>
        <p:spPr>
          <a:xfrm>
            <a:off x="6032567" y="829250"/>
            <a:ext cx="6380100" cy="7480800"/>
          </a:xfrm>
          <a:prstGeom prst="rect">
            <a:avLst/>
          </a:prstGeom>
          <a:noFill/>
          <a:ln>
            <a:noFill/>
          </a:ln>
        </p:spPr>
        <p:txBody>
          <a:bodyPr anchorCtr="0" anchor="t" bIns="60950" lIns="60950" spcFirstLastPara="1" rIns="60950" wrap="square" tIns="60950">
            <a:spAutoFit/>
          </a:bodyPr>
          <a:lstStyle/>
          <a:p>
            <a:pPr indent="0" lvl="0" marL="0" rtl="0" algn="l">
              <a:lnSpc>
                <a:spcPct val="135714"/>
              </a:lnSpc>
              <a:spcBef>
                <a:spcPts val="0"/>
              </a:spcBef>
              <a:spcAft>
                <a:spcPts val="0"/>
              </a:spcAft>
              <a:buClr>
                <a:schemeClr val="dk1"/>
              </a:buClr>
              <a:buSzPts val="700"/>
              <a:buFont typeface="Arial"/>
              <a:buNone/>
            </a:pPr>
            <a:r>
              <a:rPr b="1" lang="en-US" sz="1500">
                <a:solidFill>
                  <a:srgbClr val="F286C4"/>
                </a:solidFill>
                <a:latin typeface="Courier New"/>
                <a:ea typeface="Courier New"/>
                <a:cs typeface="Courier New"/>
                <a:sym typeface="Courier New"/>
              </a:rPr>
              <a:t>public</a:t>
            </a:r>
            <a:r>
              <a:rPr b="1" lang="en-US" sz="1500">
                <a:solidFill>
                  <a:srgbClr val="F6F6F4"/>
                </a:solidFill>
                <a:latin typeface="Courier New"/>
                <a:ea typeface="Courier New"/>
                <a:cs typeface="Courier New"/>
                <a:sym typeface="Courier New"/>
              </a:rPr>
              <a:t> </a:t>
            </a:r>
            <a:r>
              <a:rPr b="1" lang="en-US" sz="1500">
                <a:solidFill>
                  <a:srgbClr val="F286C4"/>
                </a:solidFill>
                <a:latin typeface="Courier New"/>
                <a:ea typeface="Courier New"/>
                <a:cs typeface="Courier New"/>
                <a:sym typeface="Courier New"/>
              </a:rPr>
              <a:t>class</a:t>
            </a:r>
            <a:r>
              <a:rPr b="1" lang="en-US" sz="1500">
                <a:solidFill>
                  <a:srgbClr val="F6F6F4"/>
                </a:solidFill>
                <a:latin typeface="Courier New"/>
                <a:ea typeface="Courier New"/>
                <a:cs typeface="Courier New"/>
                <a:sym typeface="Courier New"/>
              </a:rPr>
              <a:t> </a:t>
            </a:r>
            <a:r>
              <a:rPr b="1" lang="en-US" sz="1500">
                <a:solidFill>
                  <a:srgbClr val="97E1F1"/>
                </a:solidFill>
                <a:latin typeface="Courier New"/>
                <a:ea typeface="Courier New"/>
                <a:cs typeface="Courier New"/>
                <a:sym typeface="Courier New"/>
              </a:rPr>
              <a:t>Main</a:t>
            </a:r>
            <a:r>
              <a:rPr b="1" lang="en-US" sz="1500">
                <a:solidFill>
                  <a:srgbClr val="F6F6F4"/>
                </a:solidFill>
                <a:latin typeface="Courier New"/>
                <a:ea typeface="Courier New"/>
                <a:cs typeface="Courier New"/>
                <a:sym typeface="Courier New"/>
              </a:rPr>
              <a:t> {</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a:t>
            </a:r>
            <a:r>
              <a:rPr b="1" lang="en-US" sz="1500">
                <a:solidFill>
                  <a:srgbClr val="F286C4"/>
                </a:solidFill>
                <a:latin typeface="Courier New"/>
                <a:ea typeface="Courier New"/>
                <a:cs typeface="Courier New"/>
                <a:sym typeface="Courier New"/>
              </a:rPr>
              <a:t>static</a:t>
            </a:r>
            <a:r>
              <a:rPr b="1" lang="en-US" sz="1500">
                <a:solidFill>
                  <a:srgbClr val="F6F6F4"/>
                </a:solidFill>
                <a:latin typeface="Courier New"/>
                <a:ea typeface="Courier New"/>
                <a:cs typeface="Courier New"/>
                <a:sym typeface="Courier New"/>
              </a:rPr>
              <a:t> </a:t>
            </a:r>
            <a:r>
              <a:rPr b="1" lang="en-US" sz="1500">
                <a:solidFill>
                  <a:srgbClr val="97E1F1"/>
                </a:solidFill>
                <a:latin typeface="Courier New"/>
                <a:ea typeface="Courier New"/>
                <a:cs typeface="Courier New"/>
                <a:sym typeface="Courier New"/>
              </a:rPr>
              <a:t>MyThread</a:t>
            </a:r>
            <a:r>
              <a:rPr b="1" lang="en-US" sz="1500">
                <a:solidFill>
                  <a:srgbClr val="F6F6F4"/>
                </a:solidFill>
                <a:latin typeface="Courier New"/>
                <a:ea typeface="Courier New"/>
                <a:cs typeface="Courier New"/>
                <a:sym typeface="Courier New"/>
              </a:rPr>
              <a:t> t1 </a:t>
            </a:r>
            <a:r>
              <a:rPr b="1" lang="en-US" sz="1500">
                <a:solidFill>
                  <a:srgbClr val="F286C4"/>
                </a:solidFill>
                <a:latin typeface="Courier New"/>
                <a:ea typeface="Courier New"/>
                <a:cs typeface="Courier New"/>
                <a:sym typeface="Courier New"/>
              </a:rPr>
              <a:t>=</a:t>
            </a:r>
            <a:r>
              <a:rPr b="1" lang="en-US" sz="1500">
                <a:solidFill>
                  <a:srgbClr val="F6F6F4"/>
                </a:solidFill>
                <a:latin typeface="Courier New"/>
                <a:ea typeface="Courier New"/>
                <a:cs typeface="Courier New"/>
                <a:sym typeface="Courier New"/>
              </a:rPr>
              <a:t> </a:t>
            </a:r>
            <a:r>
              <a:rPr b="1" lang="en-US" sz="1500">
                <a:solidFill>
                  <a:srgbClr val="F286C4"/>
                </a:solidFill>
                <a:latin typeface="Courier New"/>
                <a:ea typeface="Courier New"/>
                <a:cs typeface="Courier New"/>
                <a:sym typeface="Courier New"/>
              </a:rPr>
              <a:t>new</a:t>
            </a:r>
            <a:r>
              <a:rPr b="1" lang="en-US" sz="1500">
                <a:solidFill>
                  <a:srgbClr val="F6F6F4"/>
                </a:solidFill>
                <a:latin typeface="Courier New"/>
                <a:ea typeface="Courier New"/>
                <a:cs typeface="Courier New"/>
                <a:sym typeface="Courier New"/>
              </a:rPr>
              <a:t> </a:t>
            </a:r>
            <a:r>
              <a:rPr b="1" lang="en-US" sz="1500">
                <a:solidFill>
                  <a:srgbClr val="62E884"/>
                </a:solidFill>
                <a:latin typeface="Courier New"/>
                <a:ea typeface="Courier New"/>
                <a:cs typeface="Courier New"/>
                <a:sym typeface="Courier New"/>
              </a:rPr>
              <a:t>MyThread</a:t>
            </a:r>
            <a:r>
              <a:rPr b="1" lang="en-US" sz="1500">
                <a:solidFill>
                  <a:srgbClr val="F6F6F4"/>
                </a:solidFill>
                <a:latin typeface="Courier New"/>
                <a:ea typeface="Courier New"/>
                <a:cs typeface="Courier New"/>
                <a:sym typeface="Courier New"/>
              </a:rPr>
              <a:t>(</a:t>
            </a:r>
            <a:r>
              <a:rPr b="1" lang="en-US" sz="1500">
                <a:solidFill>
                  <a:srgbClr val="DEE492"/>
                </a:solidFill>
                <a:latin typeface="Courier New"/>
                <a:ea typeface="Courier New"/>
                <a:cs typeface="Courier New"/>
                <a:sym typeface="Courier New"/>
              </a:rPr>
              <a:t>"</a:t>
            </a:r>
            <a:r>
              <a:rPr b="1" lang="en-US" sz="1500">
                <a:solidFill>
                  <a:srgbClr val="E7EE98"/>
                </a:solidFill>
                <a:latin typeface="Courier New"/>
                <a:ea typeface="Courier New"/>
                <a:cs typeface="Courier New"/>
                <a:sym typeface="Courier New"/>
              </a:rPr>
              <a:t>Hello</a:t>
            </a:r>
            <a:r>
              <a:rPr b="1" lang="en-US" sz="1500">
                <a:solidFill>
                  <a:srgbClr val="DEE492"/>
                </a:solidFill>
                <a:latin typeface="Courier New"/>
                <a:ea typeface="Courier New"/>
                <a:cs typeface="Courier New"/>
                <a:sym typeface="Courier New"/>
              </a:rPr>
              <a:t>"</a:t>
            </a:r>
            <a:r>
              <a:rPr b="1" lang="en-US" sz="1500">
                <a:solidFill>
                  <a:srgbClr val="F6F6F4"/>
                </a:solidFill>
                <a:latin typeface="Courier New"/>
                <a:ea typeface="Courier New"/>
                <a:cs typeface="Courier New"/>
                <a:sym typeface="Courier New"/>
              </a:rPr>
              <a:t>, </a:t>
            </a:r>
            <a:r>
              <a:rPr b="1" lang="en-US" sz="1500">
                <a:solidFill>
                  <a:srgbClr val="BF9EEE"/>
                </a:solidFill>
                <a:latin typeface="Courier New"/>
                <a:ea typeface="Courier New"/>
                <a:cs typeface="Courier New"/>
                <a:sym typeface="Courier New"/>
              </a:rPr>
              <a:t>1000</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a:t>
            </a:r>
            <a:r>
              <a:rPr b="1" lang="en-US" sz="1500">
                <a:solidFill>
                  <a:srgbClr val="F286C4"/>
                </a:solidFill>
                <a:latin typeface="Courier New"/>
                <a:ea typeface="Courier New"/>
                <a:cs typeface="Courier New"/>
                <a:sym typeface="Courier New"/>
              </a:rPr>
              <a:t>static</a:t>
            </a:r>
            <a:r>
              <a:rPr b="1" lang="en-US" sz="1500">
                <a:solidFill>
                  <a:srgbClr val="F6F6F4"/>
                </a:solidFill>
                <a:latin typeface="Courier New"/>
                <a:ea typeface="Courier New"/>
                <a:cs typeface="Courier New"/>
                <a:sym typeface="Courier New"/>
              </a:rPr>
              <a:t> </a:t>
            </a:r>
            <a:r>
              <a:rPr b="1" lang="en-US" sz="1500">
                <a:solidFill>
                  <a:srgbClr val="97E1F1"/>
                </a:solidFill>
                <a:latin typeface="Courier New"/>
                <a:ea typeface="Courier New"/>
                <a:cs typeface="Courier New"/>
                <a:sym typeface="Courier New"/>
              </a:rPr>
              <a:t>MyThread</a:t>
            </a:r>
            <a:r>
              <a:rPr b="1" lang="en-US" sz="1500">
                <a:solidFill>
                  <a:srgbClr val="F6F6F4"/>
                </a:solidFill>
                <a:latin typeface="Courier New"/>
                <a:ea typeface="Courier New"/>
                <a:cs typeface="Courier New"/>
                <a:sym typeface="Courier New"/>
              </a:rPr>
              <a:t> t2 </a:t>
            </a:r>
            <a:r>
              <a:rPr b="1" lang="en-US" sz="1500">
                <a:solidFill>
                  <a:srgbClr val="F286C4"/>
                </a:solidFill>
                <a:latin typeface="Courier New"/>
                <a:ea typeface="Courier New"/>
                <a:cs typeface="Courier New"/>
                <a:sym typeface="Courier New"/>
              </a:rPr>
              <a:t>=</a:t>
            </a:r>
            <a:r>
              <a:rPr b="1" lang="en-US" sz="1500">
                <a:solidFill>
                  <a:srgbClr val="F6F6F4"/>
                </a:solidFill>
                <a:latin typeface="Courier New"/>
                <a:ea typeface="Courier New"/>
                <a:cs typeface="Courier New"/>
                <a:sym typeface="Courier New"/>
              </a:rPr>
              <a:t> </a:t>
            </a:r>
            <a:r>
              <a:rPr b="1" lang="en-US" sz="1500">
                <a:solidFill>
                  <a:srgbClr val="F286C4"/>
                </a:solidFill>
                <a:latin typeface="Courier New"/>
                <a:ea typeface="Courier New"/>
                <a:cs typeface="Courier New"/>
                <a:sym typeface="Courier New"/>
              </a:rPr>
              <a:t>new</a:t>
            </a:r>
            <a:r>
              <a:rPr b="1" lang="en-US" sz="1500">
                <a:solidFill>
                  <a:srgbClr val="F6F6F4"/>
                </a:solidFill>
                <a:latin typeface="Courier New"/>
                <a:ea typeface="Courier New"/>
                <a:cs typeface="Courier New"/>
                <a:sym typeface="Courier New"/>
              </a:rPr>
              <a:t> </a:t>
            </a:r>
            <a:r>
              <a:rPr b="1" lang="en-US" sz="1500">
                <a:solidFill>
                  <a:srgbClr val="62E884"/>
                </a:solidFill>
                <a:latin typeface="Courier New"/>
                <a:ea typeface="Courier New"/>
                <a:cs typeface="Courier New"/>
                <a:sym typeface="Courier New"/>
              </a:rPr>
              <a:t>MyThread</a:t>
            </a:r>
            <a:r>
              <a:rPr b="1" lang="en-US" sz="1500">
                <a:solidFill>
                  <a:srgbClr val="F6F6F4"/>
                </a:solidFill>
                <a:latin typeface="Courier New"/>
                <a:ea typeface="Courier New"/>
                <a:cs typeface="Courier New"/>
                <a:sym typeface="Courier New"/>
              </a:rPr>
              <a:t>(</a:t>
            </a:r>
            <a:r>
              <a:rPr b="1" lang="en-US" sz="1500">
                <a:solidFill>
                  <a:srgbClr val="DEE492"/>
                </a:solidFill>
                <a:latin typeface="Courier New"/>
                <a:ea typeface="Courier New"/>
                <a:cs typeface="Courier New"/>
                <a:sym typeface="Courier New"/>
              </a:rPr>
              <a:t>"</a:t>
            </a:r>
            <a:r>
              <a:rPr b="1" lang="en-US" sz="1500">
                <a:solidFill>
                  <a:srgbClr val="E7EE98"/>
                </a:solidFill>
                <a:latin typeface="Courier New"/>
                <a:ea typeface="Courier New"/>
                <a:cs typeface="Courier New"/>
                <a:sym typeface="Courier New"/>
              </a:rPr>
              <a:t>Group</a:t>
            </a:r>
            <a:r>
              <a:rPr b="1" lang="en-US" sz="1500">
                <a:solidFill>
                  <a:srgbClr val="DEE492"/>
                </a:solidFill>
                <a:latin typeface="Courier New"/>
                <a:ea typeface="Courier New"/>
                <a:cs typeface="Courier New"/>
                <a:sym typeface="Courier New"/>
              </a:rPr>
              <a:t>"</a:t>
            </a:r>
            <a:r>
              <a:rPr b="1" lang="en-US" sz="1500">
                <a:solidFill>
                  <a:srgbClr val="F6F6F4"/>
                </a:solidFill>
                <a:latin typeface="Courier New"/>
                <a:ea typeface="Courier New"/>
                <a:cs typeface="Courier New"/>
                <a:sym typeface="Courier New"/>
              </a:rPr>
              <a:t>, </a:t>
            </a:r>
            <a:r>
              <a:rPr b="1" lang="en-US" sz="1500">
                <a:solidFill>
                  <a:srgbClr val="BF9EEE"/>
                </a:solidFill>
                <a:latin typeface="Courier New"/>
                <a:ea typeface="Courier New"/>
                <a:cs typeface="Courier New"/>
                <a:sym typeface="Courier New"/>
              </a:rPr>
              <a:t>1500</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a:t>
            </a:r>
            <a:r>
              <a:rPr b="1" lang="en-US" sz="1500">
                <a:solidFill>
                  <a:srgbClr val="F286C4"/>
                </a:solidFill>
                <a:latin typeface="Courier New"/>
                <a:ea typeface="Courier New"/>
                <a:cs typeface="Courier New"/>
                <a:sym typeface="Courier New"/>
              </a:rPr>
              <a:t>static</a:t>
            </a:r>
            <a:r>
              <a:rPr b="1" lang="en-US" sz="1500">
                <a:solidFill>
                  <a:srgbClr val="F6F6F4"/>
                </a:solidFill>
                <a:latin typeface="Courier New"/>
                <a:ea typeface="Courier New"/>
                <a:cs typeface="Courier New"/>
                <a:sym typeface="Courier New"/>
              </a:rPr>
              <a:t> </a:t>
            </a:r>
            <a:r>
              <a:rPr b="1" lang="en-US" sz="1500">
                <a:solidFill>
                  <a:srgbClr val="97E1F1"/>
                </a:solidFill>
                <a:latin typeface="Courier New"/>
                <a:ea typeface="Courier New"/>
                <a:cs typeface="Courier New"/>
                <a:sym typeface="Courier New"/>
              </a:rPr>
              <a:t>MyThread</a:t>
            </a:r>
            <a:r>
              <a:rPr b="1" lang="en-US" sz="1500">
                <a:solidFill>
                  <a:srgbClr val="F6F6F4"/>
                </a:solidFill>
                <a:latin typeface="Courier New"/>
                <a:ea typeface="Courier New"/>
                <a:cs typeface="Courier New"/>
                <a:sym typeface="Courier New"/>
              </a:rPr>
              <a:t> t3 </a:t>
            </a:r>
            <a:r>
              <a:rPr b="1" lang="en-US" sz="1500">
                <a:solidFill>
                  <a:srgbClr val="F286C4"/>
                </a:solidFill>
                <a:latin typeface="Courier New"/>
                <a:ea typeface="Courier New"/>
                <a:cs typeface="Courier New"/>
                <a:sym typeface="Courier New"/>
              </a:rPr>
              <a:t>=</a:t>
            </a:r>
            <a:r>
              <a:rPr b="1" lang="en-US" sz="1500">
                <a:solidFill>
                  <a:srgbClr val="F6F6F4"/>
                </a:solidFill>
                <a:latin typeface="Courier New"/>
                <a:ea typeface="Courier New"/>
                <a:cs typeface="Courier New"/>
                <a:sym typeface="Courier New"/>
              </a:rPr>
              <a:t> </a:t>
            </a:r>
            <a:r>
              <a:rPr b="1" lang="en-US" sz="1500">
                <a:solidFill>
                  <a:srgbClr val="F286C4"/>
                </a:solidFill>
                <a:latin typeface="Courier New"/>
                <a:ea typeface="Courier New"/>
                <a:cs typeface="Courier New"/>
                <a:sym typeface="Courier New"/>
              </a:rPr>
              <a:t>new</a:t>
            </a:r>
            <a:r>
              <a:rPr b="1" lang="en-US" sz="1500">
                <a:solidFill>
                  <a:srgbClr val="F6F6F4"/>
                </a:solidFill>
                <a:latin typeface="Courier New"/>
                <a:ea typeface="Courier New"/>
                <a:cs typeface="Courier New"/>
                <a:sym typeface="Courier New"/>
              </a:rPr>
              <a:t> </a:t>
            </a:r>
            <a:r>
              <a:rPr b="1" lang="en-US" sz="1500">
                <a:solidFill>
                  <a:srgbClr val="62E884"/>
                </a:solidFill>
                <a:latin typeface="Courier New"/>
                <a:ea typeface="Courier New"/>
                <a:cs typeface="Courier New"/>
                <a:sym typeface="Courier New"/>
              </a:rPr>
              <a:t>MyThread</a:t>
            </a:r>
            <a:r>
              <a:rPr b="1" lang="en-US" sz="1500">
                <a:solidFill>
                  <a:srgbClr val="F6F6F4"/>
                </a:solidFill>
                <a:latin typeface="Courier New"/>
                <a:ea typeface="Courier New"/>
                <a:cs typeface="Courier New"/>
                <a:sym typeface="Courier New"/>
              </a:rPr>
              <a:t>(</a:t>
            </a:r>
            <a:r>
              <a:rPr b="1" lang="en-US" sz="1500">
                <a:solidFill>
                  <a:srgbClr val="DEE492"/>
                </a:solidFill>
                <a:latin typeface="Courier New"/>
                <a:ea typeface="Courier New"/>
                <a:cs typeface="Courier New"/>
                <a:sym typeface="Courier New"/>
              </a:rPr>
              <a:t>"</a:t>
            </a:r>
            <a:r>
              <a:rPr b="1" lang="en-US" sz="1500">
                <a:solidFill>
                  <a:srgbClr val="E7EE98"/>
                </a:solidFill>
                <a:latin typeface="Courier New"/>
                <a:ea typeface="Courier New"/>
                <a:cs typeface="Courier New"/>
                <a:sym typeface="Courier New"/>
              </a:rPr>
              <a:t>Five</a:t>
            </a:r>
            <a:r>
              <a:rPr b="1" lang="en-US" sz="1500">
                <a:solidFill>
                  <a:srgbClr val="DEE492"/>
                </a:solidFill>
                <a:latin typeface="Courier New"/>
                <a:ea typeface="Courier New"/>
                <a:cs typeface="Courier New"/>
                <a:sym typeface="Courier New"/>
              </a:rPr>
              <a:t>"</a:t>
            </a:r>
            <a:r>
              <a:rPr b="1" lang="en-US" sz="1500">
                <a:solidFill>
                  <a:srgbClr val="F6F6F4"/>
                </a:solidFill>
                <a:latin typeface="Courier New"/>
                <a:ea typeface="Courier New"/>
                <a:cs typeface="Courier New"/>
                <a:sym typeface="Courier New"/>
              </a:rPr>
              <a:t>, </a:t>
            </a:r>
            <a:r>
              <a:rPr b="1" lang="en-US" sz="1500">
                <a:solidFill>
                  <a:srgbClr val="BF9EEE"/>
                </a:solidFill>
                <a:latin typeface="Courier New"/>
                <a:ea typeface="Courier New"/>
                <a:cs typeface="Courier New"/>
                <a:sym typeface="Courier New"/>
              </a:rPr>
              <a:t>2000</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a:t>
            </a:r>
            <a:r>
              <a:rPr b="1" lang="en-US" sz="1500">
                <a:solidFill>
                  <a:srgbClr val="F286C4"/>
                </a:solidFill>
                <a:latin typeface="Courier New"/>
                <a:ea typeface="Courier New"/>
                <a:cs typeface="Courier New"/>
                <a:sym typeface="Courier New"/>
              </a:rPr>
              <a:t>public</a:t>
            </a:r>
            <a:r>
              <a:rPr b="1" lang="en-US" sz="1500">
                <a:solidFill>
                  <a:srgbClr val="F6F6F4"/>
                </a:solidFill>
                <a:latin typeface="Courier New"/>
                <a:ea typeface="Courier New"/>
                <a:cs typeface="Courier New"/>
                <a:sym typeface="Courier New"/>
              </a:rPr>
              <a:t> </a:t>
            </a:r>
            <a:r>
              <a:rPr b="1" lang="en-US" sz="1500">
                <a:solidFill>
                  <a:srgbClr val="F286C4"/>
                </a:solidFill>
                <a:latin typeface="Courier New"/>
                <a:ea typeface="Courier New"/>
                <a:cs typeface="Courier New"/>
                <a:sym typeface="Courier New"/>
              </a:rPr>
              <a:t>static</a:t>
            </a:r>
            <a:r>
              <a:rPr b="1" lang="en-US" sz="1500">
                <a:solidFill>
                  <a:srgbClr val="F6F6F4"/>
                </a:solidFill>
                <a:latin typeface="Courier New"/>
                <a:ea typeface="Courier New"/>
                <a:cs typeface="Courier New"/>
                <a:sym typeface="Courier New"/>
              </a:rPr>
              <a:t> </a:t>
            </a:r>
            <a:r>
              <a:rPr b="1" i="1" lang="en-US" sz="1500">
                <a:solidFill>
                  <a:srgbClr val="97E1F1"/>
                </a:solidFill>
                <a:latin typeface="Courier New"/>
                <a:ea typeface="Courier New"/>
                <a:cs typeface="Courier New"/>
                <a:sym typeface="Courier New"/>
              </a:rPr>
              <a:t>void</a:t>
            </a:r>
            <a:r>
              <a:rPr b="1" lang="en-US" sz="1500">
                <a:solidFill>
                  <a:srgbClr val="F6F6F4"/>
                </a:solidFill>
                <a:latin typeface="Courier New"/>
                <a:ea typeface="Courier New"/>
                <a:cs typeface="Courier New"/>
                <a:sym typeface="Courier New"/>
              </a:rPr>
              <a:t> </a:t>
            </a:r>
            <a:r>
              <a:rPr b="1" lang="en-US" sz="1500">
                <a:solidFill>
                  <a:srgbClr val="62E884"/>
                </a:solidFill>
                <a:latin typeface="Courier New"/>
                <a:ea typeface="Courier New"/>
                <a:cs typeface="Courier New"/>
                <a:sym typeface="Courier New"/>
              </a:rPr>
              <a:t>main</a:t>
            </a:r>
            <a:r>
              <a:rPr b="1" lang="en-US" sz="1500">
                <a:solidFill>
                  <a:srgbClr val="F6F6F4"/>
                </a:solidFill>
                <a:latin typeface="Courier New"/>
                <a:ea typeface="Courier New"/>
                <a:cs typeface="Courier New"/>
                <a:sym typeface="Courier New"/>
              </a:rPr>
              <a:t>(</a:t>
            </a:r>
            <a:r>
              <a:rPr b="1" lang="en-US" sz="1500">
                <a:solidFill>
                  <a:srgbClr val="97E1F1"/>
                </a:solidFill>
                <a:latin typeface="Courier New"/>
                <a:ea typeface="Courier New"/>
                <a:cs typeface="Courier New"/>
                <a:sym typeface="Courier New"/>
              </a:rPr>
              <a:t>String</a:t>
            </a:r>
            <a:r>
              <a:rPr b="1" lang="en-US" sz="1500">
                <a:solidFill>
                  <a:srgbClr val="F6F6F4"/>
                </a:solidFill>
                <a:latin typeface="Courier New"/>
                <a:ea typeface="Courier New"/>
                <a:cs typeface="Courier New"/>
                <a:sym typeface="Courier New"/>
              </a:rPr>
              <a:t>[] </a:t>
            </a:r>
            <a:r>
              <a:rPr b="1" i="1" lang="en-US" sz="1500">
                <a:solidFill>
                  <a:srgbClr val="FFB86C"/>
                </a:solidFill>
                <a:latin typeface="Courier New"/>
                <a:ea typeface="Courier New"/>
                <a:cs typeface="Courier New"/>
                <a:sym typeface="Courier New"/>
              </a:rPr>
              <a:t>args</a:t>
            </a:r>
            <a:r>
              <a:rPr b="1" lang="en-US" sz="1500">
                <a:solidFill>
                  <a:srgbClr val="F6F6F4"/>
                </a:solidFill>
                <a:latin typeface="Courier New"/>
                <a:ea typeface="Courier New"/>
                <a:cs typeface="Courier New"/>
                <a:sym typeface="Courier New"/>
              </a:rPr>
              <a:t>) {</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a:t>
            </a:r>
            <a:r>
              <a:rPr b="1" lang="en-US" sz="1500">
                <a:solidFill>
                  <a:srgbClr val="7B7F8B"/>
                </a:solidFill>
                <a:latin typeface="Courier New"/>
                <a:ea typeface="Courier New"/>
                <a:cs typeface="Courier New"/>
                <a:sym typeface="Courier New"/>
              </a:rPr>
              <a:t>// Khởi động thread</a:t>
            </a:r>
            <a:endParaRPr b="1" sz="1500">
              <a:solidFill>
                <a:srgbClr val="7B7F8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t1.</a:t>
            </a:r>
            <a:r>
              <a:rPr b="1" lang="en-US" sz="1500">
                <a:solidFill>
                  <a:srgbClr val="62E884"/>
                </a:solidFill>
                <a:latin typeface="Courier New"/>
                <a:ea typeface="Courier New"/>
                <a:cs typeface="Courier New"/>
                <a:sym typeface="Courier New"/>
              </a:rPr>
              <a:t>start</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t2.</a:t>
            </a:r>
            <a:r>
              <a:rPr b="1" lang="en-US" sz="1500">
                <a:solidFill>
                  <a:srgbClr val="62E884"/>
                </a:solidFill>
                <a:latin typeface="Courier New"/>
                <a:ea typeface="Courier New"/>
                <a:cs typeface="Courier New"/>
                <a:sym typeface="Courier New"/>
              </a:rPr>
              <a:t>start</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rgbClr val="F6F6F4"/>
                </a:solidFill>
                <a:latin typeface="Courier New"/>
                <a:ea typeface="Courier New"/>
                <a:cs typeface="Courier New"/>
                <a:sym typeface="Courier New"/>
              </a:rPr>
              <a:t>        t3.</a:t>
            </a:r>
            <a:r>
              <a:rPr b="1" lang="en-US" sz="1500">
                <a:solidFill>
                  <a:srgbClr val="62E884"/>
                </a:solidFill>
                <a:latin typeface="Courier New"/>
                <a:ea typeface="Courier New"/>
                <a:cs typeface="Courier New"/>
                <a:sym typeface="Courier New"/>
              </a:rPr>
              <a:t>start</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304800" lvl="0" marL="0" rtl="0" algn="l">
              <a:lnSpc>
                <a:spcPct val="135714"/>
              </a:lnSpc>
              <a:spcBef>
                <a:spcPts val="0"/>
              </a:spcBef>
              <a:spcAft>
                <a:spcPts val="0"/>
              </a:spcAft>
              <a:buClr>
                <a:schemeClr val="dk1"/>
              </a:buClr>
              <a:buSzPts val="700"/>
              <a:buFont typeface="Arial"/>
              <a:buNone/>
            </a:pPr>
            <a:r>
              <a:rPr b="1" lang="en-US" sz="1500">
                <a:solidFill>
                  <a:srgbClr val="F286C4"/>
                </a:solidFill>
                <a:latin typeface="Courier New"/>
                <a:ea typeface="Courier New"/>
                <a:cs typeface="Courier New"/>
                <a:sym typeface="Courier New"/>
              </a:rPr>
              <a:t>try</a:t>
            </a:r>
            <a:r>
              <a:rPr b="1" lang="en-US" sz="1500">
                <a:solidFill>
                  <a:srgbClr val="F6F6F4"/>
                </a:solidFill>
                <a:latin typeface="Courier New"/>
                <a:ea typeface="Courier New"/>
                <a:cs typeface="Courier New"/>
                <a:sym typeface="Courier New"/>
              </a:rPr>
              <a:t> {</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t1.</a:t>
            </a:r>
            <a:r>
              <a:rPr b="1" lang="en-US" sz="1500">
                <a:solidFill>
                  <a:srgbClr val="62E884"/>
                </a:solidFill>
                <a:latin typeface="Courier New"/>
                <a:ea typeface="Courier New"/>
                <a:cs typeface="Courier New"/>
                <a:sym typeface="Courier New"/>
              </a:rPr>
              <a:t>join</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t2.</a:t>
            </a:r>
            <a:r>
              <a:rPr b="1" lang="en-US" sz="1500">
                <a:solidFill>
                  <a:srgbClr val="62E884"/>
                </a:solidFill>
                <a:latin typeface="Courier New"/>
                <a:ea typeface="Courier New"/>
                <a:cs typeface="Courier New"/>
                <a:sym typeface="Courier New"/>
              </a:rPr>
              <a:t>join</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t3.</a:t>
            </a:r>
            <a:r>
              <a:rPr b="1" lang="en-US" sz="1500">
                <a:solidFill>
                  <a:srgbClr val="62E884"/>
                </a:solidFill>
                <a:latin typeface="Courier New"/>
                <a:ea typeface="Courier New"/>
                <a:cs typeface="Courier New"/>
                <a:sym typeface="Courier New"/>
              </a:rPr>
              <a:t>join</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 </a:t>
            </a:r>
            <a:r>
              <a:rPr b="1" lang="en-US" sz="1500">
                <a:solidFill>
                  <a:srgbClr val="F286C4"/>
                </a:solidFill>
                <a:latin typeface="Courier New"/>
                <a:ea typeface="Courier New"/>
                <a:cs typeface="Courier New"/>
                <a:sym typeface="Courier New"/>
              </a:rPr>
              <a:t>catch</a:t>
            </a:r>
            <a:r>
              <a:rPr b="1" lang="en-US" sz="1500">
                <a:solidFill>
                  <a:srgbClr val="F6F6F4"/>
                </a:solidFill>
                <a:latin typeface="Courier New"/>
                <a:ea typeface="Courier New"/>
                <a:cs typeface="Courier New"/>
                <a:sym typeface="Courier New"/>
              </a:rPr>
              <a:t> (</a:t>
            </a:r>
            <a:r>
              <a:rPr b="1" lang="en-US" sz="1500">
                <a:solidFill>
                  <a:srgbClr val="97E1F1"/>
                </a:solidFill>
                <a:latin typeface="Courier New"/>
                <a:ea typeface="Courier New"/>
                <a:cs typeface="Courier New"/>
                <a:sym typeface="Courier New"/>
              </a:rPr>
              <a:t>InterruptedException</a:t>
            </a:r>
            <a:r>
              <a:rPr b="1" lang="en-US" sz="1500">
                <a:solidFill>
                  <a:srgbClr val="F6F6F4"/>
                </a:solidFill>
                <a:latin typeface="Courier New"/>
                <a:ea typeface="Courier New"/>
                <a:cs typeface="Courier New"/>
                <a:sym typeface="Courier New"/>
              </a:rPr>
              <a:t> </a:t>
            </a:r>
            <a:r>
              <a:rPr b="1" i="1" lang="en-US" sz="1500">
                <a:solidFill>
                  <a:srgbClr val="F6F6F4"/>
                </a:solidFill>
                <a:latin typeface="Courier New"/>
                <a:ea typeface="Courier New"/>
                <a:cs typeface="Courier New"/>
                <a:sym typeface="Courier New"/>
              </a:rPr>
              <a:t>e</a:t>
            </a:r>
            <a:r>
              <a:rPr b="1" lang="en-US" sz="1500">
                <a:solidFill>
                  <a:srgbClr val="F6F6F4"/>
                </a:solidFill>
                <a:latin typeface="Courier New"/>
                <a:ea typeface="Courier New"/>
                <a:cs typeface="Courier New"/>
                <a:sym typeface="Courier New"/>
              </a:rPr>
              <a:t>) {</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e.</a:t>
            </a:r>
            <a:r>
              <a:rPr b="1" lang="en-US" sz="1500">
                <a:solidFill>
                  <a:srgbClr val="62E884"/>
                </a:solidFill>
                <a:latin typeface="Courier New"/>
                <a:ea typeface="Courier New"/>
                <a:cs typeface="Courier New"/>
                <a:sym typeface="Courier New"/>
              </a:rPr>
              <a:t>printStackTrace</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a:t>
            </a:r>
            <a:r>
              <a:rPr b="1" lang="en-US" sz="1500">
                <a:solidFill>
                  <a:srgbClr val="97E1F1"/>
                </a:solidFill>
                <a:latin typeface="Courier New"/>
                <a:ea typeface="Courier New"/>
                <a:cs typeface="Courier New"/>
                <a:sym typeface="Courier New"/>
              </a:rPr>
              <a:t>System</a:t>
            </a:r>
            <a:r>
              <a:rPr b="1" lang="en-US" sz="1500">
                <a:solidFill>
                  <a:srgbClr val="F6F6F4"/>
                </a:solidFill>
                <a:latin typeface="Courier New"/>
                <a:ea typeface="Courier New"/>
                <a:cs typeface="Courier New"/>
                <a:sym typeface="Courier New"/>
              </a:rPr>
              <a:t>.</a:t>
            </a:r>
            <a:r>
              <a:rPr b="1" lang="en-US" sz="1500">
                <a:solidFill>
                  <a:srgbClr val="BF9EEE"/>
                </a:solidFill>
                <a:latin typeface="Courier New"/>
                <a:ea typeface="Courier New"/>
                <a:cs typeface="Courier New"/>
                <a:sym typeface="Courier New"/>
              </a:rPr>
              <a:t>out</a:t>
            </a:r>
            <a:r>
              <a:rPr b="1" lang="en-US" sz="1500">
                <a:solidFill>
                  <a:srgbClr val="F6F6F4"/>
                </a:solidFill>
                <a:latin typeface="Courier New"/>
                <a:ea typeface="Courier New"/>
                <a:cs typeface="Courier New"/>
                <a:sym typeface="Courier New"/>
              </a:rPr>
              <a:t>.</a:t>
            </a:r>
            <a:r>
              <a:rPr b="1" lang="en-US" sz="1500">
                <a:solidFill>
                  <a:srgbClr val="62E884"/>
                </a:solidFill>
                <a:latin typeface="Courier New"/>
                <a:ea typeface="Courier New"/>
                <a:cs typeface="Courier New"/>
                <a:sym typeface="Courier New"/>
              </a:rPr>
              <a:t>println</a:t>
            </a:r>
            <a:r>
              <a:rPr b="1" lang="en-US" sz="1500">
                <a:solidFill>
                  <a:srgbClr val="F6F6F4"/>
                </a:solidFill>
                <a:latin typeface="Courier New"/>
                <a:ea typeface="Courier New"/>
                <a:cs typeface="Courier New"/>
                <a:sym typeface="Courier New"/>
              </a:rPr>
              <a:t>(</a:t>
            </a:r>
            <a:r>
              <a:rPr b="1" lang="en-US" sz="1500">
                <a:solidFill>
                  <a:srgbClr val="DEE492"/>
                </a:solidFill>
                <a:latin typeface="Courier New"/>
                <a:ea typeface="Courier New"/>
                <a:cs typeface="Courier New"/>
                <a:sym typeface="Courier New"/>
              </a:rPr>
              <a:t>"</a:t>
            </a:r>
            <a:r>
              <a:rPr b="1" lang="en-US" sz="1500">
                <a:solidFill>
                  <a:srgbClr val="E7EE98"/>
                </a:solidFill>
                <a:latin typeface="Courier New"/>
                <a:ea typeface="Courier New"/>
                <a:cs typeface="Courier New"/>
                <a:sym typeface="Courier New"/>
              </a:rPr>
              <a:t>Tat ca cac thread đa hoan thanh!</a:t>
            </a:r>
            <a:r>
              <a:rPr b="1" lang="en-US" sz="1500">
                <a:solidFill>
                  <a:srgbClr val="DEE492"/>
                </a:solidFill>
                <a:latin typeface="Courier New"/>
                <a:ea typeface="Courier New"/>
                <a:cs typeface="Courier New"/>
                <a:sym typeface="Courier New"/>
              </a:rPr>
              <a:t>"</a:t>
            </a: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    }</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500">
                <a:solidFill>
                  <a:srgbClr val="F6F6F4"/>
                </a:solidFill>
                <a:latin typeface="Courier New"/>
                <a:ea typeface="Courier New"/>
                <a:cs typeface="Courier New"/>
                <a:sym typeface="Courier New"/>
              </a:rPr>
              <a:t>}</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5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2100">
              <a:solidFill>
                <a:schemeClr val="hlink"/>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2200">
              <a:solidFill>
                <a:schemeClr val="dk1"/>
              </a:solidFill>
              <a:latin typeface="Courier New"/>
              <a:ea typeface="Courier New"/>
              <a:cs typeface="Courier New"/>
              <a:sym typeface="Courier New"/>
            </a:endParaRPr>
          </a:p>
        </p:txBody>
      </p:sp>
      <p:sp>
        <p:nvSpPr>
          <p:cNvPr id="419" name="Google Shape;419;p5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425" name="Google Shape;425;p51"/>
          <p:cNvSpPr txBox="1"/>
          <p:nvPr/>
        </p:nvSpPr>
        <p:spPr>
          <a:xfrm>
            <a:off x="574944" y="489663"/>
            <a:ext cx="120756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1100"/>
              <a:buNone/>
            </a:pPr>
            <a:r>
              <a:rPr b="1" lang="en-US" sz="3000">
                <a:solidFill>
                  <a:schemeClr val="dk1"/>
                </a:solidFill>
              </a:rPr>
              <a:t>RUNNABLE</a:t>
            </a:r>
            <a:r>
              <a:rPr b="1" lang="en-US" sz="3000">
                <a:solidFill>
                  <a:schemeClr val="dk1"/>
                </a:solidFill>
              </a:rPr>
              <a:t> VÀ CÁCH TẠO RUNNABLE</a:t>
            </a:r>
            <a:endParaRPr sz="900"/>
          </a:p>
        </p:txBody>
      </p:sp>
      <p:sp>
        <p:nvSpPr>
          <p:cNvPr id="426" name="Google Shape;426;p51"/>
          <p:cNvSpPr txBox="1"/>
          <p:nvPr/>
        </p:nvSpPr>
        <p:spPr>
          <a:xfrm>
            <a:off x="329825" y="1723150"/>
            <a:ext cx="11301000" cy="30024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rgbClr val="000000"/>
              </a:buClr>
              <a:buSzPts val="1900"/>
              <a:buFont typeface="Arial"/>
              <a:buChar char="❖"/>
            </a:pPr>
            <a:r>
              <a:rPr lang="en-US" sz="1900">
                <a:solidFill>
                  <a:srgbClr val="000000"/>
                </a:solidFill>
              </a:rPr>
              <a:t>Runnable là một interface (giao diện) được sử dụng để định nghĩa một tác vụ (task) mà bạn muốn thực thi trong một thread. Nó là một cách phổ biến và linh hoạt để tạo các thread trong lập trình đa luồng (multithreading) </a:t>
            </a:r>
            <a:endParaRPr sz="1900">
              <a:solidFill>
                <a:srgbClr val="000000"/>
              </a:solidFill>
            </a:endParaRPr>
          </a:p>
          <a:p>
            <a:pPr indent="-349250" lvl="0" marL="457200" rtl="0" algn="l">
              <a:lnSpc>
                <a:spcPct val="115000"/>
              </a:lnSpc>
              <a:spcBef>
                <a:spcPts val="0"/>
              </a:spcBef>
              <a:spcAft>
                <a:spcPts val="0"/>
              </a:spcAft>
              <a:buClr>
                <a:srgbClr val="000000"/>
              </a:buClr>
              <a:buSzPts val="1900"/>
              <a:buFont typeface="Arial"/>
              <a:buChar char="❖"/>
            </a:pPr>
            <a:r>
              <a:rPr lang="en-US" sz="1900">
                <a:solidFill>
                  <a:srgbClr val="000000"/>
                </a:solidFill>
              </a:rPr>
              <a:t>Runnable cho phép bạn định nghĩa công việc (task) riêng biệt, sau đó truyền nó vào một đối tượng Thread để thực thi.</a:t>
            </a:r>
            <a:endParaRPr sz="1900">
              <a:solidFill>
                <a:srgbClr val="000000"/>
              </a:solidFill>
            </a:endParaRPr>
          </a:p>
          <a:p>
            <a:pPr indent="-349250" lvl="0" marL="457200" rtl="0" algn="l">
              <a:spcBef>
                <a:spcPts val="0"/>
              </a:spcBef>
              <a:spcAft>
                <a:spcPts val="0"/>
              </a:spcAft>
              <a:buClr>
                <a:srgbClr val="000000"/>
              </a:buClr>
              <a:buSzPts val="1900"/>
              <a:buFont typeface="Lato"/>
              <a:buChar char="❖"/>
            </a:pPr>
            <a:r>
              <a:rPr lang="en-US" sz="1900">
                <a:solidFill>
                  <a:schemeClr val="dk1"/>
                </a:solidFill>
              </a:rPr>
              <a:t>Triển khai interface Runnable: Tạo một lớp triển khai interface Runnable và định nghĩa phương thức run(). Truyền đối tượng này vào một đối tượng Thread và gọi start(). </a:t>
            </a:r>
            <a:endParaRPr sz="1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430" name="Shape 430"/>
        <p:cNvGrpSpPr/>
        <p:nvPr/>
      </p:nvGrpSpPr>
      <p:grpSpPr>
        <a:xfrm>
          <a:off x="0" y="0"/>
          <a:ext cx="0" cy="0"/>
          <a:chOff x="0" y="0"/>
          <a:chExt cx="0" cy="0"/>
        </a:xfrm>
      </p:grpSpPr>
      <p:sp>
        <p:nvSpPr>
          <p:cNvPr id="431" name="Google Shape;431;p52"/>
          <p:cNvSpPr txBox="1"/>
          <p:nvPr/>
        </p:nvSpPr>
        <p:spPr>
          <a:xfrm>
            <a:off x="483969" y="228088"/>
            <a:ext cx="120756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BÀI TẬP</a:t>
            </a:r>
            <a:endParaRPr sz="900"/>
          </a:p>
        </p:txBody>
      </p:sp>
      <p:sp>
        <p:nvSpPr>
          <p:cNvPr id="432" name="Google Shape;432;p52"/>
          <p:cNvSpPr txBox="1"/>
          <p:nvPr/>
        </p:nvSpPr>
        <p:spPr>
          <a:xfrm>
            <a:off x="483969" y="1178285"/>
            <a:ext cx="10413900" cy="3849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b="1" lang="en-US" sz="2100"/>
              <a:t>Ví dụ về Runnable </a:t>
            </a:r>
            <a:endParaRPr b="1" sz="2100">
              <a:solidFill>
                <a:schemeClr val="dk1"/>
              </a:solidFill>
              <a:latin typeface="Calibri"/>
              <a:ea typeface="Calibri"/>
              <a:cs typeface="Calibri"/>
              <a:sym typeface="Calibri"/>
            </a:endParaRPr>
          </a:p>
        </p:txBody>
      </p:sp>
      <p:sp>
        <p:nvSpPr>
          <p:cNvPr id="433" name="Google Shape;433;p52"/>
          <p:cNvSpPr txBox="1"/>
          <p:nvPr/>
        </p:nvSpPr>
        <p:spPr>
          <a:xfrm>
            <a:off x="5355600" y="552350"/>
            <a:ext cx="6836400" cy="59544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b="1" lang="en-US" sz="1800">
                <a:solidFill>
                  <a:srgbClr val="0000FF"/>
                </a:solidFill>
                <a:latin typeface="Courier New"/>
                <a:ea typeface="Courier New"/>
                <a:cs typeface="Courier New"/>
                <a:sym typeface="Courier New"/>
              </a:rPr>
              <a:t>class</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MyRunnable</a:t>
            </a: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implements</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Runnable</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public</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void</a:t>
            </a:r>
            <a:r>
              <a:rPr b="1" lang="en-US" sz="1800">
                <a:solidFill>
                  <a:schemeClr val="dk1"/>
                </a:solidFill>
                <a:latin typeface="Courier New"/>
                <a:ea typeface="Courier New"/>
                <a:cs typeface="Courier New"/>
                <a:sym typeface="Courier New"/>
              </a:rPr>
              <a:t> </a:t>
            </a:r>
            <a:r>
              <a:rPr b="1" lang="en-US" sz="1800">
                <a:solidFill>
                  <a:srgbClr val="74531F"/>
                </a:solidFill>
                <a:latin typeface="Courier New"/>
                <a:ea typeface="Courier New"/>
                <a:cs typeface="Courier New"/>
                <a:sym typeface="Courier New"/>
              </a:rPr>
              <a:t>run</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8F08C4"/>
                </a:solidFill>
                <a:latin typeface="Courier New"/>
                <a:ea typeface="Courier New"/>
                <a:cs typeface="Courier New"/>
                <a:sym typeface="Courier New"/>
              </a:rPr>
              <a:t>for</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int</a:t>
            </a: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i</a:t>
            </a:r>
            <a:r>
              <a:rPr b="1" lang="en-US" sz="1800">
                <a:solidFill>
                  <a:schemeClr val="dk1"/>
                </a:solidFill>
                <a:latin typeface="Courier New"/>
                <a:ea typeface="Courier New"/>
                <a:cs typeface="Courier New"/>
                <a:sym typeface="Courier New"/>
              </a:rPr>
              <a:t> = </a:t>
            </a:r>
            <a:r>
              <a:rPr b="1" lang="en-US" sz="1800">
                <a:solidFill>
                  <a:srgbClr val="098658"/>
                </a:solidFill>
                <a:latin typeface="Courier New"/>
                <a:ea typeface="Courier New"/>
                <a:cs typeface="Courier New"/>
                <a:sym typeface="Courier New"/>
              </a:rPr>
              <a:t>0</a:t>
            </a: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i</a:t>
            </a:r>
            <a:r>
              <a:rPr b="1" lang="en-US" sz="1800">
                <a:solidFill>
                  <a:schemeClr val="dk1"/>
                </a:solidFill>
                <a:latin typeface="Courier New"/>
                <a:ea typeface="Courier New"/>
                <a:cs typeface="Courier New"/>
                <a:sym typeface="Courier New"/>
              </a:rPr>
              <a:t> &lt; </a:t>
            </a:r>
            <a:r>
              <a:rPr b="1" lang="en-US" sz="1800">
                <a:solidFill>
                  <a:srgbClr val="098658"/>
                </a:solidFill>
                <a:latin typeface="Courier New"/>
                <a:ea typeface="Courier New"/>
                <a:cs typeface="Courier New"/>
                <a:sym typeface="Courier New"/>
              </a:rPr>
              <a:t>5</a:t>
            </a: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i</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System</a:t>
            </a:r>
            <a:r>
              <a:rPr b="1" lang="en-US" sz="1800">
                <a:solidFill>
                  <a:schemeClr val="dk1"/>
                </a:solidFill>
                <a:latin typeface="Courier New"/>
                <a:ea typeface="Courier New"/>
                <a:cs typeface="Courier New"/>
                <a:sym typeface="Courier New"/>
              </a:rPr>
              <a:t>.out.</a:t>
            </a:r>
            <a:r>
              <a:rPr b="1" lang="en-US" sz="1800">
                <a:solidFill>
                  <a:srgbClr val="74531F"/>
                </a:solidFill>
                <a:latin typeface="Courier New"/>
                <a:ea typeface="Courier New"/>
                <a:cs typeface="Courier New"/>
                <a:sym typeface="Courier New"/>
              </a:rPr>
              <a:t>println</a:t>
            </a:r>
            <a:r>
              <a:rPr b="1" lang="en-US" sz="1800">
                <a:solidFill>
                  <a:schemeClr val="dk1"/>
                </a:solidFill>
                <a:latin typeface="Courier New"/>
                <a:ea typeface="Courier New"/>
                <a:cs typeface="Courier New"/>
                <a:sym typeface="Courier New"/>
              </a:rPr>
              <a:t>(</a:t>
            </a:r>
            <a:r>
              <a:rPr b="1" lang="en-US" sz="1800">
                <a:solidFill>
                  <a:srgbClr val="E21F1F"/>
                </a:solidFill>
                <a:latin typeface="Courier New"/>
                <a:ea typeface="Courier New"/>
                <a:cs typeface="Courier New"/>
                <a:sym typeface="Courier New"/>
              </a:rPr>
              <a:t>"</a:t>
            </a:r>
            <a:r>
              <a:rPr b="1" lang="en-US" sz="1800">
                <a:solidFill>
                  <a:srgbClr val="A31515"/>
                </a:solidFill>
                <a:latin typeface="Courier New"/>
                <a:ea typeface="Courier New"/>
                <a:cs typeface="Courier New"/>
                <a:sym typeface="Courier New"/>
              </a:rPr>
              <a:t>Hello</a:t>
            </a:r>
            <a:r>
              <a:rPr b="1" lang="en-US" sz="1800">
                <a:solidFill>
                  <a:srgbClr val="E21F1F"/>
                </a:solidFill>
                <a:latin typeface="Courier New"/>
                <a:ea typeface="Courier New"/>
                <a:cs typeface="Courier New"/>
                <a:sym typeface="Courier New"/>
              </a:rPr>
              <a:t>"</a:t>
            </a:r>
            <a:r>
              <a:rPr b="1" lang="en-US"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rgbClr val="0000FF"/>
                </a:solidFill>
                <a:latin typeface="Courier New"/>
                <a:ea typeface="Courier New"/>
                <a:cs typeface="Courier New"/>
                <a:sym typeface="Courier New"/>
              </a:rPr>
              <a:t>public</a:t>
            </a: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class</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RunnableExample</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public</a:t>
            </a:r>
            <a:r>
              <a:rPr b="1" lang="en-US" sz="1800">
                <a:solidFill>
                  <a:schemeClr val="dk1"/>
                </a:solidFill>
                <a:latin typeface="Courier New"/>
                <a:ea typeface="Courier New"/>
                <a:cs typeface="Courier New"/>
                <a:sym typeface="Courier New"/>
              </a:rPr>
              <a:t> </a:t>
            </a:r>
            <a:r>
              <a:rPr b="1" lang="en-US" sz="1800">
                <a:solidFill>
                  <a:srgbClr val="0000FF"/>
                </a:solidFill>
                <a:latin typeface="Courier New"/>
                <a:ea typeface="Courier New"/>
                <a:cs typeface="Courier New"/>
                <a:sym typeface="Courier New"/>
              </a:rPr>
              <a:t>static</a:t>
            </a: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void</a:t>
            </a:r>
            <a:r>
              <a:rPr b="1" lang="en-US" sz="1800">
                <a:solidFill>
                  <a:schemeClr val="dk1"/>
                </a:solidFill>
                <a:latin typeface="Courier New"/>
                <a:ea typeface="Courier New"/>
                <a:cs typeface="Courier New"/>
                <a:sym typeface="Courier New"/>
              </a:rPr>
              <a:t> </a:t>
            </a:r>
            <a:r>
              <a:rPr b="1" lang="en-US" sz="1800">
                <a:solidFill>
                  <a:srgbClr val="74531F"/>
                </a:solidFill>
                <a:latin typeface="Courier New"/>
                <a:ea typeface="Courier New"/>
                <a:cs typeface="Courier New"/>
                <a:sym typeface="Courier New"/>
              </a:rPr>
              <a:t>main</a:t>
            </a:r>
            <a:r>
              <a:rPr b="1" lang="en-US" sz="1800">
                <a:solidFill>
                  <a:schemeClr val="dk1"/>
                </a:solidFill>
                <a:latin typeface="Courier New"/>
                <a:ea typeface="Courier New"/>
                <a:cs typeface="Courier New"/>
                <a:sym typeface="Courier New"/>
              </a:rPr>
              <a:t>(</a:t>
            </a:r>
            <a:r>
              <a:rPr b="1" lang="en-US" sz="1800">
                <a:solidFill>
                  <a:srgbClr val="2B91AF"/>
                </a:solidFill>
                <a:latin typeface="Courier New"/>
                <a:ea typeface="Courier New"/>
                <a:cs typeface="Courier New"/>
                <a:sym typeface="Courier New"/>
              </a:rPr>
              <a:t>String</a:t>
            </a:r>
            <a:r>
              <a:rPr b="1" lang="en-US" sz="1800">
                <a:solidFill>
                  <a:schemeClr val="dk1"/>
                </a:solidFill>
                <a:latin typeface="Courier New"/>
                <a:ea typeface="Courier New"/>
                <a:cs typeface="Courier New"/>
                <a:sym typeface="Courier New"/>
              </a:rPr>
              <a:t>[] </a:t>
            </a:r>
            <a:r>
              <a:rPr b="1" lang="en-US" sz="1800">
                <a:solidFill>
                  <a:srgbClr val="808080"/>
                </a:solidFill>
                <a:latin typeface="Courier New"/>
                <a:ea typeface="Courier New"/>
                <a:cs typeface="Courier New"/>
                <a:sym typeface="Courier New"/>
              </a:rPr>
              <a:t>args</a:t>
            </a: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2B91AF"/>
                </a:solidFill>
                <a:latin typeface="Courier New"/>
                <a:ea typeface="Courier New"/>
                <a:cs typeface="Courier New"/>
                <a:sym typeface="Courier New"/>
              </a:rPr>
              <a:t>Thread</a:t>
            </a: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t1</a:t>
            </a:r>
            <a:r>
              <a:rPr b="1" lang="en-US" sz="1800">
                <a:solidFill>
                  <a:schemeClr val="dk1"/>
                </a:solidFill>
                <a:latin typeface="Courier New"/>
                <a:ea typeface="Courier New"/>
                <a:cs typeface="Courier New"/>
                <a:sym typeface="Courier New"/>
              </a:rPr>
              <a:t> = </a:t>
            </a:r>
            <a:r>
              <a:rPr b="1" lang="en-US" sz="1800">
                <a:solidFill>
                  <a:srgbClr val="8F08C4"/>
                </a:solidFill>
                <a:latin typeface="Courier New"/>
                <a:ea typeface="Courier New"/>
                <a:cs typeface="Courier New"/>
                <a:sym typeface="Courier New"/>
              </a:rPr>
              <a:t>new</a:t>
            </a:r>
            <a:r>
              <a:rPr b="1" lang="en-US" sz="1800">
                <a:solidFill>
                  <a:schemeClr val="dk1"/>
                </a:solidFill>
                <a:latin typeface="Courier New"/>
                <a:ea typeface="Courier New"/>
                <a:cs typeface="Courier New"/>
                <a:sym typeface="Courier New"/>
              </a:rPr>
              <a:t> </a:t>
            </a:r>
            <a:r>
              <a:rPr b="1" lang="en-US" sz="1800">
                <a:solidFill>
                  <a:srgbClr val="74531F"/>
                </a:solidFill>
                <a:latin typeface="Courier New"/>
                <a:ea typeface="Courier New"/>
                <a:cs typeface="Courier New"/>
                <a:sym typeface="Courier New"/>
              </a:rPr>
              <a:t>Thread</a:t>
            </a:r>
            <a:r>
              <a:rPr b="1" lang="en-US" sz="1800">
                <a:solidFill>
                  <a:schemeClr val="dk1"/>
                </a:solidFill>
                <a:latin typeface="Courier New"/>
                <a:ea typeface="Courier New"/>
                <a:cs typeface="Courier New"/>
                <a:sym typeface="Courier New"/>
              </a:rPr>
              <a:t>(</a:t>
            </a:r>
            <a:r>
              <a:rPr b="1" lang="en-US" sz="1800">
                <a:solidFill>
                  <a:srgbClr val="8F08C4"/>
                </a:solidFill>
                <a:latin typeface="Courier New"/>
                <a:ea typeface="Courier New"/>
                <a:cs typeface="Courier New"/>
                <a:sym typeface="Courier New"/>
              </a:rPr>
              <a:t>new</a:t>
            </a:r>
            <a:r>
              <a:rPr b="1" lang="en-US" sz="1800">
                <a:solidFill>
                  <a:schemeClr val="dk1"/>
                </a:solidFill>
                <a:latin typeface="Courier New"/>
                <a:ea typeface="Courier New"/>
                <a:cs typeface="Courier New"/>
                <a:sym typeface="Courier New"/>
              </a:rPr>
              <a:t> </a:t>
            </a:r>
            <a:r>
              <a:rPr b="1" lang="en-US" sz="1800">
                <a:solidFill>
                  <a:srgbClr val="74531F"/>
                </a:solidFill>
                <a:latin typeface="Courier New"/>
                <a:ea typeface="Courier New"/>
                <a:cs typeface="Courier New"/>
                <a:sym typeface="Courier New"/>
              </a:rPr>
              <a:t>MyRunnable</a:t>
            </a:r>
            <a:r>
              <a:rPr b="1" lang="en-US"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r>
              <a:rPr b="1" lang="en-US" sz="1800">
                <a:solidFill>
                  <a:srgbClr val="1F377F"/>
                </a:solidFill>
                <a:latin typeface="Courier New"/>
                <a:ea typeface="Courier New"/>
                <a:cs typeface="Courier New"/>
                <a:sym typeface="Courier New"/>
              </a:rPr>
              <a:t>t1</a:t>
            </a:r>
            <a:r>
              <a:rPr b="1" lang="en-US" sz="1800">
                <a:solidFill>
                  <a:schemeClr val="dk1"/>
                </a:solidFill>
                <a:latin typeface="Courier New"/>
                <a:ea typeface="Courier New"/>
                <a:cs typeface="Courier New"/>
                <a:sym typeface="Courier New"/>
              </a:rPr>
              <a:t>.</a:t>
            </a:r>
            <a:r>
              <a:rPr b="1" lang="en-US" sz="1800">
                <a:solidFill>
                  <a:srgbClr val="74531F"/>
                </a:solidFill>
                <a:latin typeface="Courier New"/>
                <a:ea typeface="Courier New"/>
                <a:cs typeface="Courier New"/>
                <a:sym typeface="Courier New"/>
              </a:rPr>
              <a:t>start</a:t>
            </a:r>
            <a:r>
              <a:rPr b="1" lang="en-US"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    }</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800">
                <a:solidFill>
                  <a:schemeClr val="dk1"/>
                </a:solidFill>
                <a:latin typeface="Courier New"/>
                <a:ea typeface="Courier New"/>
                <a:cs typeface="Courier New"/>
                <a:sym typeface="Courier New"/>
              </a:rPr>
              <a:t>}</a:t>
            </a:r>
            <a:endParaRPr b="1" sz="18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8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2600">
              <a:solidFill>
                <a:srgbClr val="0000FF"/>
              </a:solidFill>
              <a:latin typeface="Courier New"/>
              <a:ea typeface="Courier New"/>
              <a:cs typeface="Courier New"/>
              <a:sym typeface="Courier New"/>
            </a:endParaRPr>
          </a:p>
        </p:txBody>
      </p:sp>
      <p:sp>
        <p:nvSpPr>
          <p:cNvPr id="434" name="Google Shape;434;p5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438" name="Shape 438"/>
        <p:cNvGrpSpPr/>
        <p:nvPr/>
      </p:nvGrpSpPr>
      <p:grpSpPr>
        <a:xfrm>
          <a:off x="0" y="0"/>
          <a:ext cx="0" cy="0"/>
          <a:chOff x="0" y="0"/>
          <a:chExt cx="0" cy="0"/>
        </a:xfrm>
      </p:grpSpPr>
      <p:sp>
        <p:nvSpPr>
          <p:cNvPr id="439" name="Google Shape;439;p53"/>
          <p:cNvSpPr txBox="1"/>
          <p:nvPr/>
        </p:nvSpPr>
        <p:spPr>
          <a:xfrm>
            <a:off x="483969" y="228088"/>
            <a:ext cx="120756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BÀI TẬP</a:t>
            </a:r>
            <a:endParaRPr sz="900"/>
          </a:p>
        </p:txBody>
      </p:sp>
      <p:sp>
        <p:nvSpPr>
          <p:cNvPr id="440" name="Google Shape;440;p53"/>
          <p:cNvSpPr txBox="1"/>
          <p:nvPr/>
        </p:nvSpPr>
        <p:spPr>
          <a:xfrm>
            <a:off x="483969" y="1178285"/>
            <a:ext cx="10413900" cy="3849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b="1" lang="en-US" sz="2100"/>
              <a:t>Ví dụ về Runnable với Sleep</a:t>
            </a:r>
            <a:endParaRPr b="1" sz="2100">
              <a:solidFill>
                <a:schemeClr val="dk1"/>
              </a:solidFill>
              <a:latin typeface="Calibri"/>
              <a:ea typeface="Calibri"/>
              <a:cs typeface="Calibri"/>
              <a:sym typeface="Calibri"/>
            </a:endParaRPr>
          </a:p>
        </p:txBody>
      </p:sp>
      <p:sp>
        <p:nvSpPr>
          <p:cNvPr id="441" name="Google Shape;441;p53"/>
          <p:cNvSpPr txBox="1"/>
          <p:nvPr/>
        </p:nvSpPr>
        <p:spPr>
          <a:xfrm>
            <a:off x="5240067" y="228083"/>
            <a:ext cx="6836400" cy="61029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None/>
            </a:pPr>
            <a:r>
              <a:rPr b="1" lang="en-US" sz="1500">
                <a:solidFill>
                  <a:srgbClr val="0000FF"/>
                </a:solidFill>
                <a:latin typeface="Courier New"/>
                <a:ea typeface="Courier New"/>
                <a:cs typeface="Courier New"/>
                <a:sym typeface="Courier New"/>
              </a:rPr>
              <a:t>class</a:t>
            </a: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MyRunnable</a:t>
            </a:r>
            <a:r>
              <a:rPr b="1" lang="en-US" sz="1500">
                <a:solidFill>
                  <a:schemeClr val="dk1"/>
                </a:solidFill>
                <a:latin typeface="Courier New"/>
                <a:ea typeface="Courier New"/>
                <a:cs typeface="Courier New"/>
                <a:sym typeface="Courier New"/>
              </a:rPr>
              <a:t> </a:t>
            </a:r>
            <a:r>
              <a:rPr b="1" lang="en-US" sz="1500">
                <a:solidFill>
                  <a:srgbClr val="0000FF"/>
                </a:solidFill>
                <a:latin typeface="Courier New"/>
                <a:ea typeface="Courier New"/>
                <a:cs typeface="Courier New"/>
                <a:sym typeface="Courier New"/>
              </a:rPr>
              <a:t>implements</a:t>
            </a: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Runnable</a:t>
            </a: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r>
              <a:rPr b="1" lang="en-US" sz="1500">
                <a:solidFill>
                  <a:srgbClr val="0000FF"/>
                </a:solidFill>
                <a:latin typeface="Courier New"/>
                <a:ea typeface="Courier New"/>
                <a:cs typeface="Courier New"/>
                <a:sym typeface="Courier New"/>
              </a:rPr>
              <a:t>public</a:t>
            </a: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void</a:t>
            </a:r>
            <a:r>
              <a:rPr b="1" lang="en-US" sz="1500">
                <a:solidFill>
                  <a:schemeClr val="dk1"/>
                </a:solidFill>
                <a:latin typeface="Courier New"/>
                <a:ea typeface="Courier New"/>
                <a:cs typeface="Courier New"/>
                <a:sym typeface="Courier New"/>
              </a:rPr>
              <a:t> </a:t>
            </a:r>
            <a:r>
              <a:rPr b="1" lang="en-US" sz="1500">
                <a:solidFill>
                  <a:srgbClr val="74531F"/>
                </a:solidFill>
                <a:latin typeface="Courier New"/>
                <a:ea typeface="Courier New"/>
                <a:cs typeface="Courier New"/>
                <a:sym typeface="Courier New"/>
              </a:rPr>
              <a:t>run</a:t>
            </a: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r>
              <a:rPr b="1" lang="en-US" sz="1500">
                <a:solidFill>
                  <a:srgbClr val="8F08C4"/>
                </a:solidFill>
                <a:latin typeface="Courier New"/>
                <a:ea typeface="Courier New"/>
                <a:cs typeface="Courier New"/>
                <a:sym typeface="Courier New"/>
              </a:rPr>
              <a:t>try</a:t>
            </a: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r>
              <a:rPr b="1" lang="en-US" sz="1500">
                <a:solidFill>
                  <a:srgbClr val="8F08C4"/>
                </a:solidFill>
                <a:latin typeface="Courier New"/>
                <a:ea typeface="Courier New"/>
                <a:cs typeface="Courier New"/>
                <a:sym typeface="Courier New"/>
              </a:rPr>
              <a:t>for</a:t>
            </a: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int</a:t>
            </a:r>
            <a:r>
              <a:rPr b="1" lang="en-US" sz="1500">
                <a:solidFill>
                  <a:schemeClr val="dk1"/>
                </a:solidFill>
                <a:latin typeface="Courier New"/>
                <a:ea typeface="Courier New"/>
                <a:cs typeface="Courier New"/>
                <a:sym typeface="Courier New"/>
              </a:rPr>
              <a:t> </a:t>
            </a:r>
            <a:r>
              <a:rPr b="1" lang="en-US" sz="1500">
                <a:solidFill>
                  <a:srgbClr val="1F377F"/>
                </a:solidFill>
                <a:latin typeface="Courier New"/>
                <a:ea typeface="Courier New"/>
                <a:cs typeface="Courier New"/>
                <a:sym typeface="Courier New"/>
              </a:rPr>
              <a:t>i</a:t>
            </a:r>
            <a:r>
              <a:rPr b="1" lang="en-US" sz="1500">
                <a:solidFill>
                  <a:schemeClr val="dk1"/>
                </a:solidFill>
                <a:latin typeface="Courier New"/>
                <a:ea typeface="Courier New"/>
                <a:cs typeface="Courier New"/>
                <a:sym typeface="Courier New"/>
              </a:rPr>
              <a:t> = </a:t>
            </a:r>
            <a:r>
              <a:rPr b="1" lang="en-US" sz="1500">
                <a:solidFill>
                  <a:srgbClr val="098658"/>
                </a:solidFill>
                <a:latin typeface="Courier New"/>
                <a:ea typeface="Courier New"/>
                <a:cs typeface="Courier New"/>
                <a:sym typeface="Courier New"/>
              </a:rPr>
              <a:t>0</a:t>
            </a:r>
            <a:r>
              <a:rPr b="1" lang="en-US" sz="1500">
                <a:solidFill>
                  <a:schemeClr val="dk1"/>
                </a:solidFill>
                <a:latin typeface="Courier New"/>
                <a:ea typeface="Courier New"/>
                <a:cs typeface="Courier New"/>
                <a:sym typeface="Courier New"/>
              </a:rPr>
              <a:t>; </a:t>
            </a:r>
            <a:r>
              <a:rPr b="1" lang="en-US" sz="1500">
                <a:solidFill>
                  <a:srgbClr val="1F377F"/>
                </a:solidFill>
                <a:latin typeface="Courier New"/>
                <a:ea typeface="Courier New"/>
                <a:cs typeface="Courier New"/>
                <a:sym typeface="Courier New"/>
              </a:rPr>
              <a:t>i</a:t>
            </a:r>
            <a:r>
              <a:rPr b="1" lang="en-US" sz="1500">
                <a:solidFill>
                  <a:schemeClr val="dk1"/>
                </a:solidFill>
                <a:latin typeface="Courier New"/>
                <a:ea typeface="Courier New"/>
                <a:cs typeface="Courier New"/>
                <a:sym typeface="Courier New"/>
              </a:rPr>
              <a:t> &lt; </a:t>
            </a:r>
            <a:r>
              <a:rPr b="1" lang="en-US" sz="1500">
                <a:solidFill>
                  <a:srgbClr val="098658"/>
                </a:solidFill>
                <a:latin typeface="Courier New"/>
                <a:ea typeface="Courier New"/>
                <a:cs typeface="Courier New"/>
                <a:sym typeface="Courier New"/>
              </a:rPr>
              <a:t>5</a:t>
            </a:r>
            <a:r>
              <a:rPr b="1" lang="en-US" sz="1500">
                <a:solidFill>
                  <a:schemeClr val="dk1"/>
                </a:solidFill>
                <a:latin typeface="Courier New"/>
                <a:ea typeface="Courier New"/>
                <a:cs typeface="Courier New"/>
                <a:sym typeface="Courier New"/>
              </a:rPr>
              <a:t>; </a:t>
            </a:r>
            <a:r>
              <a:rPr b="1" lang="en-US" sz="1500">
                <a:solidFill>
                  <a:srgbClr val="1F377F"/>
                </a:solidFill>
                <a:latin typeface="Courier New"/>
                <a:ea typeface="Courier New"/>
                <a:cs typeface="Courier New"/>
                <a:sym typeface="Courier New"/>
              </a:rPr>
              <a:t>i</a:t>
            </a: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System</a:t>
            </a:r>
            <a:r>
              <a:rPr b="1" lang="en-US" sz="1500">
                <a:solidFill>
                  <a:schemeClr val="dk1"/>
                </a:solidFill>
                <a:latin typeface="Courier New"/>
                <a:ea typeface="Courier New"/>
                <a:cs typeface="Courier New"/>
                <a:sym typeface="Courier New"/>
              </a:rPr>
              <a:t>.out.</a:t>
            </a:r>
            <a:r>
              <a:rPr b="1" lang="en-US" sz="1500">
                <a:solidFill>
                  <a:srgbClr val="74531F"/>
                </a:solidFill>
                <a:latin typeface="Courier New"/>
                <a:ea typeface="Courier New"/>
                <a:cs typeface="Courier New"/>
                <a:sym typeface="Courier New"/>
              </a:rPr>
              <a:t>println</a:t>
            </a:r>
            <a:r>
              <a:rPr b="1" lang="en-US" sz="1500">
                <a:solidFill>
                  <a:schemeClr val="dk1"/>
                </a:solidFill>
                <a:latin typeface="Courier New"/>
                <a:ea typeface="Courier New"/>
                <a:cs typeface="Courier New"/>
                <a:sym typeface="Courier New"/>
              </a:rPr>
              <a:t>(</a:t>
            </a:r>
            <a:r>
              <a:rPr b="1" lang="en-US" sz="1500">
                <a:solidFill>
                  <a:srgbClr val="E21F1F"/>
                </a:solidFill>
                <a:latin typeface="Courier New"/>
                <a:ea typeface="Courier New"/>
                <a:cs typeface="Courier New"/>
                <a:sym typeface="Courier New"/>
              </a:rPr>
              <a:t>"</a:t>
            </a:r>
            <a:r>
              <a:rPr b="1" lang="en-US" sz="1500">
                <a:solidFill>
                  <a:srgbClr val="A31515"/>
                </a:solidFill>
                <a:latin typeface="Courier New"/>
                <a:ea typeface="Courier New"/>
                <a:cs typeface="Courier New"/>
                <a:sym typeface="Courier New"/>
              </a:rPr>
              <a:t>Hello</a:t>
            </a:r>
            <a:r>
              <a:rPr b="1" lang="en-US" sz="1500">
                <a:solidFill>
                  <a:srgbClr val="E21F1F"/>
                </a:solidFill>
                <a:latin typeface="Courier New"/>
                <a:ea typeface="Courier New"/>
                <a:cs typeface="Courier New"/>
                <a:sym typeface="Courier New"/>
              </a:rPr>
              <a:t>"</a:t>
            </a:r>
            <a:r>
              <a:rPr b="1" lang="en-US"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Thread</a:t>
            </a:r>
            <a:r>
              <a:rPr b="1" lang="en-US" sz="1500">
                <a:solidFill>
                  <a:schemeClr val="dk1"/>
                </a:solidFill>
                <a:latin typeface="Courier New"/>
                <a:ea typeface="Courier New"/>
                <a:cs typeface="Courier New"/>
                <a:sym typeface="Courier New"/>
              </a:rPr>
              <a:t>.</a:t>
            </a:r>
            <a:r>
              <a:rPr b="1" lang="en-US" sz="1500">
                <a:solidFill>
                  <a:srgbClr val="74531F"/>
                </a:solidFill>
                <a:latin typeface="Courier New"/>
                <a:ea typeface="Courier New"/>
                <a:cs typeface="Courier New"/>
                <a:sym typeface="Courier New"/>
              </a:rPr>
              <a:t>sleep</a:t>
            </a:r>
            <a:r>
              <a:rPr b="1" lang="en-US" sz="1500">
                <a:solidFill>
                  <a:schemeClr val="dk1"/>
                </a:solidFill>
                <a:latin typeface="Courier New"/>
                <a:ea typeface="Courier New"/>
                <a:cs typeface="Courier New"/>
                <a:sym typeface="Courier New"/>
              </a:rPr>
              <a:t>(</a:t>
            </a:r>
            <a:r>
              <a:rPr b="1" lang="en-US" sz="1500">
                <a:solidFill>
                  <a:srgbClr val="098658"/>
                </a:solidFill>
                <a:latin typeface="Courier New"/>
                <a:ea typeface="Courier New"/>
                <a:cs typeface="Courier New"/>
                <a:sym typeface="Courier New"/>
              </a:rPr>
              <a:t>1000</a:t>
            </a:r>
            <a:r>
              <a:rPr b="1" lang="en-US" sz="1500">
                <a:solidFill>
                  <a:schemeClr val="dk1"/>
                </a:solidFill>
                <a:latin typeface="Courier New"/>
                <a:ea typeface="Courier New"/>
                <a:cs typeface="Courier New"/>
                <a:sym typeface="Courier New"/>
              </a:rPr>
              <a:t>); </a:t>
            </a:r>
            <a:r>
              <a:rPr b="1" lang="en-US" sz="1500">
                <a:solidFill>
                  <a:srgbClr val="008000"/>
                </a:solidFill>
                <a:latin typeface="Courier New"/>
                <a:ea typeface="Courier New"/>
                <a:cs typeface="Courier New"/>
                <a:sym typeface="Courier New"/>
              </a:rPr>
              <a:t>// Dừng luồng trong 1s</a:t>
            </a:r>
            <a:endParaRPr b="1" sz="15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 </a:t>
            </a:r>
            <a:r>
              <a:rPr b="1" lang="en-US" sz="1500">
                <a:solidFill>
                  <a:srgbClr val="8F08C4"/>
                </a:solidFill>
                <a:latin typeface="Courier New"/>
                <a:ea typeface="Courier New"/>
                <a:cs typeface="Courier New"/>
                <a:sym typeface="Courier New"/>
              </a:rPr>
              <a:t>catch</a:t>
            </a: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InterruptedException</a:t>
            </a:r>
            <a:r>
              <a:rPr b="1" lang="en-US" sz="1500">
                <a:solidFill>
                  <a:schemeClr val="dk1"/>
                </a:solidFill>
                <a:latin typeface="Courier New"/>
                <a:ea typeface="Courier New"/>
                <a:cs typeface="Courier New"/>
                <a:sym typeface="Courier New"/>
              </a:rPr>
              <a:t> </a:t>
            </a:r>
            <a:r>
              <a:rPr b="1" lang="en-US" sz="1500">
                <a:solidFill>
                  <a:srgbClr val="1F377F"/>
                </a:solidFill>
                <a:latin typeface="Courier New"/>
                <a:ea typeface="Courier New"/>
                <a:cs typeface="Courier New"/>
                <a:sym typeface="Courier New"/>
              </a:rPr>
              <a:t>e</a:t>
            </a: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System</a:t>
            </a:r>
            <a:r>
              <a:rPr b="1" lang="en-US" sz="1500">
                <a:solidFill>
                  <a:schemeClr val="dk1"/>
                </a:solidFill>
                <a:latin typeface="Courier New"/>
                <a:ea typeface="Courier New"/>
                <a:cs typeface="Courier New"/>
                <a:sym typeface="Courier New"/>
              </a:rPr>
              <a:t>.out.</a:t>
            </a:r>
            <a:r>
              <a:rPr b="1" lang="en-US" sz="1500">
                <a:solidFill>
                  <a:srgbClr val="74531F"/>
                </a:solidFill>
                <a:latin typeface="Courier New"/>
                <a:ea typeface="Courier New"/>
                <a:cs typeface="Courier New"/>
                <a:sym typeface="Courier New"/>
              </a:rPr>
              <a:t>println</a:t>
            </a:r>
            <a:r>
              <a:rPr b="1" lang="en-US" sz="1500">
                <a:solidFill>
                  <a:schemeClr val="dk1"/>
                </a:solidFill>
                <a:latin typeface="Courier New"/>
                <a:ea typeface="Courier New"/>
                <a:cs typeface="Courier New"/>
                <a:sym typeface="Courier New"/>
              </a:rPr>
              <a:t>(</a:t>
            </a:r>
            <a:r>
              <a:rPr b="1" lang="en-US" sz="1500">
                <a:solidFill>
                  <a:srgbClr val="E21F1F"/>
                </a:solidFill>
                <a:latin typeface="Courier New"/>
                <a:ea typeface="Courier New"/>
                <a:cs typeface="Courier New"/>
                <a:sym typeface="Courier New"/>
              </a:rPr>
              <a:t>"</a:t>
            </a:r>
            <a:r>
              <a:rPr b="1" lang="en-US" sz="1500">
                <a:solidFill>
                  <a:srgbClr val="A31515"/>
                </a:solidFill>
                <a:latin typeface="Courier New"/>
                <a:ea typeface="Courier New"/>
                <a:cs typeface="Courier New"/>
                <a:sym typeface="Courier New"/>
              </a:rPr>
              <a:t>Thread bị gián đoạn!</a:t>
            </a:r>
            <a:r>
              <a:rPr b="1" lang="en-US" sz="1500">
                <a:solidFill>
                  <a:srgbClr val="E21F1F"/>
                </a:solidFill>
                <a:latin typeface="Courier New"/>
                <a:ea typeface="Courier New"/>
                <a:cs typeface="Courier New"/>
                <a:sym typeface="Courier New"/>
              </a:rPr>
              <a:t>"</a:t>
            </a:r>
            <a:r>
              <a:rPr b="1" lang="en-US"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rgbClr val="0000FF"/>
                </a:solidFill>
                <a:latin typeface="Courier New"/>
                <a:ea typeface="Courier New"/>
                <a:cs typeface="Courier New"/>
                <a:sym typeface="Courier New"/>
              </a:rPr>
              <a:t>public</a:t>
            </a:r>
            <a:r>
              <a:rPr b="1" lang="en-US" sz="1500">
                <a:solidFill>
                  <a:schemeClr val="dk1"/>
                </a:solidFill>
                <a:latin typeface="Courier New"/>
                <a:ea typeface="Courier New"/>
                <a:cs typeface="Courier New"/>
                <a:sym typeface="Courier New"/>
              </a:rPr>
              <a:t> </a:t>
            </a:r>
            <a:r>
              <a:rPr b="1" lang="en-US" sz="1500">
                <a:solidFill>
                  <a:srgbClr val="0000FF"/>
                </a:solidFill>
                <a:latin typeface="Courier New"/>
                <a:ea typeface="Courier New"/>
                <a:cs typeface="Courier New"/>
                <a:sym typeface="Courier New"/>
              </a:rPr>
              <a:t>class</a:t>
            </a: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RunnableExample</a:t>
            </a:r>
            <a:r>
              <a:rPr b="1" lang="en-US"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r>
              <a:rPr b="1" lang="en-US" sz="1500">
                <a:solidFill>
                  <a:srgbClr val="0000FF"/>
                </a:solidFill>
                <a:latin typeface="Courier New"/>
                <a:ea typeface="Courier New"/>
                <a:cs typeface="Courier New"/>
                <a:sym typeface="Courier New"/>
              </a:rPr>
              <a:t>public</a:t>
            </a:r>
            <a:r>
              <a:rPr b="1" lang="en-US" sz="1500">
                <a:solidFill>
                  <a:schemeClr val="dk1"/>
                </a:solidFill>
                <a:latin typeface="Courier New"/>
                <a:ea typeface="Courier New"/>
                <a:cs typeface="Courier New"/>
                <a:sym typeface="Courier New"/>
              </a:rPr>
              <a:t> </a:t>
            </a:r>
            <a:r>
              <a:rPr b="1" lang="en-US" sz="1500">
                <a:solidFill>
                  <a:srgbClr val="0000FF"/>
                </a:solidFill>
                <a:latin typeface="Courier New"/>
                <a:ea typeface="Courier New"/>
                <a:cs typeface="Courier New"/>
                <a:sym typeface="Courier New"/>
              </a:rPr>
              <a:t>static</a:t>
            </a: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void</a:t>
            </a:r>
            <a:r>
              <a:rPr b="1" lang="en-US" sz="1500">
                <a:solidFill>
                  <a:schemeClr val="dk1"/>
                </a:solidFill>
                <a:latin typeface="Courier New"/>
                <a:ea typeface="Courier New"/>
                <a:cs typeface="Courier New"/>
                <a:sym typeface="Courier New"/>
              </a:rPr>
              <a:t> </a:t>
            </a:r>
            <a:r>
              <a:rPr b="1" lang="en-US" sz="1500">
                <a:solidFill>
                  <a:srgbClr val="74531F"/>
                </a:solidFill>
                <a:latin typeface="Courier New"/>
                <a:ea typeface="Courier New"/>
                <a:cs typeface="Courier New"/>
                <a:sym typeface="Courier New"/>
              </a:rPr>
              <a:t>main</a:t>
            </a:r>
            <a:r>
              <a:rPr b="1" lang="en-US" sz="1500">
                <a:solidFill>
                  <a:schemeClr val="dk1"/>
                </a:solidFill>
                <a:latin typeface="Courier New"/>
                <a:ea typeface="Courier New"/>
                <a:cs typeface="Courier New"/>
                <a:sym typeface="Courier New"/>
              </a:rPr>
              <a:t>(</a:t>
            </a:r>
            <a:r>
              <a:rPr b="1" lang="en-US" sz="1500">
                <a:solidFill>
                  <a:srgbClr val="2B91AF"/>
                </a:solidFill>
                <a:latin typeface="Courier New"/>
                <a:ea typeface="Courier New"/>
                <a:cs typeface="Courier New"/>
                <a:sym typeface="Courier New"/>
              </a:rPr>
              <a:t>String</a:t>
            </a:r>
            <a:r>
              <a:rPr b="1" lang="en-US" sz="1500">
                <a:solidFill>
                  <a:schemeClr val="dk1"/>
                </a:solidFill>
                <a:latin typeface="Courier New"/>
                <a:ea typeface="Courier New"/>
                <a:cs typeface="Courier New"/>
                <a:sym typeface="Courier New"/>
              </a:rPr>
              <a:t>[] </a:t>
            </a:r>
            <a:r>
              <a:rPr b="1" lang="en-US" sz="1500">
                <a:solidFill>
                  <a:srgbClr val="808080"/>
                </a:solidFill>
                <a:latin typeface="Courier New"/>
                <a:ea typeface="Courier New"/>
                <a:cs typeface="Courier New"/>
                <a:sym typeface="Courier New"/>
              </a:rPr>
              <a:t>args</a:t>
            </a: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r>
              <a:rPr b="1" lang="en-US" sz="1500">
                <a:solidFill>
                  <a:srgbClr val="2B91AF"/>
                </a:solidFill>
                <a:latin typeface="Courier New"/>
                <a:ea typeface="Courier New"/>
                <a:cs typeface="Courier New"/>
                <a:sym typeface="Courier New"/>
              </a:rPr>
              <a:t>Thread</a:t>
            </a:r>
            <a:r>
              <a:rPr b="1" lang="en-US" sz="1500">
                <a:solidFill>
                  <a:schemeClr val="dk1"/>
                </a:solidFill>
                <a:latin typeface="Courier New"/>
                <a:ea typeface="Courier New"/>
                <a:cs typeface="Courier New"/>
                <a:sym typeface="Courier New"/>
              </a:rPr>
              <a:t> </a:t>
            </a:r>
            <a:r>
              <a:rPr b="1" lang="en-US" sz="1500">
                <a:solidFill>
                  <a:srgbClr val="1F377F"/>
                </a:solidFill>
                <a:latin typeface="Courier New"/>
                <a:ea typeface="Courier New"/>
                <a:cs typeface="Courier New"/>
                <a:sym typeface="Courier New"/>
              </a:rPr>
              <a:t>t1</a:t>
            </a:r>
            <a:r>
              <a:rPr b="1" lang="en-US" sz="1500">
                <a:solidFill>
                  <a:schemeClr val="dk1"/>
                </a:solidFill>
                <a:latin typeface="Courier New"/>
                <a:ea typeface="Courier New"/>
                <a:cs typeface="Courier New"/>
                <a:sym typeface="Courier New"/>
              </a:rPr>
              <a:t> = </a:t>
            </a:r>
            <a:r>
              <a:rPr b="1" lang="en-US" sz="1500">
                <a:solidFill>
                  <a:srgbClr val="8F08C4"/>
                </a:solidFill>
                <a:latin typeface="Courier New"/>
                <a:ea typeface="Courier New"/>
                <a:cs typeface="Courier New"/>
                <a:sym typeface="Courier New"/>
              </a:rPr>
              <a:t>new</a:t>
            </a:r>
            <a:r>
              <a:rPr b="1" lang="en-US" sz="1500">
                <a:solidFill>
                  <a:schemeClr val="dk1"/>
                </a:solidFill>
                <a:latin typeface="Courier New"/>
                <a:ea typeface="Courier New"/>
                <a:cs typeface="Courier New"/>
                <a:sym typeface="Courier New"/>
              </a:rPr>
              <a:t> </a:t>
            </a:r>
            <a:r>
              <a:rPr b="1" lang="en-US" sz="1500">
                <a:solidFill>
                  <a:srgbClr val="74531F"/>
                </a:solidFill>
                <a:latin typeface="Courier New"/>
                <a:ea typeface="Courier New"/>
                <a:cs typeface="Courier New"/>
                <a:sym typeface="Courier New"/>
              </a:rPr>
              <a:t>Thread</a:t>
            </a:r>
            <a:r>
              <a:rPr b="1" lang="en-US" sz="1500">
                <a:solidFill>
                  <a:schemeClr val="dk1"/>
                </a:solidFill>
                <a:latin typeface="Courier New"/>
                <a:ea typeface="Courier New"/>
                <a:cs typeface="Courier New"/>
                <a:sym typeface="Courier New"/>
              </a:rPr>
              <a:t>(</a:t>
            </a:r>
            <a:r>
              <a:rPr b="1" lang="en-US" sz="1500">
                <a:solidFill>
                  <a:srgbClr val="8F08C4"/>
                </a:solidFill>
                <a:latin typeface="Courier New"/>
                <a:ea typeface="Courier New"/>
                <a:cs typeface="Courier New"/>
                <a:sym typeface="Courier New"/>
              </a:rPr>
              <a:t>new</a:t>
            </a:r>
            <a:r>
              <a:rPr b="1" lang="en-US" sz="1500">
                <a:solidFill>
                  <a:schemeClr val="dk1"/>
                </a:solidFill>
                <a:latin typeface="Courier New"/>
                <a:ea typeface="Courier New"/>
                <a:cs typeface="Courier New"/>
                <a:sym typeface="Courier New"/>
              </a:rPr>
              <a:t> </a:t>
            </a:r>
            <a:r>
              <a:rPr b="1" lang="en-US" sz="1500">
                <a:solidFill>
                  <a:srgbClr val="74531F"/>
                </a:solidFill>
                <a:latin typeface="Courier New"/>
                <a:ea typeface="Courier New"/>
                <a:cs typeface="Courier New"/>
                <a:sym typeface="Courier New"/>
              </a:rPr>
              <a:t>MyRunnable</a:t>
            </a:r>
            <a:r>
              <a:rPr b="1" lang="en-US"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r>
              <a:rPr b="1" lang="en-US" sz="1500">
                <a:solidFill>
                  <a:srgbClr val="1F377F"/>
                </a:solidFill>
                <a:latin typeface="Courier New"/>
                <a:ea typeface="Courier New"/>
                <a:cs typeface="Courier New"/>
                <a:sym typeface="Courier New"/>
              </a:rPr>
              <a:t>t1</a:t>
            </a:r>
            <a:r>
              <a:rPr b="1" lang="en-US" sz="1500">
                <a:solidFill>
                  <a:schemeClr val="dk1"/>
                </a:solidFill>
                <a:latin typeface="Courier New"/>
                <a:ea typeface="Courier New"/>
                <a:cs typeface="Courier New"/>
                <a:sym typeface="Courier New"/>
              </a:rPr>
              <a:t>.</a:t>
            </a:r>
            <a:r>
              <a:rPr b="1" lang="en-US" sz="1500">
                <a:solidFill>
                  <a:srgbClr val="74531F"/>
                </a:solidFill>
                <a:latin typeface="Courier New"/>
                <a:ea typeface="Courier New"/>
                <a:cs typeface="Courier New"/>
                <a:sym typeface="Courier New"/>
              </a:rPr>
              <a:t>start</a:t>
            </a:r>
            <a:r>
              <a:rPr b="1" lang="en-US"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    }</a:t>
            </a:r>
            <a:endParaRPr b="1" sz="15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500">
                <a:solidFill>
                  <a:schemeClr val="dk1"/>
                </a:solidFill>
                <a:latin typeface="Courier New"/>
                <a:ea typeface="Courier New"/>
                <a:cs typeface="Courier New"/>
                <a:sym typeface="Courier New"/>
              </a:rPr>
              <a:t>}</a:t>
            </a:r>
            <a:endParaRPr b="1" sz="15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2200">
              <a:solidFill>
                <a:srgbClr val="0000FF"/>
              </a:solidFill>
              <a:latin typeface="Courier New"/>
              <a:ea typeface="Courier New"/>
              <a:cs typeface="Courier New"/>
              <a:sym typeface="Courier New"/>
            </a:endParaRPr>
          </a:p>
        </p:txBody>
      </p:sp>
      <p:sp>
        <p:nvSpPr>
          <p:cNvPr id="442" name="Google Shape;442;p5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446" name="Shape 446"/>
        <p:cNvGrpSpPr/>
        <p:nvPr/>
      </p:nvGrpSpPr>
      <p:grpSpPr>
        <a:xfrm>
          <a:off x="0" y="0"/>
          <a:ext cx="0" cy="0"/>
          <a:chOff x="0" y="0"/>
          <a:chExt cx="0" cy="0"/>
        </a:xfrm>
      </p:grpSpPr>
      <p:sp>
        <p:nvSpPr>
          <p:cNvPr id="447" name="Google Shape;447;p54"/>
          <p:cNvSpPr txBox="1"/>
          <p:nvPr/>
        </p:nvSpPr>
        <p:spPr>
          <a:xfrm>
            <a:off x="483969" y="228088"/>
            <a:ext cx="120756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BÀI TẬP</a:t>
            </a:r>
            <a:endParaRPr sz="900"/>
          </a:p>
        </p:txBody>
      </p:sp>
      <p:sp>
        <p:nvSpPr>
          <p:cNvPr id="448" name="Google Shape;448;p54"/>
          <p:cNvSpPr txBox="1"/>
          <p:nvPr/>
        </p:nvSpPr>
        <p:spPr>
          <a:xfrm>
            <a:off x="7758950" y="0"/>
            <a:ext cx="7748100" cy="18573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t/>
            </a:r>
            <a:endParaRPr b="0" sz="2100">
              <a:solidFill>
                <a:schemeClr val="dk1"/>
              </a:solidFill>
              <a:latin typeface="Calibri"/>
              <a:ea typeface="Calibri"/>
              <a:cs typeface="Calibri"/>
              <a:sym typeface="Calibri"/>
            </a:endParaRPr>
          </a:p>
          <a:p>
            <a:pPr indent="0" lvl="0" marL="0" marR="0" rtl="0" algn="l">
              <a:spcBef>
                <a:spcPts val="700"/>
              </a:spcBef>
              <a:spcAft>
                <a:spcPts val="0"/>
              </a:spcAft>
              <a:buNone/>
            </a:pPr>
            <a:r>
              <a:rPr b="0" i="0" lang="en-US" sz="2100" u="none" strike="noStrike">
                <a:solidFill>
                  <a:srgbClr val="000000"/>
                </a:solidFill>
                <a:latin typeface="Arial"/>
                <a:ea typeface="Arial"/>
                <a:cs typeface="Arial"/>
                <a:sym typeface="Arial"/>
              </a:rPr>
              <a:t> </a:t>
            </a:r>
            <a:r>
              <a:rPr b="1" lang="en-US" sz="2100"/>
              <a:t>V</a:t>
            </a:r>
            <a:r>
              <a:rPr b="1" i="0" lang="en-US" sz="2100" u="none" strike="noStrike">
                <a:solidFill>
                  <a:srgbClr val="000000"/>
                </a:solidFill>
              </a:rPr>
              <a:t>í dụ</a:t>
            </a:r>
            <a:r>
              <a:rPr b="1" lang="en-US" sz="2100"/>
              <a:t> chạy </a:t>
            </a:r>
            <a:r>
              <a:rPr b="1" lang="en-US" sz="2100"/>
              <a:t>nhiều Runnable</a:t>
            </a:r>
            <a:endParaRPr b="1" sz="2100">
              <a:solidFill>
                <a:schemeClr val="dk1"/>
              </a:solidFill>
              <a:latin typeface="Calibri"/>
              <a:ea typeface="Calibri"/>
              <a:cs typeface="Calibri"/>
              <a:sym typeface="Calibri"/>
            </a:endParaRPr>
          </a:p>
          <a:p>
            <a:pPr indent="0" lvl="0" marL="0" marR="0" rtl="0" algn="l">
              <a:spcBef>
                <a:spcPts val="700"/>
              </a:spcBef>
              <a:spcAft>
                <a:spcPts val="0"/>
              </a:spcAft>
              <a:buNone/>
            </a:pPr>
            <a:r>
              <a:t/>
            </a:r>
            <a:endParaRPr b="0" sz="2100">
              <a:solidFill>
                <a:schemeClr val="dk1"/>
              </a:solidFill>
              <a:latin typeface="Calibri"/>
              <a:ea typeface="Calibri"/>
              <a:cs typeface="Calibri"/>
              <a:sym typeface="Calibri"/>
            </a:endParaRPr>
          </a:p>
          <a:p>
            <a:pPr indent="0" lvl="0" marL="0" marR="0" rtl="0" algn="l">
              <a:spcBef>
                <a:spcPts val="0"/>
              </a:spcBef>
              <a:spcAft>
                <a:spcPts val="0"/>
              </a:spcAft>
              <a:buNone/>
            </a:pPr>
            <a:br>
              <a:rPr b="0" lang="en-US" sz="2100">
                <a:solidFill>
                  <a:schemeClr val="dk1"/>
                </a:solidFill>
                <a:latin typeface="Calibri"/>
                <a:ea typeface="Calibri"/>
                <a:cs typeface="Calibri"/>
                <a:sym typeface="Calibri"/>
              </a:rPr>
            </a:br>
            <a:endParaRPr sz="2100">
              <a:solidFill>
                <a:schemeClr val="dk1"/>
              </a:solidFill>
              <a:latin typeface="Calibri"/>
              <a:ea typeface="Calibri"/>
              <a:cs typeface="Calibri"/>
              <a:sym typeface="Calibri"/>
            </a:endParaRPr>
          </a:p>
        </p:txBody>
      </p:sp>
      <p:sp>
        <p:nvSpPr>
          <p:cNvPr id="449" name="Google Shape;449;p54"/>
          <p:cNvSpPr txBox="1"/>
          <p:nvPr/>
        </p:nvSpPr>
        <p:spPr>
          <a:xfrm>
            <a:off x="576883" y="1094367"/>
            <a:ext cx="5123100" cy="66201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None/>
            </a:pPr>
            <a:r>
              <a:rPr b="1" lang="en-US" sz="1700">
                <a:solidFill>
                  <a:srgbClr val="0000FF"/>
                </a:solidFill>
                <a:latin typeface="Courier New"/>
                <a:ea typeface="Courier New"/>
                <a:cs typeface="Courier New"/>
                <a:sym typeface="Courier New"/>
              </a:rPr>
              <a:t>class</a:t>
            </a:r>
            <a:r>
              <a:rPr b="1" lang="en-US" sz="1700">
                <a:solidFill>
                  <a:schemeClr val="dk1"/>
                </a:solidFill>
                <a:latin typeface="Courier New"/>
                <a:ea typeface="Courier New"/>
                <a:cs typeface="Courier New"/>
                <a:sym typeface="Courier New"/>
              </a:rPr>
              <a:t> </a:t>
            </a:r>
            <a:r>
              <a:rPr b="1" lang="en-US" sz="1700">
                <a:solidFill>
                  <a:srgbClr val="2B91AF"/>
                </a:solidFill>
                <a:latin typeface="Courier New"/>
                <a:ea typeface="Courier New"/>
                <a:cs typeface="Courier New"/>
                <a:sym typeface="Courier New"/>
              </a:rPr>
              <a:t>PrintTask</a:t>
            </a:r>
            <a:r>
              <a:rPr b="1" lang="en-US" sz="1700">
                <a:solidFill>
                  <a:schemeClr val="dk1"/>
                </a:solidFill>
                <a:latin typeface="Courier New"/>
                <a:ea typeface="Courier New"/>
                <a:cs typeface="Courier New"/>
                <a:sym typeface="Courier New"/>
              </a:rPr>
              <a:t> </a:t>
            </a:r>
            <a:r>
              <a:rPr b="1" lang="en-US" sz="1700">
                <a:solidFill>
                  <a:srgbClr val="0000FF"/>
                </a:solidFill>
                <a:latin typeface="Courier New"/>
                <a:ea typeface="Courier New"/>
                <a:cs typeface="Courier New"/>
                <a:sym typeface="Courier New"/>
              </a:rPr>
              <a:t>implements</a:t>
            </a:r>
            <a:r>
              <a:rPr b="1" lang="en-US" sz="1700">
                <a:solidFill>
                  <a:schemeClr val="dk1"/>
                </a:solidFill>
                <a:latin typeface="Courier New"/>
                <a:ea typeface="Courier New"/>
                <a:cs typeface="Courier New"/>
                <a:sym typeface="Courier New"/>
              </a:rPr>
              <a:t> </a:t>
            </a:r>
            <a:r>
              <a:rPr b="1" lang="en-US" sz="1700">
                <a:solidFill>
                  <a:srgbClr val="2B91AF"/>
                </a:solidFill>
                <a:latin typeface="Courier New"/>
                <a:ea typeface="Courier New"/>
                <a:cs typeface="Courier New"/>
                <a:sym typeface="Courier New"/>
              </a:rPr>
              <a:t>Runnable</a:t>
            </a:r>
            <a:r>
              <a:rPr b="1" lang="en-US" sz="1700">
                <a:solidFill>
                  <a:schemeClr val="dk1"/>
                </a:solidFill>
                <a:latin typeface="Courier New"/>
                <a:ea typeface="Courier New"/>
                <a:cs typeface="Courier New"/>
                <a:sym typeface="Courier New"/>
              </a:rPr>
              <a:t>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    </a:t>
            </a:r>
            <a:r>
              <a:rPr b="1" lang="en-US" sz="1700">
                <a:solidFill>
                  <a:srgbClr val="0000FF"/>
                </a:solidFill>
                <a:latin typeface="Courier New"/>
                <a:ea typeface="Courier New"/>
                <a:cs typeface="Courier New"/>
                <a:sym typeface="Courier New"/>
              </a:rPr>
              <a:t>private</a:t>
            </a:r>
            <a:r>
              <a:rPr b="1" lang="en-US" sz="1700">
                <a:solidFill>
                  <a:schemeClr val="dk1"/>
                </a:solidFill>
                <a:latin typeface="Courier New"/>
                <a:ea typeface="Courier New"/>
                <a:cs typeface="Courier New"/>
                <a:sym typeface="Courier New"/>
              </a:rPr>
              <a:t> </a:t>
            </a:r>
            <a:r>
              <a:rPr b="1" lang="en-US" sz="1700">
                <a:solidFill>
                  <a:srgbClr val="2B91AF"/>
                </a:solidFill>
                <a:latin typeface="Courier New"/>
                <a:ea typeface="Courier New"/>
                <a:cs typeface="Courier New"/>
                <a:sym typeface="Courier New"/>
              </a:rPr>
              <a:t>String</a:t>
            </a:r>
            <a:r>
              <a:rPr b="1" lang="en-US" sz="1700">
                <a:solidFill>
                  <a:schemeClr val="dk1"/>
                </a:solidFill>
                <a:latin typeface="Courier New"/>
                <a:ea typeface="Courier New"/>
                <a:cs typeface="Courier New"/>
                <a:sym typeface="Courier New"/>
              </a:rPr>
              <a:t> message;</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    </a:t>
            </a:r>
            <a:r>
              <a:rPr b="1" lang="en-US" sz="1700">
                <a:solidFill>
                  <a:srgbClr val="0000FF"/>
                </a:solidFill>
                <a:latin typeface="Courier New"/>
                <a:ea typeface="Courier New"/>
                <a:cs typeface="Courier New"/>
                <a:sym typeface="Courier New"/>
              </a:rPr>
              <a:t>public</a:t>
            </a:r>
            <a:r>
              <a:rPr b="1" lang="en-US" sz="1700">
                <a:solidFill>
                  <a:schemeClr val="dk1"/>
                </a:solidFill>
                <a:latin typeface="Courier New"/>
                <a:ea typeface="Courier New"/>
                <a:cs typeface="Courier New"/>
                <a:sym typeface="Courier New"/>
              </a:rPr>
              <a:t> </a:t>
            </a:r>
            <a:r>
              <a:rPr b="1" lang="en-US" sz="1700">
                <a:solidFill>
                  <a:srgbClr val="74531F"/>
                </a:solidFill>
                <a:latin typeface="Courier New"/>
                <a:ea typeface="Courier New"/>
                <a:cs typeface="Courier New"/>
                <a:sym typeface="Courier New"/>
              </a:rPr>
              <a:t>PrintTask</a:t>
            </a:r>
            <a:r>
              <a:rPr b="1" lang="en-US" sz="1700">
                <a:solidFill>
                  <a:schemeClr val="dk1"/>
                </a:solidFill>
                <a:latin typeface="Courier New"/>
                <a:ea typeface="Courier New"/>
                <a:cs typeface="Courier New"/>
                <a:sym typeface="Courier New"/>
              </a:rPr>
              <a:t>(</a:t>
            </a:r>
            <a:r>
              <a:rPr b="1" lang="en-US" sz="1700">
                <a:solidFill>
                  <a:srgbClr val="2B91AF"/>
                </a:solidFill>
                <a:latin typeface="Courier New"/>
                <a:ea typeface="Courier New"/>
                <a:cs typeface="Courier New"/>
                <a:sym typeface="Courier New"/>
              </a:rPr>
              <a:t>String</a:t>
            </a:r>
            <a:r>
              <a:rPr b="1" lang="en-US" sz="1700">
                <a:solidFill>
                  <a:schemeClr val="dk1"/>
                </a:solidFill>
                <a:latin typeface="Courier New"/>
                <a:ea typeface="Courier New"/>
                <a:cs typeface="Courier New"/>
                <a:sym typeface="Courier New"/>
              </a:rPr>
              <a:t> </a:t>
            </a:r>
            <a:r>
              <a:rPr b="1" lang="en-US" sz="1700">
                <a:solidFill>
                  <a:srgbClr val="808080"/>
                </a:solidFill>
                <a:latin typeface="Courier New"/>
                <a:ea typeface="Courier New"/>
                <a:cs typeface="Courier New"/>
                <a:sym typeface="Courier New"/>
              </a:rPr>
              <a:t>message</a:t>
            </a:r>
            <a:r>
              <a:rPr b="1" lang="en-US" sz="1700">
                <a:solidFill>
                  <a:schemeClr val="dk1"/>
                </a:solidFill>
                <a:latin typeface="Courier New"/>
                <a:ea typeface="Courier New"/>
                <a:cs typeface="Courier New"/>
                <a:sym typeface="Courier New"/>
              </a:rPr>
              <a:t>)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        </a:t>
            </a:r>
            <a:r>
              <a:rPr b="1" lang="en-US" sz="1700">
                <a:solidFill>
                  <a:srgbClr val="0000FF"/>
                </a:solidFill>
                <a:latin typeface="Courier New"/>
                <a:ea typeface="Courier New"/>
                <a:cs typeface="Courier New"/>
                <a:sym typeface="Courier New"/>
              </a:rPr>
              <a:t>this</a:t>
            </a:r>
            <a:r>
              <a:rPr b="1" lang="en-US" sz="1700">
                <a:solidFill>
                  <a:schemeClr val="dk1"/>
                </a:solidFill>
                <a:latin typeface="Courier New"/>
                <a:ea typeface="Courier New"/>
                <a:cs typeface="Courier New"/>
                <a:sym typeface="Courier New"/>
              </a:rPr>
              <a:t>.message = </a:t>
            </a:r>
            <a:r>
              <a:rPr b="1" lang="en-US" sz="1700">
                <a:solidFill>
                  <a:srgbClr val="808080"/>
                </a:solidFill>
                <a:latin typeface="Courier New"/>
                <a:ea typeface="Courier New"/>
                <a:cs typeface="Courier New"/>
                <a:sym typeface="Courier New"/>
              </a:rPr>
              <a:t>message</a:t>
            </a:r>
            <a:r>
              <a:rPr b="1" lang="en-US" sz="1700">
                <a:solidFill>
                  <a:schemeClr val="dk1"/>
                </a:solidFill>
                <a:latin typeface="Courier New"/>
                <a:ea typeface="Courier New"/>
                <a:cs typeface="Courier New"/>
                <a:sym typeface="Courier New"/>
              </a:rPr>
              <a:t>;</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    </a:t>
            </a:r>
            <a:r>
              <a:rPr b="1" lang="en-US" sz="1700">
                <a:solidFill>
                  <a:srgbClr val="0000FF"/>
                </a:solidFill>
                <a:latin typeface="Courier New"/>
                <a:ea typeface="Courier New"/>
                <a:cs typeface="Courier New"/>
                <a:sym typeface="Courier New"/>
              </a:rPr>
              <a:t>public</a:t>
            </a:r>
            <a:r>
              <a:rPr b="1" lang="en-US" sz="1700">
                <a:solidFill>
                  <a:schemeClr val="dk1"/>
                </a:solidFill>
                <a:latin typeface="Courier New"/>
                <a:ea typeface="Courier New"/>
                <a:cs typeface="Courier New"/>
                <a:sym typeface="Courier New"/>
              </a:rPr>
              <a:t> </a:t>
            </a:r>
            <a:r>
              <a:rPr b="1" lang="en-US" sz="1700">
                <a:solidFill>
                  <a:srgbClr val="2B91AF"/>
                </a:solidFill>
                <a:latin typeface="Courier New"/>
                <a:ea typeface="Courier New"/>
                <a:cs typeface="Courier New"/>
                <a:sym typeface="Courier New"/>
              </a:rPr>
              <a:t>void</a:t>
            </a:r>
            <a:r>
              <a:rPr b="1" lang="en-US" sz="1700">
                <a:solidFill>
                  <a:schemeClr val="dk1"/>
                </a:solidFill>
                <a:latin typeface="Courier New"/>
                <a:ea typeface="Courier New"/>
                <a:cs typeface="Courier New"/>
                <a:sym typeface="Courier New"/>
              </a:rPr>
              <a:t> </a:t>
            </a:r>
            <a:r>
              <a:rPr b="1" lang="en-US" sz="1700">
                <a:solidFill>
                  <a:srgbClr val="74531F"/>
                </a:solidFill>
                <a:latin typeface="Courier New"/>
                <a:ea typeface="Courier New"/>
                <a:cs typeface="Courier New"/>
                <a:sym typeface="Courier New"/>
              </a:rPr>
              <a:t>run</a:t>
            </a:r>
            <a:r>
              <a:rPr b="1" lang="en-US" sz="1700">
                <a:solidFill>
                  <a:schemeClr val="dk1"/>
                </a:solidFill>
                <a:latin typeface="Courier New"/>
                <a:ea typeface="Courier New"/>
                <a:cs typeface="Courier New"/>
                <a:sym typeface="Courier New"/>
              </a:rPr>
              <a:t>()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        </a:t>
            </a:r>
            <a:r>
              <a:rPr b="1" lang="en-US" sz="1700">
                <a:solidFill>
                  <a:srgbClr val="8F08C4"/>
                </a:solidFill>
                <a:latin typeface="Courier New"/>
                <a:ea typeface="Courier New"/>
                <a:cs typeface="Courier New"/>
                <a:sym typeface="Courier New"/>
              </a:rPr>
              <a:t>for</a:t>
            </a:r>
            <a:r>
              <a:rPr b="1" lang="en-US" sz="1700">
                <a:solidFill>
                  <a:schemeClr val="dk1"/>
                </a:solidFill>
                <a:latin typeface="Courier New"/>
                <a:ea typeface="Courier New"/>
                <a:cs typeface="Courier New"/>
                <a:sym typeface="Courier New"/>
              </a:rPr>
              <a:t> (</a:t>
            </a:r>
            <a:r>
              <a:rPr b="1" lang="en-US" sz="1700">
                <a:solidFill>
                  <a:srgbClr val="2B91AF"/>
                </a:solidFill>
                <a:latin typeface="Courier New"/>
                <a:ea typeface="Courier New"/>
                <a:cs typeface="Courier New"/>
                <a:sym typeface="Courier New"/>
              </a:rPr>
              <a:t>int</a:t>
            </a:r>
            <a:r>
              <a:rPr b="1" lang="en-US" sz="1700">
                <a:solidFill>
                  <a:schemeClr val="dk1"/>
                </a:solidFill>
                <a:latin typeface="Courier New"/>
                <a:ea typeface="Courier New"/>
                <a:cs typeface="Courier New"/>
                <a:sym typeface="Courier New"/>
              </a:rPr>
              <a:t> </a:t>
            </a:r>
            <a:r>
              <a:rPr b="1" lang="en-US" sz="1700">
                <a:solidFill>
                  <a:srgbClr val="1F377F"/>
                </a:solidFill>
                <a:latin typeface="Courier New"/>
                <a:ea typeface="Courier New"/>
                <a:cs typeface="Courier New"/>
                <a:sym typeface="Courier New"/>
              </a:rPr>
              <a:t>i</a:t>
            </a:r>
            <a:r>
              <a:rPr b="1" lang="en-US" sz="1700">
                <a:solidFill>
                  <a:schemeClr val="dk1"/>
                </a:solidFill>
                <a:latin typeface="Courier New"/>
                <a:ea typeface="Courier New"/>
                <a:cs typeface="Courier New"/>
                <a:sym typeface="Courier New"/>
              </a:rPr>
              <a:t> = </a:t>
            </a:r>
            <a:r>
              <a:rPr b="1" lang="en-US" sz="1700">
                <a:solidFill>
                  <a:srgbClr val="098658"/>
                </a:solidFill>
                <a:latin typeface="Courier New"/>
                <a:ea typeface="Courier New"/>
                <a:cs typeface="Courier New"/>
                <a:sym typeface="Courier New"/>
              </a:rPr>
              <a:t>0</a:t>
            </a:r>
            <a:r>
              <a:rPr b="1" lang="en-US" sz="1700">
                <a:solidFill>
                  <a:schemeClr val="dk1"/>
                </a:solidFill>
                <a:latin typeface="Courier New"/>
                <a:ea typeface="Courier New"/>
                <a:cs typeface="Courier New"/>
                <a:sym typeface="Courier New"/>
              </a:rPr>
              <a:t>; </a:t>
            </a:r>
            <a:r>
              <a:rPr b="1" lang="en-US" sz="1700">
                <a:solidFill>
                  <a:srgbClr val="1F377F"/>
                </a:solidFill>
                <a:latin typeface="Courier New"/>
                <a:ea typeface="Courier New"/>
                <a:cs typeface="Courier New"/>
                <a:sym typeface="Courier New"/>
              </a:rPr>
              <a:t>i</a:t>
            </a:r>
            <a:r>
              <a:rPr b="1" lang="en-US" sz="1700">
                <a:solidFill>
                  <a:schemeClr val="dk1"/>
                </a:solidFill>
                <a:latin typeface="Courier New"/>
                <a:ea typeface="Courier New"/>
                <a:cs typeface="Courier New"/>
                <a:sym typeface="Courier New"/>
              </a:rPr>
              <a:t> &lt; </a:t>
            </a:r>
            <a:r>
              <a:rPr b="1" lang="en-US" sz="1700">
                <a:solidFill>
                  <a:srgbClr val="098658"/>
                </a:solidFill>
                <a:latin typeface="Courier New"/>
                <a:ea typeface="Courier New"/>
                <a:cs typeface="Courier New"/>
                <a:sym typeface="Courier New"/>
              </a:rPr>
              <a:t>5</a:t>
            </a:r>
            <a:r>
              <a:rPr b="1" lang="en-US" sz="1700">
                <a:solidFill>
                  <a:schemeClr val="dk1"/>
                </a:solidFill>
                <a:latin typeface="Courier New"/>
                <a:ea typeface="Courier New"/>
                <a:cs typeface="Courier New"/>
                <a:sym typeface="Courier New"/>
              </a:rPr>
              <a:t>; </a:t>
            </a:r>
            <a:r>
              <a:rPr b="1" lang="en-US" sz="1700">
                <a:solidFill>
                  <a:srgbClr val="1F377F"/>
                </a:solidFill>
                <a:latin typeface="Courier New"/>
                <a:ea typeface="Courier New"/>
                <a:cs typeface="Courier New"/>
                <a:sym typeface="Courier New"/>
              </a:rPr>
              <a:t>i</a:t>
            </a:r>
            <a:r>
              <a:rPr b="1" lang="en-US" sz="1700">
                <a:solidFill>
                  <a:schemeClr val="dk1"/>
                </a:solidFill>
                <a:latin typeface="Courier New"/>
                <a:ea typeface="Courier New"/>
                <a:cs typeface="Courier New"/>
                <a:sym typeface="Courier New"/>
              </a:rPr>
              <a:t>++)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            </a:t>
            </a:r>
            <a:r>
              <a:rPr b="1" lang="en-US" sz="1700">
                <a:solidFill>
                  <a:srgbClr val="2B91AF"/>
                </a:solidFill>
                <a:latin typeface="Courier New"/>
                <a:ea typeface="Courier New"/>
                <a:cs typeface="Courier New"/>
                <a:sym typeface="Courier New"/>
              </a:rPr>
              <a:t>System</a:t>
            </a:r>
            <a:r>
              <a:rPr b="1" lang="en-US" sz="1700">
                <a:solidFill>
                  <a:schemeClr val="dk1"/>
                </a:solidFill>
                <a:latin typeface="Courier New"/>
                <a:ea typeface="Courier New"/>
                <a:cs typeface="Courier New"/>
                <a:sym typeface="Courier New"/>
              </a:rPr>
              <a:t>.out.</a:t>
            </a:r>
            <a:r>
              <a:rPr b="1" lang="en-US" sz="1700">
                <a:solidFill>
                  <a:srgbClr val="74531F"/>
                </a:solidFill>
                <a:latin typeface="Courier New"/>
                <a:ea typeface="Courier New"/>
                <a:cs typeface="Courier New"/>
                <a:sym typeface="Courier New"/>
              </a:rPr>
              <a:t>println</a:t>
            </a:r>
            <a:r>
              <a:rPr b="1" lang="en-US" sz="1700">
                <a:solidFill>
                  <a:schemeClr val="dk1"/>
                </a:solidFill>
                <a:latin typeface="Courier New"/>
                <a:ea typeface="Courier New"/>
                <a:cs typeface="Courier New"/>
                <a:sym typeface="Courier New"/>
              </a:rPr>
              <a:t>(message);</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700">
                <a:solidFill>
                  <a:schemeClr val="dk1"/>
                </a:solidFill>
                <a:latin typeface="Courier New"/>
                <a:ea typeface="Courier New"/>
                <a:cs typeface="Courier New"/>
                <a:sym typeface="Courier New"/>
              </a:rPr>
              <a:t>}</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7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2500">
              <a:solidFill>
                <a:srgbClr val="0000FF"/>
              </a:solidFill>
              <a:latin typeface="Courier New"/>
              <a:ea typeface="Courier New"/>
              <a:cs typeface="Courier New"/>
              <a:sym typeface="Courier New"/>
            </a:endParaRPr>
          </a:p>
          <a:p>
            <a:pPr indent="0" lvl="0" marL="0" rtl="0" algn="l">
              <a:spcBef>
                <a:spcPts val="0"/>
              </a:spcBef>
              <a:spcAft>
                <a:spcPts val="0"/>
              </a:spcAft>
              <a:buNone/>
            </a:pPr>
            <a:r>
              <a:t/>
            </a:r>
            <a:endParaRPr b="1" sz="3200">
              <a:solidFill>
                <a:srgbClr val="0000FF"/>
              </a:solidFill>
              <a:latin typeface="Courier New"/>
              <a:ea typeface="Courier New"/>
              <a:cs typeface="Courier New"/>
              <a:sym typeface="Courier New"/>
            </a:endParaRPr>
          </a:p>
        </p:txBody>
      </p:sp>
      <p:sp>
        <p:nvSpPr>
          <p:cNvPr id="450" name="Google Shape;450;p54"/>
          <p:cNvSpPr txBox="1"/>
          <p:nvPr/>
        </p:nvSpPr>
        <p:spPr>
          <a:xfrm>
            <a:off x="6105400" y="1094367"/>
            <a:ext cx="5867700" cy="6821100"/>
          </a:xfrm>
          <a:prstGeom prst="rect">
            <a:avLst/>
          </a:prstGeom>
          <a:noFill/>
          <a:ln>
            <a:noFill/>
          </a:ln>
        </p:spPr>
        <p:txBody>
          <a:bodyPr anchorCtr="0" anchor="t" bIns="60950" lIns="60950" spcFirstLastPara="1" rIns="60950" wrap="square" tIns="60950">
            <a:spAutoFit/>
          </a:bodyPr>
          <a:lstStyle/>
          <a:p>
            <a:pPr indent="0" lvl="0" marL="0" rtl="0" algn="l">
              <a:lnSpc>
                <a:spcPct val="135714"/>
              </a:lnSpc>
              <a:spcBef>
                <a:spcPts val="0"/>
              </a:spcBef>
              <a:spcAft>
                <a:spcPts val="0"/>
              </a:spcAft>
              <a:buNone/>
            </a:pPr>
            <a:r>
              <a:rPr b="1" lang="en-US" sz="1600">
                <a:solidFill>
                  <a:srgbClr val="0000FF"/>
                </a:solidFill>
                <a:latin typeface="Courier New"/>
                <a:ea typeface="Courier New"/>
                <a:cs typeface="Courier New"/>
                <a:sym typeface="Courier New"/>
              </a:rPr>
              <a:t>public</a:t>
            </a:r>
            <a:r>
              <a:rPr b="1" lang="en-US" sz="1600">
                <a:solidFill>
                  <a:schemeClr val="dk1"/>
                </a:solidFill>
                <a:latin typeface="Courier New"/>
                <a:ea typeface="Courier New"/>
                <a:cs typeface="Courier New"/>
                <a:sym typeface="Courier New"/>
              </a:rPr>
              <a:t> </a:t>
            </a:r>
            <a:r>
              <a:rPr b="1" lang="en-US" sz="1600">
                <a:solidFill>
                  <a:srgbClr val="0000FF"/>
                </a:solidFill>
                <a:latin typeface="Courier New"/>
                <a:ea typeface="Courier New"/>
                <a:cs typeface="Courier New"/>
                <a:sym typeface="Courier New"/>
              </a:rPr>
              <a:t>class</a:t>
            </a: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minh</a:t>
            </a: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0000FF"/>
                </a:solidFill>
                <a:latin typeface="Courier New"/>
                <a:ea typeface="Courier New"/>
                <a:cs typeface="Courier New"/>
                <a:sym typeface="Courier New"/>
              </a:rPr>
              <a:t>public</a:t>
            </a:r>
            <a:r>
              <a:rPr b="1" lang="en-US" sz="1600">
                <a:solidFill>
                  <a:schemeClr val="dk1"/>
                </a:solidFill>
                <a:latin typeface="Courier New"/>
                <a:ea typeface="Courier New"/>
                <a:cs typeface="Courier New"/>
                <a:sym typeface="Courier New"/>
              </a:rPr>
              <a:t> </a:t>
            </a:r>
            <a:r>
              <a:rPr b="1" lang="en-US" sz="1600">
                <a:solidFill>
                  <a:srgbClr val="0000FF"/>
                </a:solidFill>
                <a:latin typeface="Courier New"/>
                <a:ea typeface="Courier New"/>
                <a:cs typeface="Courier New"/>
                <a:sym typeface="Courier New"/>
              </a:rPr>
              <a:t>static</a:t>
            </a: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void</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main</a:t>
            </a:r>
            <a:r>
              <a:rPr b="1" lang="en-US" sz="1600">
                <a:solidFill>
                  <a:schemeClr val="dk1"/>
                </a:solidFill>
                <a:latin typeface="Courier New"/>
                <a:ea typeface="Courier New"/>
                <a:cs typeface="Courier New"/>
                <a:sym typeface="Courier New"/>
              </a:rPr>
              <a:t>(</a:t>
            </a:r>
            <a:r>
              <a:rPr b="1" lang="en-US" sz="1600">
                <a:solidFill>
                  <a:srgbClr val="2B91AF"/>
                </a:solidFill>
                <a:latin typeface="Courier New"/>
                <a:ea typeface="Courier New"/>
                <a:cs typeface="Courier New"/>
                <a:sym typeface="Courier New"/>
              </a:rPr>
              <a:t>String</a:t>
            </a:r>
            <a:r>
              <a:rPr b="1" lang="en-US" sz="1600">
                <a:solidFill>
                  <a:schemeClr val="dk1"/>
                </a:solidFill>
                <a:latin typeface="Courier New"/>
                <a:ea typeface="Courier New"/>
                <a:cs typeface="Courier New"/>
                <a:sym typeface="Courier New"/>
              </a:rPr>
              <a:t>[] </a:t>
            </a:r>
            <a:r>
              <a:rPr b="1" lang="en-US" sz="1600">
                <a:solidFill>
                  <a:srgbClr val="808080"/>
                </a:solidFill>
                <a:latin typeface="Courier New"/>
                <a:ea typeface="Courier New"/>
                <a:cs typeface="Courier New"/>
                <a:sym typeface="Courier New"/>
              </a:rPr>
              <a:t>args</a:t>
            </a: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Thread</a:t>
            </a: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t1</a:t>
            </a:r>
            <a:r>
              <a:rPr b="1" lang="en-US" sz="1600">
                <a:solidFill>
                  <a:schemeClr val="dk1"/>
                </a:solidFill>
                <a:latin typeface="Courier New"/>
                <a:ea typeface="Courier New"/>
                <a:cs typeface="Courier New"/>
                <a:sym typeface="Courier New"/>
              </a:rPr>
              <a:t> = </a:t>
            </a:r>
            <a:r>
              <a:rPr b="1" lang="en-US" sz="1600">
                <a:solidFill>
                  <a:srgbClr val="8F08C4"/>
                </a:solidFill>
                <a:latin typeface="Courier New"/>
                <a:ea typeface="Courier New"/>
                <a:cs typeface="Courier New"/>
                <a:sym typeface="Courier New"/>
              </a:rPr>
              <a:t>new</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Thread</a:t>
            </a:r>
            <a:r>
              <a:rPr b="1" lang="en-US" sz="1600">
                <a:solidFill>
                  <a:schemeClr val="dk1"/>
                </a:solidFill>
                <a:latin typeface="Courier New"/>
                <a:ea typeface="Courier New"/>
                <a:cs typeface="Courier New"/>
                <a:sym typeface="Courier New"/>
              </a:rPr>
              <a:t>(</a:t>
            </a:r>
            <a:r>
              <a:rPr b="1" lang="en-US" sz="1600">
                <a:solidFill>
                  <a:srgbClr val="8F08C4"/>
                </a:solidFill>
                <a:latin typeface="Courier New"/>
                <a:ea typeface="Courier New"/>
                <a:cs typeface="Courier New"/>
                <a:sym typeface="Courier New"/>
              </a:rPr>
              <a:t>new</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PrintTask</a:t>
            </a:r>
            <a:r>
              <a:rPr b="1" lang="en-US" sz="1600">
                <a:solidFill>
                  <a:schemeClr val="dk1"/>
                </a:solidFill>
                <a:latin typeface="Courier New"/>
                <a:ea typeface="Courier New"/>
                <a:cs typeface="Courier New"/>
                <a:sym typeface="Courier New"/>
              </a:rPr>
              <a:t>(</a:t>
            </a:r>
            <a:r>
              <a:rPr b="1" lang="en-US" sz="1600">
                <a:solidFill>
                  <a:srgbClr val="E21F1F"/>
                </a:solidFill>
                <a:latin typeface="Courier New"/>
                <a:ea typeface="Courier New"/>
                <a:cs typeface="Courier New"/>
                <a:sym typeface="Courier New"/>
              </a:rPr>
              <a:t>"</a:t>
            </a:r>
            <a:r>
              <a:rPr b="1" lang="en-US" sz="1600">
                <a:solidFill>
                  <a:srgbClr val="A31515"/>
                </a:solidFill>
                <a:latin typeface="Courier New"/>
                <a:ea typeface="Courier New"/>
                <a:cs typeface="Courier New"/>
                <a:sym typeface="Courier New"/>
              </a:rPr>
              <a:t>Hello</a:t>
            </a:r>
            <a:r>
              <a:rPr b="1" lang="en-US" sz="1600">
                <a:solidFill>
                  <a:srgbClr val="E21F1F"/>
                </a:solidFill>
                <a:latin typeface="Courier New"/>
                <a:ea typeface="Courier New"/>
                <a:cs typeface="Courier New"/>
                <a:sym typeface="Courier New"/>
              </a:rPr>
              <a:t>"</a:t>
            </a: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Thread</a:t>
            </a: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t2</a:t>
            </a:r>
            <a:r>
              <a:rPr b="1" lang="en-US" sz="1600">
                <a:solidFill>
                  <a:schemeClr val="dk1"/>
                </a:solidFill>
                <a:latin typeface="Courier New"/>
                <a:ea typeface="Courier New"/>
                <a:cs typeface="Courier New"/>
                <a:sym typeface="Courier New"/>
              </a:rPr>
              <a:t> = </a:t>
            </a:r>
            <a:r>
              <a:rPr b="1" lang="en-US" sz="1600">
                <a:solidFill>
                  <a:srgbClr val="8F08C4"/>
                </a:solidFill>
                <a:latin typeface="Courier New"/>
                <a:ea typeface="Courier New"/>
                <a:cs typeface="Courier New"/>
                <a:sym typeface="Courier New"/>
              </a:rPr>
              <a:t>new</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Thread</a:t>
            </a:r>
            <a:r>
              <a:rPr b="1" lang="en-US" sz="1600">
                <a:solidFill>
                  <a:schemeClr val="dk1"/>
                </a:solidFill>
                <a:latin typeface="Courier New"/>
                <a:ea typeface="Courier New"/>
                <a:cs typeface="Courier New"/>
                <a:sym typeface="Courier New"/>
              </a:rPr>
              <a:t>(</a:t>
            </a:r>
            <a:r>
              <a:rPr b="1" lang="en-US" sz="1600">
                <a:solidFill>
                  <a:srgbClr val="8F08C4"/>
                </a:solidFill>
                <a:latin typeface="Courier New"/>
                <a:ea typeface="Courier New"/>
                <a:cs typeface="Courier New"/>
                <a:sym typeface="Courier New"/>
              </a:rPr>
              <a:t>new</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PrintTask</a:t>
            </a:r>
            <a:r>
              <a:rPr b="1" lang="en-US" sz="1600">
                <a:solidFill>
                  <a:schemeClr val="dk1"/>
                </a:solidFill>
                <a:latin typeface="Courier New"/>
                <a:ea typeface="Courier New"/>
                <a:cs typeface="Courier New"/>
                <a:sym typeface="Courier New"/>
              </a:rPr>
              <a:t>(</a:t>
            </a:r>
            <a:r>
              <a:rPr b="1" lang="en-US" sz="1600">
                <a:solidFill>
                  <a:srgbClr val="E21F1F"/>
                </a:solidFill>
                <a:latin typeface="Courier New"/>
                <a:ea typeface="Courier New"/>
                <a:cs typeface="Courier New"/>
                <a:sym typeface="Courier New"/>
              </a:rPr>
              <a:t>"</a:t>
            </a:r>
            <a:r>
              <a:rPr b="1" lang="en-US" sz="1600">
                <a:solidFill>
                  <a:srgbClr val="A31515"/>
                </a:solidFill>
                <a:latin typeface="Courier New"/>
                <a:ea typeface="Courier New"/>
                <a:cs typeface="Courier New"/>
                <a:sym typeface="Courier New"/>
              </a:rPr>
              <a:t>World</a:t>
            </a:r>
            <a:r>
              <a:rPr b="1" lang="en-US" sz="1600">
                <a:solidFill>
                  <a:srgbClr val="E21F1F"/>
                </a:solidFill>
                <a:latin typeface="Courier New"/>
                <a:ea typeface="Courier New"/>
                <a:cs typeface="Courier New"/>
                <a:sym typeface="Courier New"/>
              </a:rPr>
              <a:t>"</a:t>
            </a: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2B91AF"/>
                </a:solidFill>
                <a:latin typeface="Courier New"/>
                <a:ea typeface="Courier New"/>
                <a:cs typeface="Courier New"/>
                <a:sym typeface="Courier New"/>
              </a:rPr>
              <a:t>Thread</a:t>
            </a: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t3</a:t>
            </a:r>
            <a:r>
              <a:rPr b="1" lang="en-US" sz="1600">
                <a:solidFill>
                  <a:schemeClr val="dk1"/>
                </a:solidFill>
                <a:latin typeface="Courier New"/>
                <a:ea typeface="Courier New"/>
                <a:cs typeface="Courier New"/>
                <a:sym typeface="Courier New"/>
              </a:rPr>
              <a:t> = </a:t>
            </a:r>
            <a:r>
              <a:rPr b="1" lang="en-US" sz="1600">
                <a:solidFill>
                  <a:srgbClr val="8F08C4"/>
                </a:solidFill>
                <a:latin typeface="Courier New"/>
                <a:ea typeface="Courier New"/>
                <a:cs typeface="Courier New"/>
                <a:sym typeface="Courier New"/>
              </a:rPr>
              <a:t>new</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Thread</a:t>
            </a:r>
            <a:r>
              <a:rPr b="1" lang="en-US" sz="1600">
                <a:solidFill>
                  <a:schemeClr val="dk1"/>
                </a:solidFill>
                <a:latin typeface="Courier New"/>
                <a:ea typeface="Courier New"/>
                <a:cs typeface="Courier New"/>
                <a:sym typeface="Courier New"/>
              </a:rPr>
              <a:t>(</a:t>
            </a:r>
            <a:r>
              <a:rPr b="1" lang="en-US" sz="1600">
                <a:solidFill>
                  <a:srgbClr val="8F08C4"/>
                </a:solidFill>
                <a:latin typeface="Courier New"/>
                <a:ea typeface="Courier New"/>
                <a:cs typeface="Courier New"/>
                <a:sym typeface="Courier New"/>
              </a:rPr>
              <a:t>new</a:t>
            </a:r>
            <a:r>
              <a:rPr b="1" lang="en-US" sz="1600">
                <a:solidFill>
                  <a:schemeClr val="dk1"/>
                </a:solidFill>
                <a:latin typeface="Courier New"/>
                <a:ea typeface="Courier New"/>
                <a:cs typeface="Courier New"/>
                <a:sym typeface="Courier New"/>
              </a:rPr>
              <a:t> </a:t>
            </a:r>
            <a:r>
              <a:rPr b="1" lang="en-US" sz="1600">
                <a:solidFill>
                  <a:srgbClr val="74531F"/>
                </a:solidFill>
                <a:latin typeface="Courier New"/>
                <a:ea typeface="Courier New"/>
                <a:cs typeface="Courier New"/>
                <a:sym typeface="Courier New"/>
              </a:rPr>
              <a:t>PrintTask</a:t>
            </a:r>
            <a:r>
              <a:rPr b="1" lang="en-US" sz="1600">
                <a:solidFill>
                  <a:schemeClr val="dk1"/>
                </a:solidFill>
                <a:latin typeface="Courier New"/>
                <a:ea typeface="Courier New"/>
                <a:cs typeface="Courier New"/>
                <a:sym typeface="Courier New"/>
              </a:rPr>
              <a:t>(</a:t>
            </a:r>
            <a:r>
              <a:rPr b="1" lang="en-US" sz="1600">
                <a:solidFill>
                  <a:srgbClr val="E21F1F"/>
                </a:solidFill>
                <a:latin typeface="Courier New"/>
                <a:ea typeface="Courier New"/>
                <a:cs typeface="Courier New"/>
                <a:sym typeface="Courier New"/>
              </a:rPr>
              <a:t>"</a:t>
            </a:r>
            <a:r>
              <a:rPr b="1" lang="en-US" sz="1600">
                <a:solidFill>
                  <a:srgbClr val="A31515"/>
                </a:solidFill>
                <a:latin typeface="Courier New"/>
                <a:ea typeface="Courier New"/>
                <a:cs typeface="Courier New"/>
                <a:sym typeface="Courier New"/>
              </a:rPr>
              <a:t>Java</a:t>
            </a:r>
            <a:r>
              <a:rPr b="1" lang="en-US" sz="1600">
                <a:solidFill>
                  <a:srgbClr val="E21F1F"/>
                </a:solidFill>
                <a:latin typeface="Courier New"/>
                <a:ea typeface="Courier New"/>
                <a:cs typeface="Courier New"/>
                <a:sym typeface="Courier New"/>
              </a:rPr>
              <a:t>"</a:t>
            </a: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t1</a:t>
            </a:r>
            <a:r>
              <a:rPr b="1" lang="en-US" sz="1600">
                <a:solidFill>
                  <a:schemeClr val="dk1"/>
                </a:solidFill>
                <a:latin typeface="Courier New"/>
                <a:ea typeface="Courier New"/>
                <a:cs typeface="Courier New"/>
                <a:sym typeface="Courier New"/>
              </a:rPr>
              <a:t>.</a:t>
            </a:r>
            <a:r>
              <a:rPr b="1" lang="en-US" sz="1600">
                <a:solidFill>
                  <a:srgbClr val="74531F"/>
                </a:solidFill>
                <a:latin typeface="Courier New"/>
                <a:ea typeface="Courier New"/>
                <a:cs typeface="Courier New"/>
                <a:sym typeface="Courier New"/>
              </a:rPr>
              <a:t>start</a:t>
            </a: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t2</a:t>
            </a:r>
            <a:r>
              <a:rPr b="1" lang="en-US" sz="1600">
                <a:solidFill>
                  <a:schemeClr val="dk1"/>
                </a:solidFill>
                <a:latin typeface="Courier New"/>
                <a:ea typeface="Courier New"/>
                <a:cs typeface="Courier New"/>
                <a:sym typeface="Courier New"/>
              </a:rPr>
              <a:t>.</a:t>
            </a:r>
            <a:r>
              <a:rPr b="1" lang="en-US" sz="1600">
                <a:solidFill>
                  <a:srgbClr val="74531F"/>
                </a:solidFill>
                <a:latin typeface="Courier New"/>
                <a:ea typeface="Courier New"/>
                <a:cs typeface="Courier New"/>
                <a:sym typeface="Courier New"/>
              </a:rPr>
              <a:t>start</a:t>
            </a: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r>
              <a:rPr b="1" lang="en-US" sz="1600">
                <a:solidFill>
                  <a:srgbClr val="1F377F"/>
                </a:solidFill>
                <a:latin typeface="Courier New"/>
                <a:ea typeface="Courier New"/>
                <a:cs typeface="Courier New"/>
                <a:sym typeface="Courier New"/>
              </a:rPr>
              <a:t>t3</a:t>
            </a:r>
            <a:r>
              <a:rPr b="1" lang="en-US" sz="1600">
                <a:solidFill>
                  <a:schemeClr val="dk1"/>
                </a:solidFill>
                <a:latin typeface="Courier New"/>
                <a:ea typeface="Courier New"/>
                <a:cs typeface="Courier New"/>
                <a:sym typeface="Courier New"/>
              </a:rPr>
              <a:t>.</a:t>
            </a:r>
            <a:r>
              <a:rPr b="1" lang="en-US" sz="1600">
                <a:solidFill>
                  <a:srgbClr val="74531F"/>
                </a:solidFill>
                <a:latin typeface="Courier New"/>
                <a:ea typeface="Courier New"/>
                <a:cs typeface="Courier New"/>
                <a:sym typeface="Courier New"/>
              </a:rPr>
              <a:t>start</a:t>
            </a: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rPr b="1" lang="en-US"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600">
              <a:solidFill>
                <a:srgbClr val="0000FF"/>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2200">
              <a:solidFill>
                <a:srgbClr val="0000FF"/>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2200">
              <a:solidFill>
                <a:schemeClr val="dk1"/>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2800">
              <a:solidFill>
                <a:schemeClr val="dk1"/>
              </a:solidFill>
              <a:latin typeface="Courier New"/>
              <a:ea typeface="Courier New"/>
              <a:cs typeface="Courier New"/>
              <a:sym typeface="Courier New"/>
            </a:endParaRPr>
          </a:p>
        </p:txBody>
      </p:sp>
      <p:sp>
        <p:nvSpPr>
          <p:cNvPr id="451" name="Google Shape;451;p5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455" name="Shape 455"/>
        <p:cNvGrpSpPr/>
        <p:nvPr/>
      </p:nvGrpSpPr>
      <p:grpSpPr>
        <a:xfrm>
          <a:off x="0" y="0"/>
          <a:ext cx="0" cy="0"/>
          <a:chOff x="0" y="0"/>
          <a:chExt cx="0" cy="0"/>
        </a:xfrm>
      </p:grpSpPr>
      <p:sp>
        <p:nvSpPr>
          <p:cNvPr id="456" name="Google Shape;456;p55"/>
          <p:cNvSpPr txBox="1"/>
          <p:nvPr/>
        </p:nvSpPr>
        <p:spPr>
          <a:xfrm>
            <a:off x="8006983" y="-299366"/>
            <a:ext cx="7748100" cy="18573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t/>
            </a:r>
            <a:endParaRPr b="1" sz="2100">
              <a:solidFill>
                <a:schemeClr val="dk1"/>
              </a:solidFill>
              <a:latin typeface="Calibri"/>
              <a:ea typeface="Calibri"/>
              <a:cs typeface="Calibri"/>
              <a:sym typeface="Calibri"/>
            </a:endParaRPr>
          </a:p>
          <a:p>
            <a:pPr indent="0" lvl="0" marL="0" marR="0" rtl="0" algn="l">
              <a:spcBef>
                <a:spcPts val="700"/>
              </a:spcBef>
              <a:spcAft>
                <a:spcPts val="0"/>
              </a:spcAft>
              <a:buNone/>
            </a:pPr>
            <a:r>
              <a:rPr b="1" i="0" lang="en-US" sz="2100" u="none" strike="noStrike">
                <a:solidFill>
                  <a:srgbClr val="000000"/>
                </a:solidFill>
              </a:rPr>
              <a:t> </a:t>
            </a:r>
            <a:r>
              <a:rPr b="1" lang="en-US" sz="2100"/>
              <a:t>V</a:t>
            </a:r>
            <a:r>
              <a:rPr b="1" i="0" lang="en-US" sz="2100" u="none" strike="noStrike">
                <a:solidFill>
                  <a:srgbClr val="000000"/>
                </a:solidFill>
              </a:rPr>
              <a:t>í dụ</a:t>
            </a:r>
            <a:r>
              <a:rPr b="1" lang="en-US" sz="2100"/>
              <a:t> nhiều Runnable</a:t>
            </a:r>
            <a:r>
              <a:rPr b="1" i="0" lang="en-US" sz="2100" u="none" strike="noStrike">
                <a:solidFill>
                  <a:srgbClr val="000000"/>
                </a:solidFill>
              </a:rPr>
              <a:t> v</a:t>
            </a:r>
            <a:r>
              <a:rPr b="1" lang="en-US" sz="2100"/>
              <a:t>ới Sleep</a:t>
            </a:r>
            <a:endParaRPr b="1" sz="2100">
              <a:solidFill>
                <a:schemeClr val="dk1"/>
              </a:solidFill>
              <a:latin typeface="Calibri"/>
              <a:ea typeface="Calibri"/>
              <a:cs typeface="Calibri"/>
              <a:sym typeface="Calibri"/>
            </a:endParaRPr>
          </a:p>
          <a:p>
            <a:pPr indent="0" lvl="0" marL="0" marR="0" rtl="0" algn="l">
              <a:spcBef>
                <a:spcPts val="700"/>
              </a:spcBef>
              <a:spcAft>
                <a:spcPts val="0"/>
              </a:spcAft>
              <a:buNone/>
            </a:pPr>
            <a:r>
              <a:t/>
            </a:r>
            <a:endParaRPr b="1" sz="2100">
              <a:solidFill>
                <a:schemeClr val="dk1"/>
              </a:solidFill>
              <a:latin typeface="Calibri"/>
              <a:ea typeface="Calibri"/>
              <a:cs typeface="Calibri"/>
              <a:sym typeface="Calibri"/>
            </a:endParaRPr>
          </a:p>
          <a:p>
            <a:pPr indent="0" lvl="0" marL="0" marR="0" rtl="0" algn="l">
              <a:spcBef>
                <a:spcPts val="0"/>
              </a:spcBef>
              <a:spcAft>
                <a:spcPts val="0"/>
              </a:spcAft>
              <a:buNone/>
            </a:pPr>
            <a:br>
              <a:rPr b="1" lang="en-US" sz="2100">
                <a:solidFill>
                  <a:schemeClr val="dk1"/>
                </a:solidFill>
                <a:latin typeface="Calibri"/>
                <a:ea typeface="Calibri"/>
                <a:cs typeface="Calibri"/>
                <a:sym typeface="Calibri"/>
              </a:rPr>
            </a:br>
            <a:endParaRPr b="1" sz="2100">
              <a:solidFill>
                <a:schemeClr val="dk1"/>
              </a:solidFill>
              <a:latin typeface="Calibri"/>
              <a:ea typeface="Calibri"/>
              <a:cs typeface="Calibri"/>
              <a:sym typeface="Calibri"/>
            </a:endParaRPr>
          </a:p>
        </p:txBody>
      </p:sp>
      <p:sp>
        <p:nvSpPr>
          <p:cNvPr id="457" name="Google Shape;457;p55"/>
          <p:cNvSpPr txBox="1"/>
          <p:nvPr/>
        </p:nvSpPr>
        <p:spPr>
          <a:xfrm>
            <a:off x="268750" y="421200"/>
            <a:ext cx="5700000" cy="66201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b="1" lang="en-US" sz="1300">
                <a:solidFill>
                  <a:srgbClr val="F286C4"/>
                </a:solidFill>
                <a:latin typeface="Courier New"/>
                <a:ea typeface="Courier New"/>
                <a:cs typeface="Courier New"/>
                <a:sym typeface="Courier New"/>
              </a:rPr>
              <a:t>class</a:t>
            </a:r>
            <a:r>
              <a:rPr b="1" lang="en-US" sz="1300">
                <a:solidFill>
                  <a:srgbClr val="F6F6F4"/>
                </a:solidFill>
                <a:latin typeface="Courier New"/>
                <a:ea typeface="Courier New"/>
                <a:cs typeface="Courier New"/>
                <a:sym typeface="Courier New"/>
              </a:rPr>
              <a:t> </a:t>
            </a:r>
            <a:r>
              <a:rPr b="1" lang="en-US" sz="1300">
                <a:solidFill>
                  <a:srgbClr val="97E1F1"/>
                </a:solidFill>
                <a:latin typeface="Courier New"/>
                <a:ea typeface="Courier New"/>
                <a:cs typeface="Courier New"/>
                <a:sym typeface="Courier New"/>
              </a:rPr>
              <a:t>MyRunnable</a:t>
            </a: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implements</a:t>
            </a:r>
            <a:r>
              <a:rPr b="1" lang="en-US" sz="1300">
                <a:solidFill>
                  <a:srgbClr val="F6F6F4"/>
                </a:solidFill>
                <a:latin typeface="Courier New"/>
                <a:ea typeface="Courier New"/>
                <a:cs typeface="Courier New"/>
                <a:sym typeface="Courier New"/>
              </a:rPr>
              <a:t> </a:t>
            </a:r>
            <a:r>
              <a:rPr b="1" i="1" lang="en-US" sz="1300">
                <a:solidFill>
                  <a:srgbClr val="97E1F1"/>
                </a:solidFill>
                <a:latin typeface="Courier New"/>
                <a:ea typeface="Courier New"/>
                <a:cs typeface="Courier New"/>
                <a:sym typeface="Courier New"/>
              </a:rPr>
              <a:t>Runnable</a:t>
            </a:r>
            <a:r>
              <a:rPr b="1" lang="en-US" sz="1300">
                <a:solidFill>
                  <a:srgbClr val="F6F6F4"/>
                </a:solidFill>
                <a:latin typeface="Courier New"/>
                <a:ea typeface="Courier New"/>
                <a:cs typeface="Courier New"/>
                <a:sym typeface="Courier New"/>
              </a:rPr>
              <a:t> {</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private</a:t>
            </a: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final</a:t>
            </a:r>
            <a:r>
              <a:rPr b="1" lang="en-US" sz="1300">
                <a:solidFill>
                  <a:srgbClr val="F6F6F4"/>
                </a:solidFill>
                <a:latin typeface="Courier New"/>
                <a:ea typeface="Courier New"/>
                <a:cs typeface="Courier New"/>
                <a:sym typeface="Courier New"/>
              </a:rPr>
              <a:t> </a:t>
            </a:r>
            <a:r>
              <a:rPr b="1" lang="en-US" sz="1300">
                <a:solidFill>
                  <a:srgbClr val="97E1F1"/>
                </a:solidFill>
                <a:latin typeface="Courier New"/>
                <a:ea typeface="Courier New"/>
                <a:cs typeface="Courier New"/>
                <a:sym typeface="Courier New"/>
              </a:rPr>
              <a:t>String</a:t>
            </a:r>
            <a:r>
              <a:rPr b="1" lang="en-US" sz="1300">
                <a:solidFill>
                  <a:srgbClr val="F6F6F4"/>
                </a:solidFill>
                <a:latin typeface="Courier New"/>
                <a:ea typeface="Courier New"/>
                <a:cs typeface="Courier New"/>
                <a:sym typeface="Courier New"/>
              </a:rPr>
              <a:t> </a:t>
            </a:r>
            <a:r>
              <a:rPr b="1" lang="en-US" sz="1300">
                <a:solidFill>
                  <a:srgbClr val="BF9EEE"/>
                </a:solidFill>
                <a:latin typeface="Courier New"/>
                <a:ea typeface="Courier New"/>
                <a:cs typeface="Courier New"/>
                <a:sym typeface="Courier New"/>
              </a:rPr>
              <a:t>message</a:t>
            </a:r>
            <a:r>
              <a:rPr b="1" lang="en-US" sz="1300">
                <a:solidFill>
                  <a:srgbClr val="F6F6F4"/>
                </a:solidFill>
                <a:latin typeface="Courier New"/>
                <a:ea typeface="Courier New"/>
                <a:cs typeface="Courier New"/>
                <a:sym typeface="Courier New"/>
              </a:rPr>
              <a:t>;</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private</a:t>
            </a: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final</a:t>
            </a:r>
            <a:r>
              <a:rPr b="1" lang="en-US" sz="1300">
                <a:solidFill>
                  <a:srgbClr val="F6F6F4"/>
                </a:solidFill>
                <a:latin typeface="Courier New"/>
                <a:ea typeface="Courier New"/>
                <a:cs typeface="Courier New"/>
                <a:sym typeface="Courier New"/>
              </a:rPr>
              <a:t> </a:t>
            </a:r>
            <a:r>
              <a:rPr b="1" i="1" lang="en-US" sz="1300">
                <a:solidFill>
                  <a:srgbClr val="97E1F1"/>
                </a:solidFill>
                <a:latin typeface="Courier New"/>
                <a:ea typeface="Courier New"/>
                <a:cs typeface="Courier New"/>
                <a:sym typeface="Courier New"/>
              </a:rPr>
              <a:t>int</a:t>
            </a:r>
            <a:r>
              <a:rPr b="1" lang="en-US" sz="1300">
                <a:solidFill>
                  <a:srgbClr val="F6F6F4"/>
                </a:solidFill>
                <a:latin typeface="Courier New"/>
                <a:ea typeface="Courier New"/>
                <a:cs typeface="Courier New"/>
                <a:sym typeface="Courier New"/>
              </a:rPr>
              <a:t> </a:t>
            </a:r>
            <a:r>
              <a:rPr b="1" lang="en-US" sz="1300">
                <a:solidFill>
                  <a:srgbClr val="BF9EEE"/>
                </a:solidFill>
                <a:latin typeface="Courier New"/>
                <a:ea typeface="Courier New"/>
                <a:cs typeface="Courier New"/>
                <a:sym typeface="Courier New"/>
              </a:rPr>
              <a:t>delay</a:t>
            </a:r>
            <a:r>
              <a:rPr b="1" lang="en-US" sz="1300">
                <a:solidFill>
                  <a:srgbClr val="F6F6F4"/>
                </a:solidFill>
                <a:latin typeface="Courier New"/>
                <a:ea typeface="Courier New"/>
                <a:cs typeface="Courier New"/>
                <a:sym typeface="Courier New"/>
              </a:rPr>
              <a:t>;</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public</a:t>
            </a:r>
            <a:r>
              <a:rPr b="1" lang="en-US" sz="1300">
                <a:solidFill>
                  <a:srgbClr val="F6F6F4"/>
                </a:solidFill>
                <a:latin typeface="Courier New"/>
                <a:ea typeface="Courier New"/>
                <a:cs typeface="Courier New"/>
                <a:sym typeface="Courier New"/>
              </a:rPr>
              <a:t> </a:t>
            </a:r>
            <a:r>
              <a:rPr b="1" lang="en-US" sz="1300">
                <a:solidFill>
                  <a:srgbClr val="62E884"/>
                </a:solidFill>
                <a:latin typeface="Courier New"/>
                <a:ea typeface="Courier New"/>
                <a:cs typeface="Courier New"/>
                <a:sym typeface="Courier New"/>
              </a:rPr>
              <a:t>MyRunnable</a:t>
            </a:r>
            <a:r>
              <a:rPr b="1" lang="en-US" sz="1300">
                <a:solidFill>
                  <a:srgbClr val="F6F6F4"/>
                </a:solidFill>
                <a:latin typeface="Courier New"/>
                <a:ea typeface="Courier New"/>
                <a:cs typeface="Courier New"/>
                <a:sym typeface="Courier New"/>
              </a:rPr>
              <a:t>(</a:t>
            </a:r>
            <a:r>
              <a:rPr b="1" lang="en-US" sz="1300">
                <a:solidFill>
                  <a:srgbClr val="97E1F1"/>
                </a:solidFill>
                <a:latin typeface="Courier New"/>
                <a:ea typeface="Courier New"/>
                <a:cs typeface="Courier New"/>
                <a:sym typeface="Courier New"/>
              </a:rPr>
              <a:t>String</a:t>
            </a:r>
            <a:r>
              <a:rPr b="1" lang="en-US" sz="1300">
                <a:solidFill>
                  <a:srgbClr val="F6F6F4"/>
                </a:solidFill>
                <a:latin typeface="Courier New"/>
                <a:ea typeface="Courier New"/>
                <a:cs typeface="Courier New"/>
                <a:sym typeface="Courier New"/>
              </a:rPr>
              <a:t> </a:t>
            </a:r>
            <a:r>
              <a:rPr b="1" i="1" lang="en-US" sz="1300">
                <a:solidFill>
                  <a:srgbClr val="FFB86C"/>
                </a:solidFill>
                <a:latin typeface="Courier New"/>
                <a:ea typeface="Courier New"/>
                <a:cs typeface="Courier New"/>
                <a:sym typeface="Courier New"/>
              </a:rPr>
              <a:t>message</a:t>
            </a:r>
            <a:r>
              <a:rPr b="1" lang="en-US" sz="1300">
                <a:solidFill>
                  <a:srgbClr val="F6F6F4"/>
                </a:solidFill>
                <a:latin typeface="Courier New"/>
                <a:ea typeface="Courier New"/>
                <a:cs typeface="Courier New"/>
                <a:sym typeface="Courier New"/>
              </a:rPr>
              <a:t>, </a:t>
            </a:r>
            <a:r>
              <a:rPr b="1" i="1" lang="en-US" sz="1300">
                <a:solidFill>
                  <a:srgbClr val="97E1F1"/>
                </a:solidFill>
                <a:latin typeface="Courier New"/>
                <a:ea typeface="Courier New"/>
                <a:cs typeface="Courier New"/>
                <a:sym typeface="Courier New"/>
              </a:rPr>
              <a:t>int</a:t>
            </a:r>
            <a:r>
              <a:rPr b="1" lang="en-US" sz="1300">
                <a:solidFill>
                  <a:srgbClr val="F6F6F4"/>
                </a:solidFill>
                <a:latin typeface="Courier New"/>
                <a:ea typeface="Courier New"/>
                <a:cs typeface="Courier New"/>
                <a:sym typeface="Courier New"/>
              </a:rPr>
              <a:t> </a:t>
            </a:r>
            <a:r>
              <a:rPr b="1" i="1" lang="en-US" sz="1300">
                <a:solidFill>
                  <a:srgbClr val="FFB86C"/>
                </a:solidFill>
                <a:latin typeface="Courier New"/>
                <a:ea typeface="Courier New"/>
                <a:cs typeface="Courier New"/>
                <a:sym typeface="Courier New"/>
              </a:rPr>
              <a:t>delay</a:t>
            </a:r>
            <a:r>
              <a:rPr b="1" lang="en-US" sz="1300">
                <a:solidFill>
                  <a:srgbClr val="F6F6F4"/>
                </a:solidFill>
                <a:latin typeface="Courier New"/>
                <a:ea typeface="Courier New"/>
                <a:cs typeface="Courier New"/>
                <a:sym typeface="Courier New"/>
              </a:rPr>
              <a:t>) {</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i="1" lang="en-US" sz="1300">
                <a:solidFill>
                  <a:srgbClr val="BF9EEE"/>
                </a:solidFill>
                <a:latin typeface="Courier New"/>
                <a:ea typeface="Courier New"/>
                <a:cs typeface="Courier New"/>
                <a:sym typeface="Courier New"/>
              </a:rPr>
              <a:t>this</a:t>
            </a:r>
            <a:r>
              <a:rPr b="1" lang="en-US" sz="1300">
                <a:solidFill>
                  <a:srgbClr val="F6F6F4"/>
                </a:solidFill>
                <a:latin typeface="Courier New"/>
                <a:ea typeface="Courier New"/>
                <a:cs typeface="Courier New"/>
                <a:sym typeface="Courier New"/>
              </a:rPr>
              <a:t>.</a:t>
            </a:r>
            <a:r>
              <a:rPr b="1" lang="en-US" sz="1300">
                <a:solidFill>
                  <a:srgbClr val="BF9EEE"/>
                </a:solidFill>
                <a:latin typeface="Courier New"/>
                <a:ea typeface="Courier New"/>
                <a:cs typeface="Courier New"/>
                <a:sym typeface="Courier New"/>
              </a:rPr>
              <a:t>message</a:t>
            </a: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a:t>
            </a:r>
            <a:r>
              <a:rPr b="1" lang="en-US" sz="1300">
                <a:solidFill>
                  <a:srgbClr val="F6F6F4"/>
                </a:solidFill>
                <a:latin typeface="Courier New"/>
                <a:ea typeface="Courier New"/>
                <a:cs typeface="Courier New"/>
                <a:sym typeface="Courier New"/>
              </a:rPr>
              <a:t> </a:t>
            </a:r>
            <a:r>
              <a:rPr b="1" i="1" lang="en-US" sz="1300">
                <a:solidFill>
                  <a:srgbClr val="FFB86C"/>
                </a:solidFill>
                <a:latin typeface="Courier New"/>
                <a:ea typeface="Courier New"/>
                <a:cs typeface="Courier New"/>
                <a:sym typeface="Courier New"/>
              </a:rPr>
              <a:t>message</a:t>
            </a:r>
            <a:r>
              <a:rPr b="1" lang="en-US" sz="1300">
                <a:solidFill>
                  <a:srgbClr val="F6F6F4"/>
                </a:solidFill>
                <a:latin typeface="Courier New"/>
                <a:ea typeface="Courier New"/>
                <a:cs typeface="Courier New"/>
                <a:sym typeface="Courier New"/>
              </a:rPr>
              <a:t>;</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i="1" lang="en-US" sz="1300">
                <a:solidFill>
                  <a:srgbClr val="BF9EEE"/>
                </a:solidFill>
                <a:latin typeface="Courier New"/>
                <a:ea typeface="Courier New"/>
                <a:cs typeface="Courier New"/>
                <a:sym typeface="Courier New"/>
              </a:rPr>
              <a:t>this</a:t>
            </a:r>
            <a:r>
              <a:rPr b="1" lang="en-US" sz="1300">
                <a:solidFill>
                  <a:srgbClr val="F6F6F4"/>
                </a:solidFill>
                <a:latin typeface="Courier New"/>
                <a:ea typeface="Courier New"/>
                <a:cs typeface="Courier New"/>
                <a:sym typeface="Courier New"/>
              </a:rPr>
              <a:t>.</a:t>
            </a:r>
            <a:r>
              <a:rPr b="1" lang="en-US" sz="1300">
                <a:solidFill>
                  <a:srgbClr val="BF9EEE"/>
                </a:solidFill>
                <a:latin typeface="Courier New"/>
                <a:ea typeface="Courier New"/>
                <a:cs typeface="Courier New"/>
                <a:sym typeface="Courier New"/>
              </a:rPr>
              <a:t>delay</a:t>
            </a: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a:t>
            </a:r>
            <a:r>
              <a:rPr b="1" lang="en-US" sz="1300">
                <a:solidFill>
                  <a:srgbClr val="F6F6F4"/>
                </a:solidFill>
                <a:latin typeface="Courier New"/>
                <a:ea typeface="Courier New"/>
                <a:cs typeface="Courier New"/>
                <a:sym typeface="Courier New"/>
              </a:rPr>
              <a:t> </a:t>
            </a:r>
            <a:r>
              <a:rPr b="1" i="1" lang="en-US" sz="1300">
                <a:solidFill>
                  <a:srgbClr val="FFB86C"/>
                </a:solidFill>
                <a:latin typeface="Courier New"/>
                <a:ea typeface="Courier New"/>
                <a:cs typeface="Courier New"/>
                <a:sym typeface="Courier New"/>
              </a:rPr>
              <a:t>delay</a:t>
            </a:r>
            <a:r>
              <a:rPr b="1" lang="en-US" sz="1300">
                <a:solidFill>
                  <a:srgbClr val="F6F6F4"/>
                </a:solidFill>
                <a:latin typeface="Courier New"/>
                <a:ea typeface="Courier New"/>
                <a:cs typeface="Courier New"/>
                <a:sym typeface="Courier New"/>
              </a:rPr>
              <a:t>;</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Override</a:t>
            </a:r>
            <a:endParaRPr b="1" sz="1300">
              <a:solidFill>
                <a:srgbClr val="F286C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public</a:t>
            </a:r>
            <a:r>
              <a:rPr b="1" lang="en-US" sz="1300">
                <a:solidFill>
                  <a:srgbClr val="F6F6F4"/>
                </a:solidFill>
                <a:latin typeface="Courier New"/>
                <a:ea typeface="Courier New"/>
                <a:cs typeface="Courier New"/>
                <a:sym typeface="Courier New"/>
              </a:rPr>
              <a:t> </a:t>
            </a:r>
            <a:r>
              <a:rPr b="1" i="1" lang="en-US" sz="1300">
                <a:solidFill>
                  <a:srgbClr val="97E1F1"/>
                </a:solidFill>
                <a:latin typeface="Courier New"/>
                <a:ea typeface="Courier New"/>
                <a:cs typeface="Courier New"/>
                <a:sym typeface="Courier New"/>
              </a:rPr>
              <a:t>void</a:t>
            </a:r>
            <a:r>
              <a:rPr b="1" lang="en-US" sz="1300">
                <a:solidFill>
                  <a:srgbClr val="F6F6F4"/>
                </a:solidFill>
                <a:latin typeface="Courier New"/>
                <a:ea typeface="Courier New"/>
                <a:cs typeface="Courier New"/>
                <a:sym typeface="Courier New"/>
              </a:rPr>
              <a:t> </a:t>
            </a:r>
            <a:r>
              <a:rPr b="1" lang="en-US" sz="1300">
                <a:solidFill>
                  <a:srgbClr val="62E884"/>
                </a:solidFill>
                <a:latin typeface="Courier New"/>
                <a:ea typeface="Courier New"/>
                <a:cs typeface="Courier New"/>
                <a:sym typeface="Courier New"/>
              </a:rPr>
              <a:t>run</a:t>
            </a:r>
            <a:r>
              <a:rPr b="1" lang="en-US" sz="1300">
                <a:solidFill>
                  <a:srgbClr val="F6F6F4"/>
                </a:solidFill>
                <a:latin typeface="Courier New"/>
                <a:ea typeface="Courier New"/>
                <a:cs typeface="Courier New"/>
                <a:sym typeface="Courier New"/>
              </a:rPr>
              <a:t>() {</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for</a:t>
            </a:r>
            <a:r>
              <a:rPr b="1" lang="en-US" sz="1300">
                <a:solidFill>
                  <a:srgbClr val="F6F6F4"/>
                </a:solidFill>
                <a:latin typeface="Courier New"/>
                <a:ea typeface="Courier New"/>
                <a:cs typeface="Courier New"/>
                <a:sym typeface="Courier New"/>
              </a:rPr>
              <a:t> (</a:t>
            </a:r>
            <a:r>
              <a:rPr b="1" i="1" lang="en-US" sz="1300">
                <a:solidFill>
                  <a:srgbClr val="97E1F1"/>
                </a:solidFill>
                <a:latin typeface="Courier New"/>
                <a:ea typeface="Courier New"/>
                <a:cs typeface="Courier New"/>
                <a:sym typeface="Courier New"/>
              </a:rPr>
              <a:t>int</a:t>
            </a:r>
            <a:r>
              <a:rPr b="1" lang="en-US" sz="1300">
                <a:solidFill>
                  <a:srgbClr val="F6F6F4"/>
                </a:solidFill>
                <a:latin typeface="Courier New"/>
                <a:ea typeface="Courier New"/>
                <a:cs typeface="Courier New"/>
                <a:sym typeface="Courier New"/>
              </a:rPr>
              <a:t> i </a:t>
            </a:r>
            <a:r>
              <a:rPr b="1" lang="en-US" sz="1300">
                <a:solidFill>
                  <a:srgbClr val="F286C4"/>
                </a:solidFill>
                <a:latin typeface="Courier New"/>
                <a:ea typeface="Courier New"/>
                <a:cs typeface="Courier New"/>
                <a:sym typeface="Courier New"/>
              </a:rPr>
              <a:t>=</a:t>
            </a:r>
            <a:r>
              <a:rPr b="1" lang="en-US" sz="1300">
                <a:solidFill>
                  <a:srgbClr val="F6F6F4"/>
                </a:solidFill>
                <a:latin typeface="Courier New"/>
                <a:ea typeface="Courier New"/>
                <a:cs typeface="Courier New"/>
                <a:sym typeface="Courier New"/>
              </a:rPr>
              <a:t> </a:t>
            </a:r>
            <a:r>
              <a:rPr b="1" lang="en-US" sz="1300">
                <a:solidFill>
                  <a:srgbClr val="BF9EEE"/>
                </a:solidFill>
                <a:latin typeface="Courier New"/>
                <a:ea typeface="Courier New"/>
                <a:cs typeface="Courier New"/>
                <a:sym typeface="Courier New"/>
              </a:rPr>
              <a:t>1</a:t>
            </a:r>
            <a:r>
              <a:rPr b="1" lang="en-US" sz="1300">
                <a:solidFill>
                  <a:srgbClr val="F6F6F4"/>
                </a:solidFill>
                <a:latin typeface="Courier New"/>
                <a:ea typeface="Courier New"/>
                <a:cs typeface="Courier New"/>
                <a:sym typeface="Courier New"/>
              </a:rPr>
              <a:t>; i </a:t>
            </a:r>
            <a:r>
              <a:rPr b="1" lang="en-US" sz="1300">
                <a:solidFill>
                  <a:srgbClr val="F286C4"/>
                </a:solidFill>
                <a:latin typeface="Courier New"/>
                <a:ea typeface="Courier New"/>
                <a:cs typeface="Courier New"/>
                <a:sym typeface="Courier New"/>
              </a:rPr>
              <a:t>&lt;=</a:t>
            </a:r>
            <a:r>
              <a:rPr b="1" lang="en-US" sz="1300">
                <a:solidFill>
                  <a:srgbClr val="F6F6F4"/>
                </a:solidFill>
                <a:latin typeface="Courier New"/>
                <a:ea typeface="Courier New"/>
                <a:cs typeface="Courier New"/>
                <a:sym typeface="Courier New"/>
              </a:rPr>
              <a:t> </a:t>
            </a:r>
            <a:r>
              <a:rPr b="1" lang="en-US" sz="1300">
                <a:solidFill>
                  <a:srgbClr val="BF9EEE"/>
                </a:solidFill>
                <a:latin typeface="Courier New"/>
                <a:ea typeface="Courier New"/>
                <a:cs typeface="Courier New"/>
                <a:sym typeface="Courier New"/>
              </a:rPr>
              <a:t>5</a:t>
            </a:r>
            <a:r>
              <a:rPr b="1" lang="en-US" sz="1300">
                <a:solidFill>
                  <a:srgbClr val="F6F6F4"/>
                </a:solidFill>
                <a:latin typeface="Courier New"/>
                <a:ea typeface="Courier New"/>
                <a:cs typeface="Courier New"/>
                <a:sym typeface="Courier New"/>
              </a:rPr>
              <a:t>; i</a:t>
            </a:r>
            <a:r>
              <a:rPr b="1" lang="en-US" sz="1300">
                <a:solidFill>
                  <a:srgbClr val="F286C4"/>
                </a:solidFill>
                <a:latin typeface="Courier New"/>
                <a:ea typeface="Courier New"/>
                <a:cs typeface="Courier New"/>
                <a:sym typeface="Courier New"/>
              </a:rPr>
              <a:t>++</a:t>
            </a:r>
            <a:r>
              <a:rPr b="1" lang="en-US" sz="1300">
                <a:solidFill>
                  <a:srgbClr val="F6F6F4"/>
                </a:solidFill>
                <a:latin typeface="Courier New"/>
                <a:ea typeface="Courier New"/>
                <a:cs typeface="Courier New"/>
                <a:sym typeface="Courier New"/>
              </a:rPr>
              <a:t>) { </a:t>
            </a:r>
            <a:r>
              <a:rPr b="1" lang="en-US" sz="1300">
                <a:solidFill>
                  <a:srgbClr val="7B7F8B"/>
                </a:solidFill>
                <a:latin typeface="Courier New"/>
                <a:ea typeface="Courier New"/>
                <a:cs typeface="Courier New"/>
                <a:sym typeface="Courier New"/>
              </a:rPr>
              <a:t>// Lặp 5 lần</a:t>
            </a:r>
            <a:endParaRPr b="1" sz="1300">
              <a:solidFill>
                <a:srgbClr val="7B7F8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97E1F1"/>
                </a:solidFill>
                <a:latin typeface="Courier New"/>
                <a:ea typeface="Courier New"/>
                <a:cs typeface="Courier New"/>
                <a:sym typeface="Courier New"/>
              </a:rPr>
              <a:t>System</a:t>
            </a:r>
            <a:r>
              <a:rPr b="1" lang="en-US" sz="1300">
                <a:solidFill>
                  <a:srgbClr val="F6F6F4"/>
                </a:solidFill>
                <a:latin typeface="Courier New"/>
                <a:ea typeface="Courier New"/>
                <a:cs typeface="Courier New"/>
                <a:sym typeface="Courier New"/>
              </a:rPr>
              <a:t>.</a:t>
            </a:r>
            <a:r>
              <a:rPr b="1" lang="en-US" sz="1300">
                <a:solidFill>
                  <a:srgbClr val="BF9EEE"/>
                </a:solidFill>
                <a:latin typeface="Courier New"/>
                <a:ea typeface="Courier New"/>
                <a:cs typeface="Courier New"/>
                <a:sym typeface="Courier New"/>
              </a:rPr>
              <a:t>out</a:t>
            </a:r>
            <a:r>
              <a:rPr b="1" lang="en-US" sz="1300">
                <a:solidFill>
                  <a:srgbClr val="F6F6F4"/>
                </a:solidFill>
                <a:latin typeface="Courier New"/>
                <a:ea typeface="Courier New"/>
                <a:cs typeface="Courier New"/>
                <a:sym typeface="Courier New"/>
              </a:rPr>
              <a:t>.</a:t>
            </a:r>
            <a:r>
              <a:rPr b="1" lang="en-US" sz="1300">
                <a:solidFill>
                  <a:srgbClr val="62E884"/>
                </a:solidFill>
                <a:latin typeface="Courier New"/>
                <a:ea typeface="Courier New"/>
                <a:cs typeface="Courier New"/>
                <a:sym typeface="Courier New"/>
              </a:rPr>
              <a:t>println</a:t>
            </a:r>
            <a:r>
              <a:rPr b="1" lang="en-US" sz="1300">
                <a:solidFill>
                  <a:srgbClr val="F6F6F4"/>
                </a:solidFill>
                <a:latin typeface="Courier New"/>
                <a:ea typeface="Courier New"/>
                <a:cs typeface="Courier New"/>
                <a:sym typeface="Courier New"/>
              </a:rPr>
              <a:t>(</a:t>
            </a:r>
            <a:r>
              <a:rPr b="1" lang="en-US" sz="1300">
                <a:solidFill>
                  <a:srgbClr val="BF9EEE"/>
                </a:solidFill>
                <a:latin typeface="Courier New"/>
                <a:ea typeface="Courier New"/>
                <a:cs typeface="Courier New"/>
                <a:sym typeface="Courier New"/>
              </a:rPr>
              <a:t>message</a:t>
            </a: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a:t>
            </a:r>
            <a:r>
              <a:rPr b="1" lang="en-US" sz="1300">
                <a:solidFill>
                  <a:srgbClr val="F6F6F4"/>
                </a:solidFill>
                <a:latin typeface="Courier New"/>
                <a:ea typeface="Courier New"/>
                <a:cs typeface="Courier New"/>
                <a:sym typeface="Courier New"/>
              </a:rPr>
              <a:t> </a:t>
            </a:r>
            <a:r>
              <a:rPr b="1" lang="en-US" sz="1300">
                <a:solidFill>
                  <a:srgbClr val="DEE492"/>
                </a:solidFill>
                <a:latin typeface="Courier New"/>
                <a:ea typeface="Courier New"/>
                <a:cs typeface="Courier New"/>
                <a:sym typeface="Courier New"/>
              </a:rPr>
              <a:t>"</a:t>
            </a:r>
            <a:r>
              <a:rPr b="1" lang="en-US" sz="1300">
                <a:solidFill>
                  <a:srgbClr val="E7EE98"/>
                </a:solidFill>
                <a:latin typeface="Courier New"/>
                <a:ea typeface="Courier New"/>
                <a:cs typeface="Courier New"/>
                <a:sym typeface="Courier New"/>
              </a:rPr>
              <a:t> - Lần </a:t>
            </a:r>
            <a:r>
              <a:rPr b="1" lang="en-US" sz="1300">
                <a:solidFill>
                  <a:srgbClr val="DEE492"/>
                </a:solidFill>
                <a:latin typeface="Courier New"/>
                <a:ea typeface="Courier New"/>
                <a:cs typeface="Courier New"/>
                <a:sym typeface="Courier New"/>
              </a:rPr>
              <a:t>"</a:t>
            </a: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a:t>
            </a:r>
            <a:r>
              <a:rPr b="1" lang="en-US" sz="1300">
                <a:solidFill>
                  <a:srgbClr val="F6F6F4"/>
                </a:solidFill>
                <a:latin typeface="Courier New"/>
                <a:ea typeface="Courier New"/>
                <a:cs typeface="Courier New"/>
                <a:sym typeface="Courier New"/>
              </a:rPr>
              <a:t> i);</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try</a:t>
            </a:r>
            <a:r>
              <a:rPr b="1" lang="en-US" sz="1300">
                <a:solidFill>
                  <a:srgbClr val="F6F6F4"/>
                </a:solidFill>
                <a:latin typeface="Courier New"/>
                <a:ea typeface="Courier New"/>
                <a:cs typeface="Courier New"/>
                <a:sym typeface="Courier New"/>
              </a:rPr>
              <a:t> {</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97E1F1"/>
                </a:solidFill>
                <a:latin typeface="Courier New"/>
                <a:ea typeface="Courier New"/>
                <a:cs typeface="Courier New"/>
                <a:sym typeface="Courier New"/>
              </a:rPr>
              <a:t>Thread</a:t>
            </a:r>
            <a:r>
              <a:rPr b="1" lang="en-US" sz="1300">
                <a:solidFill>
                  <a:srgbClr val="F6F6F4"/>
                </a:solidFill>
                <a:latin typeface="Courier New"/>
                <a:ea typeface="Courier New"/>
                <a:cs typeface="Courier New"/>
                <a:sym typeface="Courier New"/>
              </a:rPr>
              <a:t>.</a:t>
            </a:r>
            <a:r>
              <a:rPr b="1" lang="en-US" sz="1300">
                <a:solidFill>
                  <a:srgbClr val="62E884"/>
                </a:solidFill>
                <a:latin typeface="Courier New"/>
                <a:ea typeface="Courier New"/>
                <a:cs typeface="Courier New"/>
                <a:sym typeface="Courier New"/>
              </a:rPr>
              <a:t>sleep</a:t>
            </a:r>
            <a:r>
              <a:rPr b="1" lang="en-US" sz="1300">
                <a:solidFill>
                  <a:srgbClr val="F6F6F4"/>
                </a:solidFill>
                <a:latin typeface="Courier New"/>
                <a:ea typeface="Courier New"/>
                <a:cs typeface="Courier New"/>
                <a:sym typeface="Courier New"/>
              </a:rPr>
              <a:t>(</a:t>
            </a:r>
            <a:r>
              <a:rPr b="1" lang="en-US" sz="1300">
                <a:solidFill>
                  <a:srgbClr val="BF9EEE"/>
                </a:solidFill>
                <a:latin typeface="Courier New"/>
                <a:ea typeface="Courier New"/>
                <a:cs typeface="Courier New"/>
                <a:sym typeface="Courier New"/>
              </a:rPr>
              <a:t>delay</a:t>
            </a:r>
            <a:r>
              <a:rPr b="1" lang="en-US" sz="1300">
                <a:solidFill>
                  <a:srgbClr val="F6F6F4"/>
                </a:solidFill>
                <a:latin typeface="Courier New"/>
                <a:ea typeface="Courier New"/>
                <a:cs typeface="Courier New"/>
                <a:sym typeface="Courier New"/>
              </a:rPr>
              <a:t>); </a:t>
            </a:r>
            <a:r>
              <a:rPr b="1" lang="en-US" sz="1300">
                <a:solidFill>
                  <a:srgbClr val="7B7F8B"/>
                </a:solidFill>
                <a:latin typeface="Courier New"/>
                <a:ea typeface="Courier New"/>
                <a:cs typeface="Courier New"/>
                <a:sym typeface="Courier New"/>
              </a:rPr>
              <a:t>//</a:t>
            </a:r>
            <a:endParaRPr b="1" sz="1300">
              <a:solidFill>
                <a:srgbClr val="7B7F8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 </a:t>
            </a:r>
            <a:r>
              <a:rPr b="1" lang="en-US" sz="1300">
                <a:solidFill>
                  <a:srgbClr val="F286C4"/>
                </a:solidFill>
                <a:latin typeface="Courier New"/>
                <a:ea typeface="Courier New"/>
                <a:cs typeface="Courier New"/>
                <a:sym typeface="Courier New"/>
              </a:rPr>
              <a:t>catch</a:t>
            </a:r>
            <a:r>
              <a:rPr b="1" lang="en-US" sz="1300">
                <a:solidFill>
                  <a:srgbClr val="F6F6F4"/>
                </a:solidFill>
                <a:latin typeface="Courier New"/>
                <a:ea typeface="Courier New"/>
                <a:cs typeface="Courier New"/>
                <a:sym typeface="Courier New"/>
              </a:rPr>
              <a:t> (</a:t>
            </a:r>
            <a:r>
              <a:rPr b="1" lang="en-US" sz="1300">
                <a:solidFill>
                  <a:srgbClr val="97E1F1"/>
                </a:solidFill>
                <a:latin typeface="Courier New"/>
                <a:ea typeface="Courier New"/>
                <a:cs typeface="Courier New"/>
                <a:sym typeface="Courier New"/>
              </a:rPr>
              <a:t>InterruptedException</a:t>
            </a:r>
            <a:r>
              <a:rPr b="1" lang="en-US" sz="1300">
                <a:solidFill>
                  <a:srgbClr val="F6F6F4"/>
                </a:solidFill>
                <a:latin typeface="Courier New"/>
                <a:ea typeface="Courier New"/>
                <a:cs typeface="Courier New"/>
                <a:sym typeface="Courier New"/>
              </a:rPr>
              <a:t> </a:t>
            </a:r>
            <a:r>
              <a:rPr b="1" i="1" lang="en-US" sz="1300">
                <a:solidFill>
                  <a:srgbClr val="F6F6F4"/>
                </a:solidFill>
                <a:latin typeface="Courier New"/>
                <a:ea typeface="Courier New"/>
                <a:cs typeface="Courier New"/>
                <a:sym typeface="Courier New"/>
              </a:rPr>
              <a:t>e</a:t>
            </a:r>
            <a:r>
              <a:rPr b="1" lang="en-US" sz="1300">
                <a:solidFill>
                  <a:srgbClr val="F6F6F4"/>
                </a:solidFill>
                <a:latin typeface="Courier New"/>
                <a:ea typeface="Courier New"/>
                <a:cs typeface="Courier New"/>
                <a:sym typeface="Courier New"/>
              </a:rPr>
              <a:t>) {</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e.</a:t>
            </a:r>
            <a:r>
              <a:rPr b="1" lang="en-US" sz="1300">
                <a:solidFill>
                  <a:srgbClr val="62E884"/>
                </a:solidFill>
                <a:latin typeface="Courier New"/>
                <a:ea typeface="Courier New"/>
                <a:cs typeface="Courier New"/>
                <a:sym typeface="Courier New"/>
              </a:rPr>
              <a:t>printStackTrace</a:t>
            </a:r>
            <a:r>
              <a:rPr b="1" lang="en-US" sz="1300">
                <a:solidFill>
                  <a:srgbClr val="F6F6F4"/>
                </a:solidFill>
                <a:latin typeface="Courier New"/>
                <a:ea typeface="Courier New"/>
                <a:cs typeface="Courier New"/>
                <a:sym typeface="Courier New"/>
              </a:rPr>
              <a:t>();</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r>
              <a:rPr b="1" lang="en-US" sz="1300">
                <a:solidFill>
                  <a:srgbClr val="97E1F1"/>
                </a:solidFill>
                <a:latin typeface="Courier New"/>
                <a:ea typeface="Courier New"/>
                <a:cs typeface="Courier New"/>
                <a:sym typeface="Courier New"/>
              </a:rPr>
              <a:t>System</a:t>
            </a:r>
            <a:r>
              <a:rPr b="1" lang="en-US" sz="1300">
                <a:solidFill>
                  <a:srgbClr val="F6F6F4"/>
                </a:solidFill>
                <a:latin typeface="Courier New"/>
                <a:ea typeface="Courier New"/>
                <a:cs typeface="Courier New"/>
                <a:sym typeface="Courier New"/>
              </a:rPr>
              <a:t>.</a:t>
            </a:r>
            <a:r>
              <a:rPr b="1" lang="en-US" sz="1300">
                <a:solidFill>
                  <a:srgbClr val="BF9EEE"/>
                </a:solidFill>
                <a:latin typeface="Courier New"/>
                <a:ea typeface="Courier New"/>
                <a:cs typeface="Courier New"/>
                <a:sym typeface="Courier New"/>
              </a:rPr>
              <a:t>out</a:t>
            </a:r>
            <a:r>
              <a:rPr b="1" lang="en-US" sz="1300">
                <a:solidFill>
                  <a:srgbClr val="F6F6F4"/>
                </a:solidFill>
                <a:latin typeface="Courier New"/>
                <a:ea typeface="Courier New"/>
                <a:cs typeface="Courier New"/>
                <a:sym typeface="Courier New"/>
              </a:rPr>
              <a:t>.</a:t>
            </a:r>
            <a:r>
              <a:rPr b="1" lang="en-US" sz="1300">
                <a:solidFill>
                  <a:srgbClr val="62E884"/>
                </a:solidFill>
                <a:latin typeface="Courier New"/>
                <a:ea typeface="Courier New"/>
                <a:cs typeface="Courier New"/>
                <a:sym typeface="Courier New"/>
              </a:rPr>
              <a:t>println</a:t>
            </a:r>
            <a:r>
              <a:rPr b="1" lang="en-US" sz="1300">
                <a:solidFill>
                  <a:srgbClr val="F6F6F4"/>
                </a:solidFill>
                <a:latin typeface="Courier New"/>
                <a:ea typeface="Courier New"/>
                <a:cs typeface="Courier New"/>
                <a:sym typeface="Courier New"/>
              </a:rPr>
              <a:t>(</a:t>
            </a:r>
            <a:r>
              <a:rPr b="1" lang="en-US" sz="1300">
                <a:solidFill>
                  <a:srgbClr val="BF9EEE"/>
                </a:solidFill>
                <a:latin typeface="Courier New"/>
                <a:ea typeface="Courier New"/>
                <a:cs typeface="Courier New"/>
                <a:sym typeface="Courier New"/>
              </a:rPr>
              <a:t>message</a:t>
            </a:r>
            <a:r>
              <a:rPr b="1" lang="en-US" sz="1300">
                <a:solidFill>
                  <a:srgbClr val="F6F6F4"/>
                </a:solidFill>
                <a:latin typeface="Courier New"/>
                <a:ea typeface="Courier New"/>
                <a:cs typeface="Courier New"/>
                <a:sym typeface="Courier New"/>
              </a:rPr>
              <a:t> </a:t>
            </a:r>
            <a:r>
              <a:rPr b="1" lang="en-US" sz="1300">
                <a:solidFill>
                  <a:srgbClr val="F286C4"/>
                </a:solidFill>
                <a:latin typeface="Courier New"/>
                <a:ea typeface="Courier New"/>
                <a:cs typeface="Courier New"/>
                <a:sym typeface="Courier New"/>
              </a:rPr>
              <a:t>+</a:t>
            </a:r>
            <a:r>
              <a:rPr b="1" lang="en-US" sz="1300">
                <a:solidFill>
                  <a:srgbClr val="F6F6F4"/>
                </a:solidFill>
                <a:latin typeface="Courier New"/>
                <a:ea typeface="Courier New"/>
                <a:cs typeface="Courier New"/>
                <a:sym typeface="Courier New"/>
              </a:rPr>
              <a:t> </a:t>
            </a:r>
            <a:r>
              <a:rPr b="1" lang="en-US" sz="1300">
                <a:solidFill>
                  <a:srgbClr val="DEE492"/>
                </a:solidFill>
                <a:latin typeface="Courier New"/>
                <a:ea typeface="Courier New"/>
                <a:cs typeface="Courier New"/>
                <a:sym typeface="Courier New"/>
              </a:rPr>
              <a:t>"</a:t>
            </a:r>
            <a:r>
              <a:rPr b="1" lang="en-US" sz="1300">
                <a:solidFill>
                  <a:srgbClr val="E7EE98"/>
                </a:solidFill>
                <a:latin typeface="Courier New"/>
                <a:ea typeface="Courier New"/>
                <a:cs typeface="Courier New"/>
                <a:sym typeface="Courier New"/>
              </a:rPr>
              <a:t> đa hoan thanh!</a:t>
            </a:r>
            <a:r>
              <a:rPr b="1" lang="en-US" sz="1300">
                <a:solidFill>
                  <a:srgbClr val="DEE492"/>
                </a:solidFill>
                <a:latin typeface="Courier New"/>
                <a:ea typeface="Courier New"/>
                <a:cs typeface="Courier New"/>
                <a:sym typeface="Courier New"/>
              </a:rPr>
              <a:t>"</a:t>
            </a:r>
            <a:r>
              <a:rPr b="1" lang="en-US" sz="1300">
                <a:solidFill>
                  <a:srgbClr val="F6F6F4"/>
                </a:solidFill>
                <a:latin typeface="Courier New"/>
                <a:ea typeface="Courier New"/>
                <a:cs typeface="Courier New"/>
                <a:sym typeface="Courier New"/>
              </a:rPr>
              <a:t>);</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    }</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300">
                <a:solidFill>
                  <a:srgbClr val="F6F6F4"/>
                </a:solidFill>
                <a:latin typeface="Courier New"/>
                <a:ea typeface="Courier New"/>
                <a:cs typeface="Courier New"/>
                <a:sym typeface="Courier New"/>
              </a:rPr>
              <a:t>}</a:t>
            </a:r>
            <a:endParaRPr b="1" sz="13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300">
              <a:solidFill>
                <a:srgbClr val="F6F6F4"/>
              </a:solidFill>
              <a:latin typeface="Courier New"/>
              <a:ea typeface="Courier New"/>
              <a:cs typeface="Courier New"/>
              <a:sym typeface="Courier New"/>
            </a:endParaRPr>
          </a:p>
          <a:p>
            <a:pPr indent="0" lvl="0" marL="0" rtl="0" algn="l">
              <a:spcBef>
                <a:spcPts val="0"/>
              </a:spcBef>
              <a:spcAft>
                <a:spcPts val="0"/>
              </a:spcAft>
              <a:buNone/>
            </a:pPr>
            <a:r>
              <a:t/>
            </a:r>
            <a:endParaRPr b="1" sz="2000">
              <a:solidFill>
                <a:srgbClr val="0000FF"/>
              </a:solidFill>
              <a:latin typeface="Courier New"/>
              <a:ea typeface="Courier New"/>
              <a:cs typeface="Courier New"/>
              <a:sym typeface="Courier New"/>
            </a:endParaRPr>
          </a:p>
        </p:txBody>
      </p:sp>
      <p:sp>
        <p:nvSpPr>
          <p:cNvPr id="458" name="Google Shape;458;p55"/>
          <p:cNvSpPr txBox="1"/>
          <p:nvPr/>
        </p:nvSpPr>
        <p:spPr>
          <a:xfrm>
            <a:off x="5737775" y="529600"/>
            <a:ext cx="6389700" cy="6880500"/>
          </a:xfrm>
          <a:prstGeom prst="rect">
            <a:avLst/>
          </a:prstGeom>
          <a:noFill/>
          <a:ln>
            <a:noFill/>
          </a:ln>
        </p:spPr>
        <p:txBody>
          <a:bodyPr anchorCtr="0" anchor="t" bIns="60950" lIns="60950" spcFirstLastPara="1" rIns="60950" wrap="square" tIns="60950">
            <a:spAutoFit/>
          </a:bodyPr>
          <a:lstStyle/>
          <a:p>
            <a:pPr indent="0" lvl="0" marL="0" rtl="0" algn="l">
              <a:lnSpc>
                <a:spcPct val="135714"/>
              </a:lnSpc>
              <a:spcBef>
                <a:spcPts val="0"/>
              </a:spcBef>
              <a:spcAft>
                <a:spcPts val="0"/>
              </a:spcAft>
              <a:buClr>
                <a:schemeClr val="dk1"/>
              </a:buClr>
              <a:buSzPts val="700"/>
              <a:buFont typeface="Arial"/>
              <a:buNone/>
            </a:pPr>
            <a:r>
              <a:rPr b="1" lang="en-US" sz="1400">
                <a:solidFill>
                  <a:srgbClr val="F286C4"/>
                </a:solidFill>
                <a:latin typeface="Courier New"/>
                <a:ea typeface="Courier New"/>
                <a:cs typeface="Courier New"/>
                <a:sym typeface="Courier New"/>
              </a:rPr>
              <a:t>public</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class</a:t>
            </a: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hehe</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public</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static</a:t>
            </a:r>
            <a:r>
              <a:rPr b="1" lang="en-US" sz="1400">
                <a:solidFill>
                  <a:srgbClr val="F6F6F4"/>
                </a:solidFill>
                <a:latin typeface="Courier New"/>
                <a:ea typeface="Courier New"/>
                <a:cs typeface="Courier New"/>
                <a:sym typeface="Courier New"/>
              </a:rPr>
              <a:t> </a:t>
            </a:r>
            <a:r>
              <a:rPr b="1" i="1" lang="en-US" sz="1400">
                <a:solidFill>
                  <a:srgbClr val="97E1F1"/>
                </a:solidFill>
                <a:latin typeface="Courier New"/>
                <a:ea typeface="Courier New"/>
                <a:cs typeface="Courier New"/>
                <a:sym typeface="Courier New"/>
              </a:rPr>
              <a:t>void</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main</a:t>
            </a:r>
            <a:r>
              <a:rPr b="1" lang="en-US" sz="1400">
                <a:solidFill>
                  <a:srgbClr val="F6F6F4"/>
                </a:solidFill>
                <a:latin typeface="Courier New"/>
                <a:ea typeface="Courier New"/>
                <a:cs typeface="Courier New"/>
                <a:sym typeface="Courier New"/>
              </a:rPr>
              <a:t>(</a:t>
            </a:r>
            <a:r>
              <a:rPr b="1" lang="en-US" sz="1400">
                <a:solidFill>
                  <a:srgbClr val="97E1F1"/>
                </a:solidFill>
                <a:latin typeface="Courier New"/>
                <a:ea typeface="Courier New"/>
                <a:cs typeface="Courier New"/>
                <a:sym typeface="Courier New"/>
              </a:rPr>
              <a:t>String</a:t>
            </a:r>
            <a:r>
              <a:rPr b="1" lang="en-US" sz="1400">
                <a:solidFill>
                  <a:srgbClr val="F6F6F4"/>
                </a:solidFill>
                <a:latin typeface="Courier New"/>
                <a:ea typeface="Courier New"/>
                <a:cs typeface="Courier New"/>
                <a:sym typeface="Courier New"/>
              </a:rPr>
              <a:t>[] </a:t>
            </a:r>
            <a:r>
              <a:rPr b="1" i="1" lang="en-US" sz="1400">
                <a:solidFill>
                  <a:srgbClr val="FFB86C"/>
                </a:solidFill>
                <a:latin typeface="Courier New"/>
                <a:ea typeface="Courier New"/>
                <a:cs typeface="Courier New"/>
                <a:sym typeface="Courier New"/>
              </a:rPr>
              <a:t>args</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Thread</a:t>
            </a:r>
            <a:r>
              <a:rPr b="1" lang="en-US" sz="1400">
                <a:solidFill>
                  <a:srgbClr val="F6F6F4"/>
                </a:solidFill>
                <a:latin typeface="Courier New"/>
                <a:ea typeface="Courier New"/>
                <a:cs typeface="Courier New"/>
                <a:sym typeface="Courier New"/>
              </a:rPr>
              <a:t> t1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Thread</a:t>
            </a:r>
            <a:r>
              <a:rPr b="1" lang="en-US" sz="1400">
                <a:solidFill>
                  <a:srgbClr val="F6F6F4"/>
                </a:solidFill>
                <a:latin typeface="Courier New"/>
                <a:ea typeface="Courier New"/>
                <a:cs typeface="Courier New"/>
                <a:sym typeface="Courier New"/>
              </a:rPr>
              <a:t>(</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MyRunnable</a:t>
            </a:r>
            <a:r>
              <a:rPr b="1" lang="en-US" sz="1400">
                <a:solidFill>
                  <a:srgbClr val="F6F6F4"/>
                </a:solidFill>
                <a:latin typeface="Courier New"/>
                <a:ea typeface="Courier New"/>
                <a:cs typeface="Courier New"/>
                <a:sym typeface="Courier New"/>
              </a:rPr>
              <a:t>(</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Hello</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1000</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Thread</a:t>
            </a:r>
            <a:r>
              <a:rPr b="1" lang="en-US" sz="1400">
                <a:solidFill>
                  <a:srgbClr val="F6F6F4"/>
                </a:solidFill>
                <a:latin typeface="Courier New"/>
                <a:ea typeface="Courier New"/>
                <a:cs typeface="Courier New"/>
                <a:sym typeface="Courier New"/>
              </a:rPr>
              <a:t> t2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Thread</a:t>
            </a:r>
            <a:r>
              <a:rPr b="1" lang="en-US" sz="1400">
                <a:solidFill>
                  <a:srgbClr val="F6F6F4"/>
                </a:solidFill>
                <a:latin typeface="Courier New"/>
                <a:ea typeface="Courier New"/>
                <a:cs typeface="Courier New"/>
                <a:sym typeface="Courier New"/>
              </a:rPr>
              <a:t>(</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MyRunnable</a:t>
            </a:r>
            <a:r>
              <a:rPr b="1" lang="en-US" sz="1400">
                <a:solidFill>
                  <a:srgbClr val="F6F6F4"/>
                </a:solidFill>
                <a:latin typeface="Courier New"/>
                <a:ea typeface="Courier New"/>
                <a:cs typeface="Courier New"/>
                <a:sym typeface="Courier New"/>
              </a:rPr>
              <a:t>(</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Group</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1500</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Thread</a:t>
            </a:r>
            <a:r>
              <a:rPr b="1" lang="en-US" sz="1400">
                <a:solidFill>
                  <a:srgbClr val="F6F6F4"/>
                </a:solidFill>
                <a:latin typeface="Courier New"/>
                <a:ea typeface="Courier New"/>
                <a:cs typeface="Courier New"/>
                <a:sym typeface="Courier New"/>
              </a:rPr>
              <a:t> t3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Thread</a:t>
            </a:r>
            <a:r>
              <a:rPr b="1" lang="en-US" sz="1400">
                <a:solidFill>
                  <a:srgbClr val="F6F6F4"/>
                </a:solidFill>
                <a:latin typeface="Courier New"/>
                <a:ea typeface="Courier New"/>
                <a:cs typeface="Courier New"/>
                <a:sym typeface="Courier New"/>
              </a:rPr>
              <a:t>(</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MyRunnable</a:t>
            </a:r>
            <a:r>
              <a:rPr b="1" lang="en-US" sz="1400">
                <a:solidFill>
                  <a:srgbClr val="F6F6F4"/>
                </a:solidFill>
                <a:latin typeface="Courier New"/>
                <a:ea typeface="Courier New"/>
                <a:cs typeface="Courier New"/>
                <a:sym typeface="Courier New"/>
              </a:rPr>
              <a:t>(</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Five</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2000</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t1.</a:t>
            </a:r>
            <a:r>
              <a:rPr b="1" lang="en-US" sz="1400">
                <a:solidFill>
                  <a:srgbClr val="62E884"/>
                </a:solidFill>
                <a:latin typeface="Courier New"/>
                <a:ea typeface="Courier New"/>
                <a:cs typeface="Courier New"/>
                <a:sym typeface="Courier New"/>
              </a:rPr>
              <a:t>start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t2.</a:t>
            </a:r>
            <a:r>
              <a:rPr b="1" lang="en-US" sz="1400">
                <a:solidFill>
                  <a:srgbClr val="62E884"/>
                </a:solidFill>
                <a:latin typeface="Courier New"/>
                <a:ea typeface="Courier New"/>
                <a:cs typeface="Courier New"/>
                <a:sym typeface="Courier New"/>
              </a:rPr>
              <a:t>start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t3.</a:t>
            </a:r>
            <a:r>
              <a:rPr b="1" lang="en-US" sz="1400">
                <a:solidFill>
                  <a:srgbClr val="62E884"/>
                </a:solidFill>
                <a:latin typeface="Courier New"/>
                <a:ea typeface="Courier New"/>
                <a:cs typeface="Courier New"/>
                <a:sym typeface="Courier New"/>
              </a:rPr>
              <a:t>start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try</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t1.</a:t>
            </a:r>
            <a:r>
              <a:rPr b="1" lang="en-US" sz="1400">
                <a:solidFill>
                  <a:srgbClr val="62E884"/>
                </a:solidFill>
                <a:latin typeface="Courier New"/>
                <a:ea typeface="Courier New"/>
                <a:cs typeface="Courier New"/>
                <a:sym typeface="Courier New"/>
              </a:rPr>
              <a:t>join</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t2.</a:t>
            </a:r>
            <a:r>
              <a:rPr b="1" lang="en-US" sz="1400">
                <a:solidFill>
                  <a:srgbClr val="62E884"/>
                </a:solidFill>
                <a:latin typeface="Courier New"/>
                <a:ea typeface="Courier New"/>
                <a:cs typeface="Courier New"/>
                <a:sym typeface="Courier New"/>
              </a:rPr>
              <a:t>join</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t3.</a:t>
            </a:r>
            <a:r>
              <a:rPr b="1" lang="en-US" sz="1400">
                <a:solidFill>
                  <a:srgbClr val="62E884"/>
                </a:solidFill>
                <a:latin typeface="Courier New"/>
                <a:ea typeface="Courier New"/>
                <a:cs typeface="Courier New"/>
                <a:sym typeface="Courier New"/>
              </a:rPr>
              <a:t>join</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 </a:t>
            </a:r>
            <a:r>
              <a:rPr b="1" lang="en-US" sz="1400">
                <a:solidFill>
                  <a:srgbClr val="F286C4"/>
                </a:solidFill>
                <a:latin typeface="Courier New"/>
                <a:ea typeface="Courier New"/>
                <a:cs typeface="Courier New"/>
                <a:sym typeface="Courier New"/>
              </a:rPr>
              <a:t>catch</a:t>
            </a: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InterruptedException</a:t>
            </a:r>
            <a:r>
              <a:rPr b="1" lang="en-US" sz="1400">
                <a:solidFill>
                  <a:srgbClr val="F6F6F4"/>
                </a:solidFill>
                <a:latin typeface="Courier New"/>
                <a:ea typeface="Courier New"/>
                <a:cs typeface="Courier New"/>
                <a:sym typeface="Courier New"/>
              </a:rPr>
              <a:t> </a:t>
            </a:r>
            <a:r>
              <a:rPr b="1" i="1" lang="en-US" sz="1400">
                <a:solidFill>
                  <a:srgbClr val="F6F6F4"/>
                </a:solidFill>
                <a:latin typeface="Courier New"/>
                <a:ea typeface="Courier New"/>
                <a:cs typeface="Courier New"/>
                <a:sym typeface="Courier New"/>
              </a:rPr>
              <a:t>e</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e.</a:t>
            </a:r>
            <a:r>
              <a:rPr b="1" lang="en-US" sz="1400">
                <a:solidFill>
                  <a:srgbClr val="62E884"/>
                </a:solidFill>
                <a:latin typeface="Courier New"/>
                <a:ea typeface="Courier New"/>
                <a:cs typeface="Courier New"/>
                <a:sym typeface="Courier New"/>
              </a:rPr>
              <a:t>printStackTrace</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System</a:t>
            </a:r>
            <a:r>
              <a:rPr b="1" lang="en-US" sz="1400">
                <a:solidFill>
                  <a:srgbClr val="F6F6F4"/>
                </a:solidFill>
                <a:latin typeface="Courier New"/>
                <a:ea typeface="Courier New"/>
                <a:cs typeface="Courier New"/>
                <a:sym typeface="Courier New"/>
              </a:rPr>
              <a:t>.</a:t>
            </a:r>
            <a:r>
              <a:rPr b="1" lang="en-US" sz="1400">
                <a:solidFill>
                  <a:srgbClr val="BF9EEE"/>
                </a:solidFill>
                <a:latin typeface="Courier New"/>
                <a:ea typeface="Courier New"/>
                <a:cs typeface="Courier New"/>
                <a:sym typeface="Courier New"/>
              </a:rPr>
              <a:t>out</a:t>
            </a:r>
            <a:r>
              <a:rPr b="1" lang="en-US" sz="1400">
                <a:solidFill>
                  <a:srgbClr val="F6F6F4"/>
                </a:solidFill>
                <a:latin typeface="Courier New"/>
                <a:ea typeface="Courier New"/>
                <a:cs typeface="Courier New"/>
                <a:sym typeface="Courier New"/>
              </a:rPr>
              <a:t>.</a:t>
            </a:r>
            <a:r>
              <a:rPr b="1" lang="en-US" sz="1400">
                <a:solidFill>
                  <a:srgbClr val="62E884"/>
                </a:solidFill>
                <a:latin typeface="Courier New"/>
                <a:ea typeface="Courier New"/>
                <a:cs typeface="Courier New"/>
                <a:sym typeface="Courier New"/>
              </a:rPr>
              <a:t>println</a:t>
            </a:r>
            <a:r>
              <a:rPr b="1" lang="en-US" sz="1400">
                <a:solidFill>
                  <a:srgbClr val="F6F6F4"/>
                </a:solidFill>
                <a:latin typeface="Courier New"/>
                <a:ea typeface="Courier New"/>
                <a:cs typeface="Courier New"/>
                <a:sym typeface="Courier New"/>
              </a:rPr>
              <a:t>(</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Tat ca đa hoan thanh!</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400">
              <a:solidFill>
                <a:srgbClr val="F6F6F4"/>
              </a:solidFill>
              <a:latin typeface="Courier New"/>
              <a:ea typeface="Courier New"/>
              <a:cs typeface="Courier New"/>
              <a:sym typeface="Courier New"/>
            </a:endParaRPr>
          </a:p>
          <a:p>
            <a:pPr indent="0" lvl="0" marL="0" rtl="0" algn="l">
              <a:spcBef>
                <a:spcPts val="0"/>
              </a:spcBef>
              <a:spcAft>
                <a:spcPts val="0"/>
              </a:spcAft>
              <a:buClr>
                <a:schemeClr val="dk1"/>
              </a:buClr>
              <a:buSzPts val="700"/>
              <a:buFont typeface="Arial"/>
              <a:buNone/>
            </a:pPr>
            <a:r>
              <a:t/>
            </a:r>
            <a:endParaRPr b="1" sz="2000">
              <a:solidFill>
                <a:schemeClr val="hlink"/>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2000">
              <a:solidFill>
                <a:schemeClr val="dk1"/>
              </a:solidFill>
              <a:latin typeface="Courier New"/>
              <a:ea typeface="Courier New"/>
              <a:cs typeface="Courier New"/>
              <a:sym typeface="Courier New"/>
            </a:endParaRPr>
          </a:p>
        </p:txBody>
      </p:sp>
      <p:sp>
        <p:nvSpPr>
          <p:cNvPr id="459" name="Google Shape;459;p5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6"/>
          <p:cNvSpPr txBox="1"/>
          <p:nvPr>
            <p:ph idx="1" type="body"/>
          </p:nvPr>
        </p:nvSpPr>
        <p:spPr>
          <a:xfrm>
            <a:off x="366300" y="1047075"/>
            <a:ext cx="5593200" cy="6734400"/>
          </a:xfrm>
          <a:prstGeom prst="rect">
            <a:avLst/>
          </a:prstGeom>
        </p:spPr>
        <p:txBody>
          <a:bodyPr anchorCtr="0" anchor="t" bIns="45700" lIns="91425" spcFirstLastPara="1" rIns="91425" wrap="square" tIns="45700">
            <a:normAutofit/>
          </a:bodyPr>
          <a:lstStyle/>
          <a:p>
            <a:pPr indent="-228600" lvl="0" marL="114300" rtl="0" algn="l">
              <a:spcBef>
                <a:spcPts val="0"/>
              </a:spcBef>
              <a:spcAft>
                <a:spcPts val="0"/>
              </a:spcAft>
              <a:buSzPts val="1800"/>
              <a:buFont typeface="Arial"/>
              <a:buChar char="❖"/>
            </a:pPr>
            <a:r>
              <a:rPr lang="en-US" sz="1800">
                <a:latin typeface="Arial"/>
                <a:ea typeface="Arial"/>
                <a:cs typeface="Arial"/>
                <a:sym typeface="Arial"/>
              </a:rPr>
              <a:t>Sử dụng nhiều Thread (kế thừa Thread) </a:t>
            </a:r>
            <a:endParaRPr sz="1800">
              <a:latin typeface="Arial"/>
              <a:ea typeface="Arial"/>
              <a:cs typeface="Arial"/>
              <a:sym typeface="Arial"/>
            </a:endParaRPr>
          </a:p>
          <a:p>
            <a:pPr indent="-228600" lvl="1" marL="355600" rtl="0" algn="l">
              <a:spcBef>
                <a:spcPts val="0"/>
              </a:spcBef>
              <a:spcAft>
                <a:spcPts val="0"/>
              </a:spcAft>
              <a:buSzPts val="1800"/>
              <a:buFont typeface="Arial"/>
              <a:buChar char="➢"/>
            </a:pPr>
            <a:r>
              <a:rPr lang="en-US" sz="1800">
                <a:latin typeface="Arial"/>
                <a:ea typeface="Arial"/>
                <a:cs typeface="Arial"/>
                <a:sym typeface="Arial"/>
              </a:rPr>
              <a:t>Ưu điểm: </a:t>
            </a:r>
            <a:endParaRPr sz="1800">
              <a:latin typeface="Arial"/>
              <a:ea typeface="Arial"/>
              <a:cs typeface="Arial"/>
              <a:sym typeface="Arial"/>
            </a:endParaRPr>
          </a:p>
          <a:p>
            <a:pPr indent="-266700" lvl="2" marL="482600" rtl="0" algn="l">
              <a:spcBef>
                <a:spcPts val="0"/>
              </a:spcBef>
              <a:spcAft>
                <a:spcPts val="0"/>
              </a:spcAft>
              <a:buSzPts val="1800"/>
              <a:buFont typeface="Arial"/>
              <a:buChar char="■"/>
            </a:pPr>
            <a:r>
              <a:rPr lang="en-US" sz="1800">
                <a:latin typeface="Arial"/>
                <a:ea typeface="Arial"/>
                <a:cs typeface="Arial"/>
                <a:sym typeface="Arial"/>
              </a:rPr>
              <a:t>Đơn giản, dễ hiểu, phù hợp cho các tác vụ nhỏ và độc lập. </a:t>
            </a:r>
            <a:endParaRPr sz="1800">
              <a:latin typeface="Arial"/>
              <a:ea typeface="Arial"/>
              <a:cs typeface="Arial"/>
              <a:sym typeface="Arial"/>
            </a:endParaRPr>
          </a:p>
          <a:p>
            <a:pPr indent="-266700" lvl="2" marL="482600" rtl="0" algn="l">
              <a:spcBef>
                <a:spcPts val="0"/>
              </a:spcBef>
              <a:spcAft>
                <a:spcPts val="0"/>
              </a:spcAft>
              <a:buSzPts val="1800"/>
              <a:buFont typeface="Arial"/>
              <a:buChar char="■"/>
            </a:pPr>
            <a:r>
              <a:rPr lang="en-US" sz="1800">
                <a:latin typeface="Arial"/>
                <a:ea typeface="Arial"/>
                <a:cs typeface="Arial"/>
                <a:sym typeface="Arial"/>
              </a:rPr>
              <a:t>Logic của thread được gói gọn trong chính lớp Thread, không cần tạo thêm đối tượng trung gian. </a:t>
            </a:r>
            <a:endParaRPr sz="1800">
              <a:latin typeface="Arial"/>
              <a:ea typeface="Arial"/>
              <a:cs typeface="Arial"/>
              <a:sym typeface="Arial"/>
            </a:endParaRPr>
          </a:p>
          <a:p>
            <a:pPr indent="-266700" lvl="2" marL="482600" rtl="0" algn="l">
              <a:spcBef>
                <a:spcPts val="0"/>
              </a:spcBef>
              <a:spcAft>
                <a:spcPts val="0"/>
              </a:spcAft>
              <a:buSzPts val="1800"/>
              <a:buFont typeface="Arial"/>
              <a:buChar char="■"/>
            </a:pPr>
            <a:r>
              <a:rPr lang="en-US" sz="1800">
                <a:latin typeface="Arial"/>
                <a:ea typeface="Arial"/>
                <a:cs typeface="Arial"/>
                <a:sym typeface="Arial"/>
              </a:rPr>
              <a:t>Có thể tận dụng các phương thức của lớp Thread (như getName(), setPriority()). </a:t>
            </a:r>
            <a:endParaRPr sz="1800">
              <a:latin typeface="Arial"/>
              <a:ea typeface="Arial"/>
              <a:cs typeface="Arial"/>
              <a:sym typeface="Arial"/>
            </a:endParaRPr>
          </a:p>
          <a:p>
            <a:pPr indent="-228600" lvl="1" marL="355600" rtl="0" algn="l">
              <a:spcBef>
                <a:spcPts val="0"/>
              </a:spcBef>
              <a:spcAft>
                <a:spcPts val="0"/>
              </a:spcAft>
              <a:buSzPts val="1800"/>
              <a:buFont typeface="Arial"/>
              <a:buChar char="➢"/>
            </a:pPr>
            <a:r>
              <a:rPr lang="en-US" sz="1800">
                <a:latin typeface="Arial"/>
                <a:ea typeface="Arial"/>
                <a:cs typeface="Arial"/>
                <a:sym typeface="Arial"/>
              </a:rPr>
              <a:t>Nhược điểm: </a:t>
            </a:r>
            <a:endParaRPr sz="1800">
              <a:latin typeface="Arial"/>
              <a:ea typeface="Arial"/>
              <a:cs typeface="Arial"/>
              <a:sym typeface="Arial"/>
            </a:endParaRPr>
          </a:p>
          <a:p>
            <a:pPr indent="-266700" lvl="2" marL="482600" rtl="0" algn="l">
              <a:spcBef>
                <a:spcPts val="0"/>
              </a:spcBef>
              <a:spcAft>
                <a:spcPts val="0"/>
              </a:spcAft>
              <a:buSzPts val="1800"/>
              <a:buFont typeface="Arial"/>
              <a:buChar char="■"/>
            </a:pPr>
            <a:r>
              <a:rPr lang="en-US" sz="1800">
                <a:latin typeface="Arial"/>
                <a:ea typeface="Arial"/>
                <a:cs typeface="Arial"/>
                <a:sym typeface="Arial"/>
              </a:rPr>
              <a:t>Hạn chế kế thừa: Vì Java không hỗ trợ đa kế thừa, nếu lớp của bạn đã kế thừa một lớp khác </a:t>
            </a:r>
            <a:endParaRPr sz="1800">
              <a:latin typeface="Arial"/>
              <a:ea typeface="Arial"/>
              <a:cs typeface="Arial"/>
              <a:sym typeface="Arial"/>
            </a:endParaRPr>
          </a:p>
          <a:p>
            <a:pPr indent="-266700" lvl="2" marL="482600" rtl="0" algn="l">
              <a:spcBef>
                <a:spcPts val="0"/>
              </a:spcBef>
              <a:spcAft>
                <a:spcPts val="0"/>
              </a:spcAft>
              <a:buSzPts val="1800"/>
              <a:buFont typeface="Arial"/>
              <a:buChar char="■"/>
            </a:pPr>
            <a:r>
              <a:rPr lang="en-US" sz="1800">
                <a:latin typeface="Arial"/>
                <a:ea typeface="Arial"/>
                <a:cs typeface="Arial"/>
                <a:sym typeface="Arial"/>
              </a:rPr>
              <a:t>Khó tái sử dụng: Logic trong run() gắn chặt với lớp Thread, khó tách ra để dùng lại trong ngữ cảnh khác. </a:t>
            </a:r>
            <a:endParaRPr sz="1800">
              <a:latin typeface="Arial"/>
              <a:ea typeface="Arial"/>
              <a:cs typeface="Arial"/>
              <a:sym typeface="Arial"/>
            </a:endParaRPr>
          </a:p>
          <a:p>
            <a:pPr indent="-266700" lvl="2" marL="482600" rtl="0" algn="l">
              <a:spcBef>
                <a:spcPts val="0"/>
              </a:spcBef>
              <a:spcAft>
                <a:spcPts val="0"/>
              </a:spcAft>
              <a:buSzPts val="1800"/>
              <a:buFont typeface="Arial"/>
              <a:buChar char="■"/>
            </a:pPr>
            <a:r>
              <a:rPr lang="en-US" sz="1800">
                <a:latin typeface="Arial"/>
                <a:ea typeface="Arial"/>
                <a:cs typeface="Arial"/>
                <a:sym typeface="Arial"/>
              </a:rPr>
              <a:t>Không phù hợp với thread pool: Không thể truyền trực tiếp vào ExecutorService mà không tách logic.</a:t>
            </a:r>
            <a:endParaRPr sz="1800">
              <a:latin typeface="Arial"/>
              <a:ea typeface="Arial"/>
              <a:cs typeface="Arial"/>
              <a:sym typeface="Arial"/>
            </a:endParaRPr>
          </a:p>
        </p:txBody>
      </p:sp>
      <p:sp>
        <p:nvSpPr>
          <p:cNvPr id="465" name="Google Shape;465;p56"/>
          <p:cNvSpPr txBox="1"/>
          <p:nvPr/>
        </p:nvSpPr>
        <p:spPr>
          <a:xfrm>
            <a:off x="5869500" y="894675"/>
            <a:ext cx="6227700" cy="5546400"/>
          </a:xfrm>
          <a:prstGeom prst="rect">
            <a:avLst/>
          </a:prstGeom>
          <a:noFill/>
          <a:ln>
            <a:noFill/>
          </a:ln>
        </p:spPr>
        <p:txBody>
          <a:bodyPr anchorCtr="0" anchor="t" bIns="121900" lIns="121900" spcFirstLastPara="1" rIns="121900" wrap="square" tIns="121900">
            <a:noAutofit/>
          </a:bodyPr>
          <a:lstStyle/>
          <a:p>
            <a:pPr indent="-234950" lvl="0" marL="355600" rtl="0" algn="l">
              <a:spcBef>
                <a:spcPts val="0"/>
              </a:spcBef>
              <a:spcAft>
                <a:spcPts val="0"/>
              </a:spcAft>
              <a:buSzPts val="1700"/>
              <a:buChar char="❖"/>
            </a:pPr>
            <a:r>
              <a:rPr lang="en-US" sz="1700"/>
              <a:t>Sử dụng nhiều Runable: </a:t>
            </a:r>
            <a:endParaRPr sz="1700"/>
          </a:p>
          <a:p>
            <a:pPr indent="-247650" lvl="1" marL="596900" rtl="0" algn="l">
              <a:spcBef>
                <a:spcPts val="0"/>
              </a:spcBef>
              <a:spcAft>
                <a:spcPts val="0"/>
              </a:spcAft>
              <a:buSzPts val="1700"/>
              <a:buChar char="➢"/>
            </a:pPr>
            <a:r>
              <a:rPr lang="en-US" sz="1700"/>
              <a:t>Ưu điểm: </a:t>
            </a:r>
            <a:endParaRPr sz="1700"/>
          </a:p>
          <a:p>
            <a:pPr indent="-260350" lvl="2" marL="723900" rtl="0" algn="l">
              <a:spcBef>
                <a:spcPts val="0"/>
              </a:spcBef>
              <a:spcAft>
                <a:spcPts val="0"/>
              </a:spcAft>
              <a:buSzPts val="1700"/>
              <a:buChar char="■"/>
            </a:pPr>
            <a:r>
              <a:rPr lang="en-US" sz="1700"/>
              <a:t>Linh hoạt: Có thể triển khai Runnable trong bất kỳ lớp nào mà không bị ràng buộc bởi kế thừa. </a:t>
            </a:r>
            <a:endParaRPr sz="1700"/>
          </a:p>
          <a:p>
            <a:pPr indent="-260350" lvl="2" marL="723900" rtl="0" algn="l">
              <a:spcBef>
                <a:spcPts val="0"/>
              </a:spcBef>
              <a:spcAft>
                <a:spcPts val="0"/>
              </a:spcAft>
              <a:buSzPts val="1700"/>
              <a:buChar char="■"/>
            </a:pPr>
            <a:r>
              <a:rPr lang="en-US" sz="1700"/>
              <a:t>Tái sử dụng: Logic trong Runnable có thể được dùng lại bằng cách truyền vào nhiều thread hoặc thread pool (ExecutorService). </a:t>
            </a:r>
            <a:endParaRPr sz="1700"/>
          </a:p>
          <a:p>
            <a:pPr indent="-260350" lvl="2" marL="723900" rtl="0" algn="l">
              <a:spcBef>
                <a:spcPts val="0"/>
              </a:spcBef>
              <a:spcAft>
                <a:spcPts val="0"/>
              </a:spcAft>
              <a:buSzPts val="1700"/>
              <a:buChar char="■"/>
            </a:pPr>
            <a:r>
              <a:rPr lang="en-US" sz="1700"/>
              <a:t>Tách biệt logic và thread: Công việc (Runnable) và cơ chế thực thi (Thread) được tách rời, giúp mã dễ bảo trì hơn. </a:t>
            </a:r>
            <a:endParaRPr sz="1700"/>
          </a:p>
          <a:p>
            <a:pPr indent="-260350" lvl="2" marL="723900" rtl="0" algn="l">
              <a:spcBef>
                <a:spcPts val="0"/>
              </a:spcBef>
              <a:spcAft>
                <a:spcPts val="0"/>
              </a:spcAft>
              <a:buSzPts val="1700"/>
              <a:buChar char="■"/>
            </a:pPr>
            <a:r>
              <a:rPr lang="en-US" sz="1700"/>
              <a:t>Hỗ trợ hiện đại: Dễ dàng tích hợp với các công cụ đa luồng tiên tiến như ExecutorService, ForkJoinPool. • </a:t>
            </a:r>
            <a:endParaRPr sz="1700"/>
          </a:p>
          <a:p>
            <a:pPr indent="-247650" lvl="1" marL="596900" rtl="0" algn="l">
              <a:spcBef>
                <a:spcPts val="0"/>
              </a:spcBef>
              <a:spcAft>
                <a:spcPts val="0"/>
              </a:spcAft>
              <a:buSzPts val="1700"/>
              <a:buChar char="➢"/>
            </a:pPr>
            <a:r>
              <a:rPr lang="en-US" sz="1700"/>
              <a:t>Nhược điểm: </a:t>
            </a:r>
            <a:endParaRPr sz="1700"/>
          </a:p>
          <a:p>
            <a:pPr indent="-260350" lvl="2" marL="723900" rtl="0" algn="l">
              <a:spcBef>
                <a:spcPts val="0"/>
              </a:spcBef>
              <a:spcAft>
                <a:spcPts val="0"/>
              </a:spcAft>
              <a:buSzPts val="1700"/>
              <a:buChar char="■"/>
            </a:pPr>
            <a:r>
              <a:rPr lang="en-US" sz="1700"/>
              <a:t>Phức tạp hơn một chút: Cần tạo thêm đối tượng Thread để chạy Runnable, dẫn đến vài dòng mã thừa. </a:t>
            </a:r>
            <a:endParaRPr sz="1700"/>
          </a:p>
          <a:p>
            <a:pPr indent="-260350" lvl="2" marL="723900" rtl="0" algn="l">
              <a:spcBef>
                <a:spcPts val="0"/>
              </a:spcBef>
              <a:spcAft>
                <a:spcPts val="0"/>
              </a:spcAft>
              <a:buSzPts val="1700"/>
              <a:buChar char="■"/>
            </a:pPr>
            <a:r>
              <a:rPr lang="en-US" sz="1700"/>
              <a:t>Không trực tiếp kế thừa các phương thức của Thread, phải truy cập thông qua Thread.currentThread() nếu cần (ví dụ: lấy tên thread).</a:t>
            </a:r>
            <a:endParaRPr sz="1700"/>
          </a:p>
        </p:txBody>
      </p:sp>
      <p:cxnSp>
        <p:nvCxnSpPr>
          <p:cNvPr id="466" name="Google Shape;466;p56"/>
          <p:cNvCxnSpPr/>
          <p:nvPr/>
        </p:nvCxnSpPr>
        <p:spPr>
          <a:xfrm>
            <a:off x="5933800" y="1690067"/>
            <a:ext cx="25500" cy="4271700"/>
          </a:xfrm>
          <a:prstGeom prst="straightConnector1">
            <a:avLst/>
          </a:prstGeom>
          <a:noFill/>
          <a:ln cap="flat" cmpd="sng" w="9525">
            <a:solidFill>
              <a:schemeClr val="dk2"/>
            </a:solidFill>
            <a:prstDash val="solid"/>
            <a:round/>
            <a:headEnd len="med" w="med" type="none"/>
            <a:tailEnd len="med" w="med" type="none"/>
          </a:ln>
        </p:spPr>
      </p:cxnSp>
      <p:pic>
        <p:nvPicPr>
          <p:cNvPr id="467" name="Google Shape;467;p56"/>
          <p:cNvPicPr preferRelativeResize="0"/>
          <p:nvPr/>
        </p:nvPicPr>
        <p:blipFill>
          <a:blip r:embed="rId3">
            <a:alphaModFix/>
          </a:blip>
          <a:stretch>
            <a:fillRect/>
          </a:stretch>
        </p:blipFill>
        <p:spPr>
          <a:xfrm>
            <a:off x="152400" y="152400"/>
            <a:ext cx="11819725" cy="503450"/>
          </a:xfrm>
          <a:prstGeom prst="rect">
            <a:avLst/>
          </a:prstGeom>
          <a:noFill/>
          <a:ln>
            <a:noFill/>
          </a:ln>
        </p:spPr>
      </p:pic>
      <p:sp>
        <p:nvSpPr>
          <p:cNvPr id="468" name="Google Shape;468;p56"/>
          <p:cNvSpPr txBox="1"/>
          <p:nvPr/>
        </p:nvSpPr>
        <p:spPr>
          <a:xfrm>
            <a:off x="724100" y="269175"/>
            <a:ext cx="4549200" cy="7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rPr>
              <a:t>ĐÁNH GIÁ</a:t>
            </a:r>
            <a:endParaRPr b="1" sz="28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57"/>
          <p:cNvSpPr txBox="1"/>
          <p:nvPr>
            <p:ph idx="1" type="body"/>
          </p:nvPr>
        </p:nvSpPr>
        <p:spPr>
          <a:xfrm>
            <a:off x="238000" y="1473100"/>
            <a:ext cx="5289600" cy="3087900"/>
          </a:xfrm>
          <a:prstGeom prst="rect">
            <a:avLst/>
          </a:prstGeom>
        </p:spPr>
        <p:txBody>
          <a:bodyPr anchorCtr="0" anchor="t" bIns="45700" lIns="91425" spcFirstLastPara="1" rIns="91425" wrap="square" tIns="45700">
            <a:normAutofit/>
          </a:bodyPr>
          <a:lstStyle/>
          <a:p>
            <a:pPr indent="0" lvl="0" marL="0" rtl="0" algn="l">
              <a:lnSpc>
                <a:spcPct val="90000"/>
              </a:lnSpc>
              <a:spcBef>
                <a:spcPts val="1300"/>
              </a:spcBef>
              <a:spcAft>
                <a:spcPts val="0"/>
              </a:spcAft>
              <a:buNone/>
            </a:pPr>
            <a:r>
              <a:t/>
            </a:r>
            <a:endParaRPr sz="700">
              <a:latin typeface="Arial"/>
              <a:ea typeface="Arial"/>
              <a:cs typeface="Arial"/>
              <a:sym typeface="Arial"/>
            </a:endParaRPr>
          </a:p>
          <a:p>
            <a:pPr indent="0" lvl="0" marL="0" rtl="0" algn="l">
              <a:spcBef>
                <a:spcPts val="1600"/>
              </a:spcBef>
              <a:spcAft>
                <a:spcPts val="1600"/>
              </a:spcAft>
              <a:buNone/>
            </a:pPr>
            <a:r>
              <a:t/>
            </a:r>
            <a:endParaRPr sz="700">
              <a:latin typeface="Arial"/>
              <a:ea typeface="Arial"/>
              <a:cs typeface="Arial"/>
              <a:sym typeface="Arial"/>
            </a:endParaRPr>
          </a:p>
        </p:txBody>
      </p:sp>
      <p:sp>
        <p:nvSpPr>
          <p:cNvPr id="474" name="Google Shape;474;p57"/>
          <p:cNvSpPr txBox="1"/>
          <p:nvPr/>
        </p:nvSpPr>
        <p:spPr>
          <a:xfrm>
            <a:off x="5869500" y="1704000"/>
            <a:ext cx="6227700" cy="4965600"/>
          </a:xfrm>
          <a:prstGeom prst="rect">
            <a:avLst/>
          </a:prstGeom>
          <a:noFill/>
          <a:ln>
            <a:noFill/>
          </a:ln>
        </p:spPr>
        <p:txBody>
          <a:bodyPr anchorCtr="0" anchor="t" bIns="121900" lIns="121900" spcFirstLastPara="1" rIns="121900" wrap="square" tIns="121900">
            <a:noAutofit/>
          </a:bodyPr>
          <a:lstStyle/>
          <a:p>
            <a:pPr indent="0" lvl="0" marL="0" rtl="0" algn="l">
              <a:lnSpc>
                <a:spcPct val="90000"/>
              </a:lnSpc>
              <a:spcBef>
                <a:spcPts val="1300"/>
              </a:spcBef>
              <a:spcAft>
                <a:spcPts val="0"/>
              </a:spcAft>
              <a:buNone/>
            </a:pPr>
            <a:r>
              <a:t/>
            </a:r>
            <a:endParaRPr sz="700">
              <a:solidFill>
                <a:schemeClr val="dk2"/>
              </a:solidFill>
            </a:endParaRPr>
          </a:p>
        </p:txBody>
      </p:sp>
      <p:graphicFrame>
        <p:nvGraphicFramePr>
          <p:cNvPr id="475" name="Google Shape;475;p57"/>
          <p:cNvGraphicFramePr/>
          <p:nvPr/>
        </p:nvGraphicFramePr>
        <p:xfrm>
          <a:off x="507167" y="1246800"/>
          <a:ext cx="3000000" cy="3000000"/>
        </p:xfrm>
        <a:graphic>
          <a:graphicData uri="http://schemas.openxmlformats.org/drawingml/2006/table">
            <a:tbl>
              <a:tblPr>
                <a:noFill/>
                <a:tableStyleId>{5115B9B6-4B62-4A6B-8520-B923362E31CE}</a:tableStyleId>
              </a:tblPr>
              <a:tblGrid>
                <a:gridCol w="3540625"/>
                <a:gridCol w="3540625"/>
                <a:gridCol w="3540625"/>
              </a:tblGrid>
              <a:tr h="734600">
                <a:tc>
                  <a:txBody>
                    <a:bodyPr/>
                    <a:lstStyle/>
                    <a:p>
                      <a:pPr indent="0" lvl="0" marL="0" rtl="0" algn="ctr">
                        <a:spcBef>
                          <a:spcPts val="0"/>
                        </a:spcBef>
                        <a:spcAft>
                          <a:spcPts val="0"/>
                        </a:spcAft>
                        <a:buNone/>
                      </a:pPr>
                      <a:r>
                        <a:rPr b="1" lang="en-US" sz="2300"/>
                        <a:t>Tính năng</a:t>
                      </a:r>
                      <a:endParaRPr b="1" sz="2300"/>
                    </a:p>
                  </a:txBody>
                  <a:tcPr marT="121900" marB="121900" marR="121900" marL="121900"/>
                </a:tc>
                <a:tc>
                  <a:txBody>
                    <a:bodyPr/>
                    <a:lstStyle/>
                    <a:p>
                      <a:pPr indent="0" lvl="0" marL="0" rtl="0" algn="ctr">
                        <a:spcBef>
                          <a:spcPts val="0"/>
                        </a:spcBef>
                        <a:spcAft>
                          <a:spcPts val="0"/>
                        </a:spcAft>
                        <a:buNone/>
                      </a:pPr>
                      <a:r>
                        <a:rPr b="1" lang="en-US" sz="2300"/>
                        <a:t>Extending Thread</a:t>
                      </a:r>
                      <a:endParaRPr b="1" sz="2300"/>
                    </a:p>
                  </a:txBody>
                  <a:tcPr marT="121900" marB="121900" marR="121900" marL="121900"/>
                </a:tc>
                <a:tc>
                  <a:txBody>
                    <a:bodyPr/>
                    <a:lstStyle/>
                    <a:p>
                      <a:pPr indent="0" lvl="0" marL="0" rtl="0" algn="ctr">
                        <a:spcBef>
                          <a:spcPts val="0"/>
                        </a:spcBef>
                        <a:spcAft>
                          <a:spcPts val="0"/>
                        </a:spcAft>
                        <a:buNone/>
                      </a:pPr>
                      <a:r>
                        <a:rPr b="1" lang="en-US" sz="2300"/>
                        <a:t>Implementing Runnable</a:t>
                      </a:r>
                      <a:endParaRPr b="1" sz="2300"/>
                    </a:p>
                  </a:txBody>
                  <a:tcPr marT="121900" marB="121900" marR="121900" marL="121900"/>
                </a:tc>
              </a:tr>
              <a:tr h="844075">
                <a:tc>
                  <a:txBody>
                    <a:bodyPr/>
                    <a:lstStyle/>
                    <a:p>
                      <a:pPr indent="0" lvl="0" marL="0" rtl="0" algn="ctr">
                        <a:spcBef>
                          <a:spcPts val="0"/>
                        </a:spcBef>
                        <a:spcAft>
                          <a:spcPts val="0"/>
                        </a:spcAft>
                        <a:buNone/>
                      </a:pPr>
                      <a:r>
                        <a:rPr b="1" lang="en-US" sz="2300"/>
                        <a:t>Tính kế thừa </a:t>
                      </a:r>
                      <a:endParaRPr b="1" sz="2300"/>
                    </a:p>
                  </a:txBody>
                  <a:tcPr marT="121900" marB="121900" marR="121900" marL="121900"/>
                </a:tc>
                <a:tc>
                  <a:txBody>
                    <a:bodyPr/>
                    <a:lstStyle/>
                    <a:p>
                      <a:pPr indent="0" lvl="0" marL="0" rtl="0" algn="just">
                        <a:spcBef>
                          <a:spcPts val="0"/>
                        </a:spcBef>
                        <a:spcAft>
                          <a:spcPts val="0"/>
                        </a:spcAft>
                        <a:buNone/>
                      </a:pPr>
                      <a:r>
                        <a:rPr lang="en-US" sz="2300"/>
                        <a:t>Không thể kế thừa lớp khác</a:t>
                      </a:r>
                      <a:endParaRPr sz="2300"/>
                    </a:p>
                  </a:txBody>
                  <a:tcPr marT="121900" marB="121900" marR="121900" marL="121900"/>
                </a:tc>
                <a:tc>
                  <a:txBody>
                    <a:bodyPr/>
                    <a:lstStyle/>
                    <a:p>
                      <a:pPr indent="0" lvl="0" marL="0" rtl="0" algn="just">
                        <a:spcBef>
                          <a:spcPts val="0"/>
                        </a:spcBef>
                        <a:spcAft>
                          <a:spcPts val="0"/>
                        </a:spcAft>
                        <a:buNone/>
                      </a:pPr>
                      <a:r>
                        <a:rPr lang="en-US" sz="2300"/>
                        <a:t>Có thể kế thừa lớp khác</a:t>
                      </a:r>
                      <a:endParaRPr sz="2300"/>
                    </a:p>
                  </a:txBody>
                  <a:tcPr marT="121900" marB="121900" marR="121900" marL="121900"/>
                </a:tc>
              </a:tr>
              <a:tr h="1037100">
                <a:tc>
                  <a:txBody>
                    <a:bodyPr/>
                    <a:lstStyle/>
                    <a:p>
                      <a:pPr indent="0" lvl="0" marL="0" rtl="0" algn="ctr">
                        <a:spcBef>
                          <a:spcPts val="0"/>
                        </a:spcBef>
                        <a:spcAft>
                          <a:spcPts val="0"/>
                        </a:spcAft>
                        <a:buNone/>
                      </a:pPr>
                      <a:r>
                        <a:rPr b="1" lang="en-US" sz="2300"/>
                        <a:t>Tách biệt mã nguồn</a:t>
                      </a:r>
                      <a:endParaRPr b="1" sz="2300"/>
                    </a:p>
                  </a:txBody>
                  <a:tcPr marT="121900" marB="121900" marR="121900" marL="121900"/>
                </a:tc>
                <a:tc>
                  <a:txBody>
                    <a:bodyPr/>
                    <a:lstStyle/>
                    <a:p>
                      <a:pPr indent="0" lvl="0" marL="0" rtl="0" algn="just">
                        <a:spcBef>
                          <a:spcPts val="0"/>
                        </a:spcBef>
                        <a:spcAft>
                          <a:spcPts val="0"/>
                        </a:spcAft>
                        <a:buNone/>
                      </a:pPr>
                      <a:r>
                        <a:rPr lang="en-US" sz="2300"/>
                        <a:t>Logic và luồng gắn chặt với nhau</a:t>
                      </a:r>
                      <a:endParaRPr sz="2300"/>
                    </a:p>
                  </a:txBody>
                  <a:tcPr marT="121900" marB="121900" marR="121900" marL="121900"/>
                </a:tc>
                <a:tc>
                  <a:txBody>
                    <a:bodyPr/>
                    <a:lstStyle/>
                    <a:p>
                      <a:pPr indent="0" lvl="0" marL="0" rtl="0" algn="just">
                        <a:spcBef>
                          <a:spcPts val="0"/>
                        </a:spcBef>
                        <a:spcAft>
                          <a:spcPts val="0"/>
                        </a:spcAft>
                        <a:buNone/>
                      </a:pPr>
                      <a:r>
                        <a:rPr lang="en-US" sz="2300"/>
                        <a:t>Logic và luồng được tách biệt</a:t>
                      </a:r>
                      <a:endParaRPr sz="2300"/>
                    </a:p>
                  </a:txBody>
                  <a:tcPr marT="121900" marB="121900" marR="121900" marL="121900"/>
                </a:tc>
              </a:tr>
              <a:tr h="844075">
                <a:tc>
                  <a:txBody>
                    <a:bodyPr/>
                    <a:lstStyle/>
                    <a:p>
                      <a:pPr indent="0" lvl="0" marL="0" rtl="0" algn="ctr">
                        <a:spcBef>
                          <a:spcPts val="0"/>
                        </a:spcBef>
                        <a:spcAft>
                          <a:spcPts val="0"/>
                        </a:spcAft>
                        <a:buNone/>
                      </a:pPr>
                      <a:r>
                        <a:rPr b="1" lang="en-US" sz="2300"/>
                        <a:t>Tính linh hoạt</a:t>
                      </a:r>
                      <a:endParaRPr b="1" sz="2300"/>
                    </a:p>
                  </a:txBody>
                  <a:tcPr marT="121900" marB="121900" marR="121900" marL="121900"/>
                </a:tc>
                <a:tc>
                  <a:txBody>
                    <a:bodyPr/>
                    <a:lstStyle/>
                    <a:p>
                      <a:pPr indent="0" lvl="0" marL="0" rtl="0" algn="just">
                        <a:spcBef>
                          <a:spcPts val="0"/>
                        </a:spcBef>
                        <a:spcAft>
                          <a:spcPts val="0"/>
                        </a:spcAft>
                        <a:buNone/>
                      </a:pPr>
                      <a:r>
                        <a:rPr lang="en-US" sz="2300"/>
                        <a:t>Ít linh hoạt hơn</a:t>
                      </a:r>
                      <a:endParaRPr sz="2300"/>
                    </a:p>
                  </a:txBody>
                  <a:tcPr marT="121900" marB="121900" marR="121900" marL="121900"/>
                </a:tc>
                <a:tc>
                  <a:txBody>
                    <a:bodyPr/>
                    <a:lstStyle/>
                    <a:p>
                      <a:pPr indent="0" lvl="0" marL="0" rtl="0" algn="just">
                        <a:spcBef>
                          <a:spcPts val="0"/>
                        </a:spcBef>
                        <a:spcAft>
                          <a:spcPts val="0"/>
                        </a:spcAft>
                        <a:buNone/>
                      </a:pPr>
                      <a:r>
                        <a:rPr lang="en-US" sz="2300"/>
                        <a:t>Linh hoạt hơn (tách rời logic)</a:t>
                      </a:r>
                      <a:endParaRPr sz="2300"/>
                    </a:p>
                  </a:txBody>
                  <a:tcPr marT="121900" marB="121900" marR="121900" marL="121900"/>
                </a:tc>
              </a:tr>
              <a:tr h="734600">
                <a:tc>
                  <a:txBody>
                    <a:bodyPr/>
                    <a:lstStyle/>
                    <a:p>
                      <a:pPr indent="0" lvl="0" marL="0" rtl="0" algn="ctr">
                        <a:spcBef>
                          <a:spcPts val="0"/>
                        </a:spcBef>
                        <a:spcAft>
                          <a:spcPts val="0"/>
                        </a:spcAft>
                        <a:buNone/>
                      </a:pPr>
                      <a:r>
                        <a:rPr b="1" lang="en-US" sz="2300"/>
                        <a:t>Đa luồng</a:t>
                      </a:r>
                      <a:endParaRPr b="1" sz="2300"/>
                    </a:p>
                  </a:txBody>
                  <a:tcPr marT="121900" marB="121900" marR="121900" marL="121900"/>
                </a:tc>
                <a:tc>
                  <a:txBody>
                    <a:bodyPr/>
                    <a:lstStyle/>
                    <a:p>
                      <a:pPr indent="0" lvl="0" marL="0" rtl="0" algn="just">
                        <a:spcBef>
                          <a:spcPts val="0"/>
                        </a:spcBef>
                        <a:spcAft>
                          <a:spcPts val="0"/>
                        </a:spcAft>
                        <a:buNone/>
                      </a:pPr>
                      <a:r>
                        <a:rPr lang="en-US" sz="2300"/>
                        <a:t>Tốn nhiều bộ nhớ hơn</a:t>
                      </a:r>
                      <a:endParaRPr sz="2300"/>
                    </a:p>
                  </a:txBody>
                  <a:tcPr marT="121900" marB="121900" marR="121900" marL="121900"/>
                </a:tc>
                <a:tc>
                  <a:txBody>
                    <a:bodyPr/>
                    <a:lstStyle/>
                    <a:p>
                      <a:pPr indent="0" lvl="0" marL="0" rtl="0" algn="just">
                        <a:spcBef>
                          <a:spcPts val="0"/>
                        </a:spcBef>
                        <a:spcAft>
                          <a:spcPts val="0"/>
                        </a:spcAft>
                        <a:buNone/>
                      </a:pPr>
                      <a:r>
                        <a:rPr lang="en-US" sz="2300"/>
                        <a:t>Tiết kiệm bộ nhớ hơn</a:t>
                      </a:r>
                      <a:endParaRPr sz="2300"/>
                    </a:p>
                  </a:txBody>
                  <a:tcPr marT="121900" marB="121900" marR="121900" marL="121900"/>
                </a:tc>
              </a:tr>
            </a:tbl>
          </a:graphicData>
        </a:graphic>
      </p:graphicFrame>
      <p:pic>
        <p:nvPicPr>
          <p:cNvPr id="476" name="Google Shape;476;p57"/>
          <p:cNvPicPr preferRelativeResize="0"/>
          <p:nvPr/>
        </p:nvPicPr>
        <p:blipFill>
          <a:blip r:embed="rId3">
            <a:alphaModFix/>
          </a:blip>
          <a:stretch>
            <a:fillRect/>
          </a:stretch>
        </p:blipFill>
        <p:spPr>
          <a:xfrm>
            <a:off x="152400" y="152400"/>
            <a:ext cx="11819725" cy="503450"/>
          </a:xfrm>
          <a:prstGeom prst="rect">
            <a:avLst/>
          </a:prstGeom>
          <a:noFill/>
          <a:ln>
            <a:noFill/>
          </a:ln>
        </p:spPr>
      </p:pic>
      <p:sp>
        <p:nvSpPr>
          <p:cNvPr id="477" name="Google Shape;477;p57"/>
          <p:cNvSpPr txBox="1"/>
          <p:nvPr/>
        </p:nvSpPr>
        <p:spPr>
          <a:xfrm>
            <a:off x="1448550" y="366975"/>
            <a:ext cx="10918200" cy="4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2900">
                <a:solidFill>
                  <a:schemeClr val="dk1"/>
                </a:solidFill>
              </a:rPr>
              <a:t>SỰ KHÁC NHAU GIỮA THREAD VÀ RUNNABLE</a:t>
            </a:r>
            <a:endParaRPr b="1" sz="2900">
              <a:solidFill>
                <a:schemeClr val="dk1"/>
              </a:solidFill>
            </a:endParaRPr>
          </a:p>
          <a:p>
            <a:pPr indent="0" lvl="0" marL="0" rtl="0" algn="l">
              <a:spcBef>
                <a:spcPts val="0"/>
              </a:spcBef>
              <a:spcAft>
                <a:spcPts val="0"/>
              </a:spcAft>
              <a:buClr>
                <a:schemeClr val="dk1"/>
              </a:buClr>
              <a:buSzPts val="1100"/>
              <a:buFont typeface="Arial"/>
              <a:buNone/>
            </a:pPr>
            <a:r>
              <a:t/>
            </a:r>
            <a:endParaRPr b="1" sz="2300">
              <a:solidFill>
                <a:schemeClr val="dk1"/>
              </a:solidFill>
            </a:endParaRPr>
          </a:p>
          <a:p>
            <a:pPr indent="0" lvl="0" marL="0" rtl="0" algn="l">
              <a:spcBef>
                <a:spcPts val="0"/>
              </a:spcBef>
              <a:spcAft>
                <a:spcPts val="0"/>
              </a:spcAft>
              <a:buClr>
                <a:schemeClr val="dk1"/>
              </a:buClr>
              <a:buSzPts val="1100"/>
              <a:buFont typeface="Arial"/>
              <a:buNone/>
            </a:pPr>
            <a:r>
              <a:t/>
            </a:r>
            <a:endParaRPr b="1" sz="3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8"/>
          <p:cNvSpPr txBox="1"/>
          <p:nvPr>
            <p:ph idx="1" type="body"/>
          </p:nvPr>
        </p:nvSpPr>
        <p:spPr>
          <a:xfrm>
            <a:off x="700867" y="1442917"/>
            <a:ext cx="11182800" cy="4780500"/>
          </a:xfrm>
          <a:prstGeom prst="rect">
            <a:avLst/>
          </a:prstGeom>
        </p:spPr>
        <p:txBody>
          <a:bodyPr anchorCtr="0" anchor="t" bIns="45700" lIns="91425" spcFirstLastPara="1" rIns="91425" wrap="square" tIns="45700">
            <a:normAutofit/>
          </a:bodyPr>
          <a:lstStyle/>
          <a:p>
            <a:pPr indent="-228600" lvl="0" marL="241300" rtl="0" algn="l">
              <a:lnSpc>
                <a:spcPct val="100000"/>
              </a:lnSpc>
              <a:spcBef>
                <a:spcPts val="0"/>
              </a:spcBef>
              <a:spcAft>
                <a:spcPts val="0"/>
              </a:spcAft>
              <a:buSzPts val="1600"/>
              <a:buFont typeface="Arial"/>
              <a:buChar char="❖"/>
            </a:pPr>
            <a:r>
              <a:rPr lang="en-US" sz="1600">
                <a:latin typeface="Arial"/>
                <a:ea typeface="Arial"/>
                <a:cs typeface="Arial"/>
                <a:sym typeface="Arial"/>
              </a:rPr>
              <a:t>Khái niệm: là thành phần quan trọng trong mô hình client-server, đại diện cho điểm cuối (endpoint) của máy chủ (server) để chấp nhận và xử lý các kết nối từ các client. Server socket được triển khai thông qua lớp java.net.ServerSocket, cho phép server lắng nghe trên một cổng cụ thể và thiết lập giao tiếp với client thông qua giao thức TCP/IP.</a:t>
            </a:r>
            <a:endParaRPr sz="1600">
              <a:latin typeface="Arial"/>
              <a:ea typeface="Arial"/>
              <a:cs typeface="Arial"/>
              <a:sym typeface="Arial"/>
            </a:endParaRPr>
          </a:p>
          <a:p>
            <a:pPr indent="-228600" lvl="0" marL="241300" rtl="0" algn="l">
              <a:lnSpc>
                <a:spcPct val="100000"/>
              </a:lnSpc>
              <a:spcBef>
                <a:spcPts val="0"/>
              </a:spcBef>
              <a:spcAft>
                <a:spcPts val="0"/>
              </a:spcAft>
              <a:buSzPts val="1600"/>
              <a:buFont typeface="Arial"/>
              <a:buChar char="❖"/>
            </a:pPr>
            <a:r>
              <a:rPr lang="en-US" sz="1600">
                <a:latin typeface="Arial"/>
                <a:ea typeface="Arial"/>
                <a:cs typeface="Arial"/>
                <a:sym typeface="Arial"/>
              </a:rPr>
              <a:t>Chức năng: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Lắng nghe các yêu cầu kết nối từ client.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Chấp nhận kết nối và tạo một Socket mới cho mỗi client để giao tiếp hai chiều.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Quản lý luồng dữ liệu gửi/nhận giữa server và client.</a:t>
            </a:r>
            <a:endParaRPr sz="1600">
              <a:latin typeface="Arial"/>
              <a:ea typeface="Arial"/>
              <a:cs typeface="Arial"/>
              <a:sym typeface="Arial"/>
            </a:endParaRPr>
          </a:p>
          <a:p>
            <a:pPr indent="-228600" lvl="0" marL="241300" rtl="0" algn="l">
              <a:lnSpc>
                <a:spcPct val="100000"/>
              </a:lnSpc>
              <a:spcBef>
                <a:spcPts val="0"/>
              </a:spcBef>
              <a:spcAft>
                <a:spcPts val="0"/>
              </a:spcAft>
              <a:buSzPts val="1600"/>
              <a:buFont typeface="Arial"/>
              <a:buChar char="❖"/>
            </a:pPr>
            <a:r>
              <a:rPr lang="en-US" sz="1600">
                <a:latin typeface="Arial"/>
                <a:ea typeface="Arial"/>
                <a:cs typeface="Arial"/>
                <a:sym typeface="Arial"/>
              </a:rPr>
              <a:t>Đặc điểm: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Cổng (Port): Server phải lắng nghe trên một cổng cụ thể (0-65535), nhưng các cổng dưới 1024 thường yêu cầu quyền quản trị viên.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Đa kết nối: Server có thể xử lý nhiều client cùng lúc bằng cách sử dụng đa luồng (thread) hoặc thread pool.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Tài nguyên: Server socket tiêu tốn tài nguyên khi giữ cổng mở và xử lý nhiều kết nối, nên cần quản lý cẩn thận.</a:t>
            </a:r>
            <a:endParaRPr sz="1600">
              <a:latin typeface="Arial"/>
              <a:ea typeface="Arial"/>
              <a:cs typeface="Arial"/>
              <a:sym typeface="Arial"/>
            </a:endParaRPr>
          </a:p>
          <a:p>
            <a:pPr indent="-228600" lvl="0" marL="241300" rtl="0" algn="l">
              <a:lnSpc>
                <a:spcPct val="100000"/>
              </a:lnSpc>
              <a:spcBef>
                <a:spcPts val="0"/>
              </a:spcBef>
              <a:spcAft>
                <a:spcPts val="0"/>
              </a:spcAft>
              <a:buSzPts val="1600"/>
              <a:buFont typeface="Arial"/>
              <a:buChar char="❖"/>
            </a:pPr>
            <a:r>
              <a:rPr lang="en-US" sz="1600">
                <a:latin typeface="Arial"/>
                <a:ea typeface="Arial"/>
                <a:cs typeface="Arial"/>
                <a:sym typeface="Arial"/>
              </a:rPr>
              <a:t>Quy trình hoạt động: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Server tạo một ServerSocket và gắn nó với một cổng (ví dụ: 5000).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Server gọi accept() để chờ client kết nối.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Khi client kết nối, accept() trả về một Socket để giao tiếp. </a:t>
            </a:r>
            <a:endParaRPr sz="1600">
              <a:latin typeface="Arial"/>
              <a:ea typeface="Arial"/>
              <a:cs typeface="Arial"/>
              <a:sym typeface="Arial"/>
            </a:endParaRPr>
          </a:p>
          <a:p>
            <a:pPr indent="-241300" lvl="1" marL="482600" rtl="0" algn="l">
              <a:lnSpc>
                <a:spcPct val="100000"/>
              </a:lnSpc>
              <a:spcBef>
                <a:spcPts val="0"/>
              </a:spcBef>
              <a:spcAft>
                <a:spcPts val="0"/>
              </a:spcAft>
              <a:buSzPts val="1600"/>
              <a:buFont typeface="Arial"/>
              <a:buChar char="➢"/>
            </a:pPr>
            <a:r>
              <a:rPr lang="en-US" sz="1600">
                <a:latin typeface="Arial"/>
                <a:ea typeface="Arial"/>
                <a:cs typeface="Arial"/>
                <a:sym typeface="Arial"/>
              </a:rPr>
              <a:t>Server xử lý dữ liệu từ client và gửi phản hồi. O Khi hoàn tất, server đóng kết nối.</a:t>
            </a:r>
            <a:endParaRPr sz="1600">
              <a:latin typeface="Arial"/>
              <a:ea typeface="Arial"/>
              <a:cs typeface="Arial"/>
              <a:sym typeface="Arial"/>
            </a:endParaRPr>
          </a:p>
        </p:txBody>
      </p:sp>
      <p:pic>
        <p:nvPicPr>
          <p:cNvPr id="483" name="Google Shape;483;p58"/>
          <p:cNvPicPr preferRelativeResize="0"/>
          <p:nvPr/>
        </p:nvPicPr>
        <p:blipFill>
          <a:blip r:embed="rId3">
            <a:alphaModFix/>
          </a:blip>
          <a:stretch>
            <a:fillRect/>
          </a:stretch>
        </p:blipFill>
        <p:spPr>
          <a:xfrm>
            <a:off x="152400" y="152400"/>
            <a:ext cx="11819725" cy="503450"/>
          </a:xfrm>
          <a:prstGeom prst="rect">
            <a:avLst/>
          </a:prstGeom>
          <a:noFill/>
          <a:ln>
            <a:noFill/>
          </a:ln>
        </p:spPr>
      </p:pic>
      <p:sp>
        <p:nvSpPr>
          <p:cNvPr id="484" name="Google Shape;484;p58"/>
          <p:cNvSpPr txBox="1"/>
          <p:nvPr/>
        </p:nvSpPr>
        <p:spPr>
          <a:xfrm>
            <a:off x="871950" y="439750"/>
            <a:ext cx="10417800" cy="69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00">
                <a:solidFill>
                  <a:schemeClr val="dk1"/>
                </a:solidFill>
              </a:rPr>
              <a:t>SEVER SOCKET</a:t>
            </a:r>
            <a:endParaRPr b="1" sz="28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488" name="Shape 488"/>
        <p:cNvGrpSpPr/>
        <p:nvPr/>
      </p:nvGrpSpPr>
      <p:grpSpPr>
        <a:xfrm>
          <a:off x="0" y="0"/>
          <a:ext cx="0" cy="0"/>
          <a:chOff x="0" y="0"/>
          <a:chExt cx="0" cy="0"/>
        </a:xfrm>
      </p:grpSpPr>
      <p:sp>
        <p:nvSpPr>
          <p:cNvPr id="489" name="Google Shape;489;p59"/>
          <p:cNvSpPr txBox="1"/>
          <p:nvPr/>
        </p:nvSpPr>
        <p:spPr>
          <a:xfrm>
            <a:off x="3390017" y="-65717"/>
            <a:ext cx="6723600" cy="1882500"/>
          </a:xfrm>
          <a:prstGeom prst="rect">
            <a:avLst/>
          </a:prstGeom>
          <a:noFill/>
          <a:ln>
            <a:noFill/>
          </a:ln>
        </p:spPr>
        <p:txBody>
          <a:bodyPr anchorCtr="0" anchor="t" bIns="60950" lIns="60950" spcFirstLastPara="1" rIns="60950" wrap="square" tIns="60950">
            <a:noAutofit/>
          </a:bodyPr>
          <a:lstStyle/>
          <a:p>
            <a:pPr indent="0" lvl="0" marL="0" rtl="0" algn="l">
              <a:spcBef>
                <a:spcPts val="0"/>
              </a:spcBef>
              <a:spcAft>
                <a:spcPts val="0"/>
              </a:spcAft>
              <a:buNone/>
            </a:pPr>
            <a:r>
              <a:rPr b="1" lang="en-US" sz="2600">
                <a:solidFill>
                  <a:schemeClr val="dk1"/>
                </a:solidFill>
                <a:latin typeface="Calibri"/>
                <a:ea typeface="Calibri"/>
                <a:cs typeface="Calibri"/>
                <a:sym typeface="Calibri"/>
              </a:rPr>
              <a:t>Socket Client Server and Server Multi Client</a:t>
            </a:r>
            <a:endParaRPr b="1" sz="2600">
              <a:solidFill>
                <a:schemeClr val="dk1"/>
              </a:solidFill>
              <a:latin typeface="Calibri"/>
              <a:ea typeface="Calibri"/>
              <a:cs typeface="Calibri"/>
              <a:sym typeface="Calibri"/>
            </a:endParaRPr>
          </a:p>
        </p:txBody>
      </p:sp>
      <p:sp>
        <p:nvSpPr>
          <p:cNvPr id="490" name="Google Shape;490;p59"/>
          <p:cNvSpPr txBox="1"/>
          <p:nvPr/>
        </p:nvSpPr>
        <p:spPr>
          <a:xfrm>
            <a:off x="441592" y="478050"/>
            <a:ext cx="9457800" cy="5901900"/>
          </a:xfrm>
          <a:prstGeom prst="rect">
            <a:avLst/>
          </a:prstGeom>
          <a:noFill/>
          <a:ln>
            <a:noFill/>
          </a:ln>
        </p:spPr>
        <p:txBody>
          <a:bodyPr anchorCtr="0" anchor="t" bIns="60950" lIns="60950" spcFirstLastPara="1" rIns="60950" wrap="square" tIns="60950">
            <a:noAutofit/>
          </a:bodyPr>
          <a:lstStyle/>
          <a:p>
            <a:pPr indent="0" lvl="0" marL="0" rtl="0" algn="l">
              <a:lnSpc>
                <a:spcPct val="115000"/>
              </a:lnSpc>
              <a:spcBef>
                <a:spcPts val="1200"/>
              </a:spcBef>
              <a:spcAft>
                <a:spcPts val="0"/>
              </a:spcAft>
              <a:buClr>
                <a:schemeClr val="dk1"/>
              </a:buClr>
              <a:buSzPts val="700"/>
              <a:buFont typeface="Arial"/>
              <a:buNone/>
            </a:pPr>
            <a:r>
              <a:rPr b="1" lang="en-US" sz="2100">
                <a:solidFill>
                  <a:schemeClr val="dk1"/>
                </a:solidFill>
              </a:rPr>
              <a:t> Ý tưởng của </a:t>
            </a:r>
            <a:r>
              <a:rPr b="1" lang="en-US" sz="2100">
                <a:solidFill>
                  <a:srgbClr val="188038"/>
                </a:solidFill>
                <a:latin typeface="Roboto Mono"/>
                <a:ea typeface="Roboto Mono"/>
                <a:cs typeface="Roboto Mono"/>
                <a:sym typeface="Roboto Mono"/>
              </a:rPr>
              <a:t>SensorServer.java</a:t>
            </a:r>
            <a:endParaRPr b="1" sz="2100">
              <a:solidFill>
                <a:srgbClr val="188038"/>
              </a:solidFill>
              <a:latin typeface="Roboto Mono"/>
              <a:ea typeface="Roboto Mono"/>
              <a:cs typeface="Roboto Mono"/>
              <a:sym typeface="Roboto Mono"/>
            </a:endParaRPr>
          </a:p>
          <a:p>
            <a:pPr indent="0" lvl="0" marL="0" rtl="0" algn="l">
              <a:lnSpc>
                <a:spcPct val="115000"/>
              </a:lnSpc>
              <a:spcBef>
                <a:spcPts val="800"/>
              </a:spcBef>
              <a:spcAft>
                <a:spcPts val="0"/>
              </a:spcAft>
              <a:buClr>
                <a:schemeClr val="dk1"/>
              </a:buClr>
              <a:buSzPts val="700"/>
              <a:buFont typeface="Arial"/>
              <a:buNone/>
            </a:pPr>
            <a:r>
              <a:rPr lang="en-US" sz="1700">
                <a:solidFill>
                  <a:schemeClr val="dk1"/>
                </a:solidFill>
              </a:rPr>
              <a:t> </a:t>
            </a:r>
            <a:r>
              <a:rPr b="1" lang="en-US" sz="1700">
                <a:solidFill>
                  <a:schemeClr val="dk1"/>
                </a:solidFill>
              </a:rPr>
              <a:t>Server hoạt động như một trung tâm tiếp nhận dữ liệu từ các cảm biến.</a:t>
            </a:r>
            <a:endParaRPr b="1" sz="1700">
              <a:solidFill>
                <a:schemeClr val="dk1"/>
              </a:solidFill>
            </a:endParaRPr>
          </a:p>
          <a:p>
            <a:pPr indent="0" lvl="0" marL="0" rtl="0" algn="l">
              <a:lnSpc>
                <a:spcPct val="115000"/>
              </a:lnSpc>
              <a:spcBef>
                <a:spcPts val="900"/>
              </a:spcBef>
              <a:spcAft>
                <a:spcPts val="0"/>
              </a:spcAft>
              <a:buClr>
                <a:schemeClr val="dk1"/>
              </a:buClr>
              <a:buSzPts val="700"/>
              <a:buFont typeface="Arial"/>
              <a:buNone/>
            </a:pPr>
            <a:r>
              <a:rPr b="1" lang="en-US" sz="1800">
                <a:solidFill>
                  <a:schemeClr val="dk1"/>
                </a:solidFill>
              </a:rPr>
              <a:t>Cách hoạt động:</a:t>
            </a:r>
            <a:endParaRPr b="1" sz="1800">
              <a:solidFill>
                <a:schemeClr val="dk1"/>
              </a:solidFill>
            </a:endParaRPr>
          </a:p>
          <a:p>
            <a:pPr indent="-260350" lvl="0" marL="304800" rtl="0" algn="l">
              <a:lnSpc>
                <a:spcPct val="115000"/>
              </a:lnSpc>
              <a:spcBef>
                <a:spcPts val="800"/>
              </a:spcBef>
              <a:spcAft>
                <a:spcPts val="0"/>
              </a:spcAft>
              <a:buClr>
                <a:schemeClr val="dk1"/>
              </a:buClr>
              <a:buSzPts val="1700"/>
              <a:buChar char="●"/>
            </a:pPr>
            <a:r>
              <a:rPr b="1" lang="en-US" sz="1700">
                <a:solidFill>
                  <a:schemeClr val="dk1"/>
                </a:solidFill>
              </a:rPr>
              <a:t>Mở một ServerSocket trên cổng </a:t>
            </a:r>
            <a:r>
              <a:rPr b="1" lang="en-US" sz="1700">
                <a:solidFill>
                  <a:srgbClr val="188038"/>
                </a:solidFill>
                <a:latin typeface="Roboto Mono"/>
                <a:ea typeface="Roboto Mono"/>
                <a:cs typeface="Roboto Mono"/>
                <a:sym typeface="Roboto Mono"/>
              </a:rPr>
              <a:t>12345</a:t>
            </a:r>
            <a:r>
              <a:rPr lang="en-US" sz="1700">
                <a:solidFill>
                  <a:schemeClr val="dk1"/>
                </a:solidFill>
              </a:rPr>
              <a:t>.</a:t>
            </a:r>
            <a:endParaRPr sz="1700">
              <a:solidFill>
                <a:schemeClr val="dk1"/>
              </a:solidFill>
            </a:endParaRPr>
          </a:p>
          <a:p>
            <a:pPr indent="-260350" lvl="0" marL="304800" rtl="0" algn="l">
              <a:lnSpc>
                <a:spcPct val="115000"/>
              </a:lnSpc>
              <a:spcBef>
                <a:spcPts val="0"/>
              </a:spcBef>
              <a:spcAft>
                <a:spcPts val="0"/>
              </a:spcAft>
              <a:buClr>
                <a:schemeClr val="dk1"/>
              </a:buClr>
              <a:buSzPts val="1700"/>
              <a:buChar char="●"/>
            </a:pPr>
            <a:r>
              <a:rPr b="1" lang="en-US" sz="1700">
                <a:solidFill>
                  <a:schemeClr val="dk1"/>
                </a:solidFill>
              </a:rPr>
              <a:t>Chờ các cảm biến (clients) kết nối vào</a:t>
            </a:r>
            <a:r>
              <a:rPr lang="en-US" sz="1700">
                <a:solidFill>
                  <a:schemeClr val="dk1"/>
                </a:solidFill>
              </a:rPr>
              <a:t>.</a:t>
            </a:r>
            <a:endParaRPr sz="1700">
              <a:solidFill>
                <a:schemeClr val="dk1"/>
              </a:solidFill>
            </a:endParaRPr>
          </a:p>
          <a:p>
            <a:pPr indent="-260350" lvl="0" marL="304800" rtl="0" algn="l">
              <a:lnSpc>
                <a:spcPct val="115000"/>
              </a:lnSpc>
              <a:spcBef>
                <a:spcPts val="0"/>
              </a:spcBef>
              <a:spcAft>
                <a:spcPts val="0"/>
              </a:spcAft>
              <a:buClr>
                <a:schemeClr val="dk1"/>
              </a:buClr>
              <a:buSzPts val="1700"/>
              <a:buChar char="●"/>
            </a:pPr>
            <a:r>
              <a:rPr b="1" lang="en-US" sz="1700">
                <a:solidFill>
                  <a:schemeClr val="dk1"/>
                </a:solidFill>
              </a:rPr>
              <a:t>Khi có cảm biến kết nối, tạo một luồng mới để xử lý dữ liệu của cảm biến đó</a:t>
            </a:r>
            <a:r>
              <a:rPr lang="en-US" sz="1700">
                <a:solidFill>
                  <a:schemeClr val="dk1"/>
                </a:solidFill>
              </a:rPr>
              <a:t>.</a:t>
            </a:r>
            <a:endParaRPr sz="1700">
              <a:solidFill>
                <a:schemeClr val="dk1"/>
              </a:solidFill>
            </a:endParaRPr>
          </a:p>
          <a:p>
            <a:pPr indent="-260350" lvl="0" marL="304800" rtl="0" algn="l">
              <a:lnSpc>
                <a:spcPct val="115000"/>
              </a:lnSpc>
              <a:spcBef>
                <a:spcPts val="0"/>
              </a:spcBef>
              <a:spcAft>
                <a:spcPts val="0"/>
              </a:spcAft>
              <a:buClr>
                <a:schemeClr val="dk1"/>
              </a:buClr>
              <a:buSzPts val="1700"/>
              <a:buChar char="●"/>
            </a:pPr>
            <a:r>
              <a:rPr b="1" lang="en-US" sz="1700">
                <a:solidFill>
                  <a:schemeClr val="dk1"/>
                </a:solidFill>
              </a:rPr>
              <a:t>Nhận và in dữ liệu từ cảm biến</a:t>
            </a:r>
            <a:r>
              <a:rPr lang="en-US" sz="1700">
                <a:solidFill>
                  <a:schemeClr val="dk1"/>
                </a:solidFill>
              </a:rPr>
              <a:t>.</a:t>
            </a:r>
            <a:endParaRPr sz="1700">
              <a:solidFill>
                <a:schemeClr val="dk1"/>
              </a:solidFill>
            </a:endParaRPr>
          </a:p>
          <a:p>
            <a:pPr indent="-234950" lvl="0" marL="304800" rtl="0" algn="l">
              <a:lnSpc>
                <a:spcPct val="115000"/>
              </a:lnSpc>
              <a:spcBef>
                <a:spcPts val="0"/>
              </a:spcBef>
              <a:spcAft>
                <a:spcPts val="0"/>
              </a:spcAft>
              <a:buClr>
                <a:schemeClr val="dk1"/>
              </a:buClr>
              <a:buSzPts val="1300"/>
              <a:buChar char="●"/>
            </a:pPr>
            <a:r>
              <a:rPr b="1" lang="en-US" sz="1700">
                <a:solidFill>
                  <a:schemeClr val="dk1"/>
                </a:solidFill>
              </a:rPr>
              <a:t>Tiếp tục lắng nghe cảm biến khác mà không bị chặn</a:t>
            </a:r>
            <a:r>
              <a:rPr lang="en-US" sz="1700">
                <a:solidFill>
                  <a:schemeClr val="dk1"/>
                </a:solidFill>
              </a:rPr>
              <a:t>.</a:t>
            </a:r>
            <a:endParaRPr sz="1700">
              <a:solidFill>
                <a:schemeClr val="dk1"/>
              </a:solidFill>
            </a:endParaRPr>
          </a:p>
          <a:p>
            <a:pPr indent="0" lvl="0" marL="0" rtl="0" algn="l">
              <a:lnSpc>
                <a:spcPct val="115000"/>
              </a:lnSpc>
              <a:spcBef>
                <a:spcPts val="800"/>
              </a:spcBef>
              <a:spcAft>
                <a:spcPts val="0"/>
              </a:spcAft>
              <a:buNone/>
            </a:pPr>
            <a:r>
              <a:rPr b="1" lang="en-US" sz="2100">
                <a:solidFill>
                  <a:schemeClr val="dk1"/>
                </a:solidFill>
              </a:rPr>
              <a:t>Ý tưởng của </a:t>
            </a:r>
            <a:r>
              <a:rPr b="1" lang="en-US" sz="2100">
                <a:solidFill>
                  <a:srgbClr val="188038"/>
                </a:solidFill>
                <a:latin typeface="Roboto Mono"/>
                <a:ea typeface="Roboto Mono"/>
                <a:cs typeface="Roboto Mono"/>
                <a:sym typeface="Roboto Mono"/>
              </a:rPr>
              <a:t>SensorClient.java</a:t>
            </a:r>
            <a:endParaRPr b="1" sz="2100">
              <a:solidFill>
                <a:srgbClr val="188038"/>
              </a:solidFill>
              <a:latin typeface="Roboto Mono"/>
              <a:ea typeface="Roboto Mono"/>
              <a:cs typeface="Roboto Mono"/>
              <a:sym typeface="Roboto Mono"/>
            </a:endParaRPr>
          </a:p>
          <a:p>
            <a:pPr indent="0" lvl="0" marL="0" rtl="0" algn="l">
              <a:lnSpc>
                <a:spcPct val="115000"/>
              </a:lnSpc>
              <a:spcBef>
                <a:spcPts val="800"/>
              </a:spcBef>
              <a:spcAft>
                <a:spcPts val="0"/>
              </a:spcAft>
              <a:buClr>
                <a:schemeClr val="dk1"/>
              </a:buClr>
              <a:buSzPts val="700"/>
              <a:buFont typeface="Arial"/>
              <a:buNone/>
            </a:pPr>
            <a:r>
              <a:rPr b="1" lang="en-US" sz="1700">
                <a:solidFill>
                  <a:schemeClr val="dk1"/>
                </a:solidFill>
              </a:rPr>
              <a:t>Mô phỏng 4 cảm biến gửi dữ liệu đến server một cách độc lập.</a:t>
            </a:r>
            <a:endParaRPr b="1" sz="1700">
              <a:solidFill>
                <a:schemeClr val="dk1"/>
              </a:solidFill>
            </a:endParaRPr>
          </a:p>
          <a:p>
            <a:pPr indent="0" lvl="0" marL="0" rtl="0" algn="l">
              <a:lnSpc>
                <a:spcPct val="115000"/>
              </a:lnSpc>
              <a:spcBef>
                <a:spcPts val="900"/>
              </a:spcBef>
              <a:spcAft>
                <a:spcPts val="0"/>
              </a:spcAft>
              <a:buClr>
                <a:schemeClr val="dk1"/>
              </a:buClr>
              <a:buSzPts val="700"/>
              <a:buFont typeface="Arial"/>
              <a:buNone/>
            </a:pPr>
            <a:r>
              <a:rPr b="1" lang="en-US" sz="1800">
                <a:solidFill>
                  <a:schemeClr val="dk1"/>
                </a:solidFill>
              </a:rPr>
              <a:t>Cách hoạt động:</a:t>
            </a:r>
            <a:endParaRPr b="1" sz="1800">
              <a:solidFill>
                <a:schemeClr val="dk1"/>
              </a:solidFill>
            </a:endParaRPr>
          </a:p>
          <a:p>
            <a:pPr indent="-260350" lvl="0" marL="304800" rtl="0" algn="l">
              <a:lnSpc>
                <a:spcPct val="115000"/>
              </a:lnSpc>
              <a:spcBef>
                <a:spcPts val="800"/>
              </a:spcBef>
              <a:spcAft>
                <a:spcPts val="0"/>
              </a:spcAft>
              <a:buClr>
                <a:schemeClr val="dk1"/>
              </a:buClr>
              <a:buSzPts val="1700"/>
              <a:buAutoNum type="arabicPeriod"/>
            </a:pPr>
            <a:r>
              <a:rPr b="1" lang="en-US" sz="1700">
                <a:solidFill>
                  <a:schemeClr val="dk1"/>
                </a:solidFill>
              </a:rPr>
              <a:t>Tạo ra 4 cảm biến</a:t>
            </a:r>
            <a:r>
              <a:rPr lang="en-US" sz="1700">
                <a:solidFill>
                  <a:schemeClr val="dk1"/>
                </a:solidFill>
              </a:rPr>
              <a:t>: LM34 (nhiệt độ), MQ2 (khí gas), MQ135 (chất lượng không khí), BH170 (ánh sáng).</a:t>
            </a:r>
            <a:endParaRPr sz="1700">
              <a:solidFill>
                <a:schemeClr val="dk1"/>
              </a:solidFill>
            </a:endParaRPr>
          </a:p>
          <a:p>
            <a:pPr indent="-260350" lvl="0" marL="304800" rtl="0" algn="l">
              <a:lnSpc>
                <a:spcPct val="115000"/>
              </a:lnSpc>
              <a:spcBef>
                <a:spcPts val="0"/>
              </a:spcBef>
              <a:spcAft>
                <a:spcPts val="0"/>
              </a:spcAft>
              <a:buClr>
                <a:schemeClr val="dk1"/>
              </a:buClr>
              <a:buSzPts val="1700"/>
              <a:buAutoNum type="arabicPeriod"/>
            </a:pPr>
            <a:r>
              <a:rPr b="1" lang="en-US" sz="1700">
                <a:solidFill>
                  <a:schemeClr val="dk1"/>
                </a:solidFill>
              </a:rPr>
              <a:t>Mỗi cảm biến chạy trên một </a:t>
            </a:r>
            <a:r>
              <a:rPr b="1" lang="en-US" sz="1700">
                <a:solidFill>
                  <a:srgbClr val="188038"/>
                </a:solidFill>
                <a:latin typeface="Roboto Mono"/>
                <a:ea typeface="Roboto Mono"/>
                <a:cs typeface="Roboto Mono"/>
                <a:sym typeface="Roboto Mono"/>
              </a:rPr>
              <a:t>Thread</a:t>
            </a:r>
            <a:r>
              <a:rPr b="1" lang="en-US" sz="1700">
                <a:solidFill>
                  <a:schemeClr val="dk1"/>
                </a:solidFill>
              </a:rPr>
              <a:t> riêng</a:t>
            </a:r>
            <a:r>
              <a:rPr lang="en-US" sz="1700">
                <a:solidFill>
                  <a:schemeClr val="dk1"/>
                </a:solidFill>
              </a:rPr>
              <a:t>, tự động gửi dữ liệu đến server.</a:t>
            </a:r>
            <a:endParaRPr sz="1700">
              <a:solidFill>
                <a:schemeClr val="dk1"/>
              </a:solidFill>
            </a:endParaRPr>
          </a:p>
          <a:p>
            <a:pPr indent="-260350" lvl="0" marL="304800" rtl="0" algn="l">
              <a:lnSpc>
                <a:spcPct val="115000"/>
              </a:lnSpc>
              <a:spcBef>
                <a:spcPts val="0"/>
              </a:spcBef>
              <a:spcAft>
                <a:spcPts val="0"/>
              </a:spcAft>
              <a:buClr>
                <a:schemeClr val="dk1"/>
              </a:buClr>
              <a:buSzPts val="1700"/>
              <a:buAutoNum type="arabicPeriod"/>
            </a:pPr>
            <a:r>
              <a:rPr b="1" lang="en-US" sz="1700">
                <a:solidFill>
                  <a:schemeClr val="dk1"/>
                </a:solidFill>
              </a:rPr>
              <a:t>Mỗi 2 giây, cảm biến gửi một giá trị ngẫu nhiên</a:t>
            </a:r>
            <a:r>
              <a:rPr lang="en-US" sz="1700">
                <a:solidFill>
                  <a:schemeClr val="dk1"/>
                </a:solidFill>
              </a:rPr>
              <a:t>.</a:t>
            </a:r>
            <a:endParaRPr sz="1700">
              <a:solidFill>
                <a:schemeClr val="dk1"/>
              </a:solidFill>
            </a:endParaRPr>
          </a:p>
          <a:p>
            <a:pPr indent="-260350" lvl="0" marL="304800" rtl="0" algn="l">
              <a:lnSpc>
                <a:spcPct val="115000"/>
              </a:lnSpc>
              <a:spcBef>
                <a:spcPts val="0"/>
              </a:spcBef>
              <a:spcAft>
                <a:spcPts val="0"/>
              </a:spcAft>
              <a:buClr>
                <a:schemeClr val="dk1"/>
              </a:buClr>
              <a:buSzPts val="1700"/>
              <a:buAutoNum type="arabicPeriod"/>
            </a:pPr>
            <a:r>
              <a:rPr b="1" lang="en-US" sz="1700">
                <a:solidFill>
                  <a:schemeClr val="dk1"/>
                </a:solidFill>
              </a:rPr>
              <a:t>Sau 5 lần gửi, cảm biến tự động đóng kết nối</a:t>
            </a:r>
            <a:r>
              <a:rPr lang="en-US" sz="1700">
                <a:solidFill>
                  <a:schemeClr val="dk1"/>
                </a:solidFill>
              </a:rPr>
              <a:t>.</a:t>
            </a:r>
            <a:endParaRPr sz="1700">
              <a:solidFill>
                <a:schemeClr val="dk1"/>
              </a:solidFill>
            </a:endParaRPr>
          </a:p>
          <a:p>
            <a:pPr indent="0" lvl="0" marL="0" rtl="0" algn="l">
              <a:spcBef>
                <a:spcPts val="800"/>
              </a:spcBef>
              <a:spcAft>
                <a:spcPts val="0"/>
              </a:spcAft>
              <a:buNone/>
            </a:pPr>
            <a:r>
              <a:t/>
            </a:r>
            <a:endParaRPr sz="3100">
              <a:solidFill>
                <a:schemeClr val="dk1"/>
              </a:solidFill>
              <a:latin typeface="Calibri"/>
              <a:ea typeface="Calibri"/>
              <a:cs typeface="Calibri"/>
              <a:sym typeface="Calibri"/>
            </a:endParaRPr>
          </a:p>
        </p:txBody>
      </p:sp>
      <p:sp>
        <p:nvSpPr>
          <p:cNvPr id="491" name="Google Shape;491;p5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495" name="Shape 495"/>
        <p:cNvGrpSpPr/>
        <p:nvPr/>
      </p:nvGrpSpPr>
      <p:grpSpPr>
        <a:xfrm>
          <a:off x="0" y="0"/>
          <a:ext cx="0" cy="0"/>
          <a:chOff x="0" y="0"/>
          <a:chExt cx="0" cy="0"/>
        </a:xfrm>
      </p:grpSpPr>
      <p:sp>
        <p:nvSpPr>
          <p:cNvPr id="496" name="Google Shape;496;p60"/>
          <p:cNvSpPr txBox="1"/>
          <p:nvPr/>
        </p:nvSpPr>
        <p:spPr>
          <a:xfrm>
            <a:off x="10215283" y="101933"/>
            <a:ext cx="3260100" cy="3849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b="1" lang="en-US" sz="2100">
                <a:solidFill>
                  <a:srgbClr val="081B3A"/>
                </a:solidFill>
              </a:rPr>
              <a:t>Server</a:t>
            </a:r>
            <a:endParaRPr b="1" sz="3500">
              <a:solidFill>
                <a:schemeClr val="dk1"/>
              </a:solidFill>
            </a:endParaRPr>
          </a:p>
        </p:txBody>
      </p:sp>
      <p:sp>
        <p:nvSpPr>
          <p:cNvPr id="497" name="Google Shape;497;p60"/>
          <p:cNvSpPr txBox="1"/>
          <p:nvPr/>
        </p:nvSpPr>
        <p:spPr>
          <a:xfrm>
            <a:off x="476517" y="0"/>
            <a:ext cx="9138000" cy="7023300"/>
          </a:xfrm>
          <a:prstGeom prst="rect">
            <a:avLst/>
          </a:prstGeom>
          <a:noFill/>
          <a:ln>
            <a:noFill/>
          </a:ln>
        </p:spPr>
        <p:txBody>
          <a:bodyPr anchorCtr="0" anchor="t" bIns="60950" lIns="60950" spcFirstLastPara="1" rIns="60950" wrap="square" tIns="60950">
            <a:spAutoFit/>
          </a:bodyPr>
          <a:lstStyle/>
          <a:p>
            <a:pPr indent="0" lvl="0" marL="0" rtl="0" algn="l">
              <a:lnSpc>
                <a:spcPct val="135714"/>
              </a:lnSpc>
              <a:spcBef>
                <a:spcPts val="0"/>
              </a:spcBef>
              <a:spcAft>
                <a:spcPts val="0"/>
              </a:spcAft>
              <a:buClr>
                <a:schemeClr val="dk1"/>
              </a:buClr>
              <a:buSzPts val="700"/>
              <a:buFont typeface="Arial"/>
              <a:buNone/>
            </a:pPr>
            <a:r>
              <a:rPr b="1" lang="en-US" sz="1000">
                <a:solidFill>
                  <a:srgbClr val="0000FF"/>
                </a:solidFill>
                <a:latin typeface="Courier New"/>
                <a:ea typeface="Courier New"/>
                <a:cs typeface="Courier New"/>
                <a:sym typeface="Courier New"/>
              </a:rPr>
              <a:t>import</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java</a:t>
            </a:r>
            <a:r>
              <a:rPr b="1" lang="en-US" sz="1000">
                <a:solidFill>
                  <a:schemeClr val="dk1"/>
                </a:solidFill>
                <a:latin typeface="Courier New"/>
                <a:ea typeface="Courier New"/>
                <a:cs typeface="Courier New"/>
                <a:sym typeface="Courier New"/>
              </a:rPr>
              <a:t>.</a:t>
            </a:r>
            <a:r>
              <a:rPr b="1" lang="en-US" sz="1000">
                <a:solidFill>
                  <a:srgbClr val="267F99"/>
                </a:solidFill>
                <a:latin typeface="Courier New"/>
                <a:ea typeface="Courier New"/>
                <a:cs typeface="Courier New"/>
                <a:sym typeface="Courier New"/>
              </a:rPr>
              <a:t>io</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0000FF"/>
                </a:solidFill>
                <a:latin typeface="Courier New"/>
                <a:ea typeface="Courier New"/>
                <a:cs typeface="Courier New"/>
                <a:sym typeface="Courier New"/>
              </a:rPr>
              <a:t>import</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java</a:t>
            </a:r>
            <a:r>
              <a:rPr b="1" lang="en-US" sz="1000">
                <a:solidFill>
                  <a:schemeClr val="dk1"/>
                </a:solidFill>
                <a:latin typeface="Courier New"/>
                <a:ea typeface="Courier New"/>
                <a:cs typeface="Courier New"/>
                <a:sym typeface="Courier New"/>
              </a:rPr>
              <a:t>.</a:t>
            </a:r>
            <a:r>
              <a:rPr b="1" lang="en-US" sz="1000">
                <a:solidFill>
                  <a:srgbClr val="267F99"/>
                </a:solidFill>
                <a:latin typeface="Courier New"/>
                <a:ea typeface="Courier New"/>
                <a:cs typeface="Courier New"/>
                <a:sym typeface="Courier New"/>
              </a:rPr>
              <a:t>net</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0000FF"/>
                </a:solidFill>
                <a:latin typeface="Courier New"/>
                <a:ea typeface="Courier New"/>
                <a:cs typeface="Courier New"/>
                <a:sym typeface="Courier New"/>
              </a:rPr>
              <a:t>public</a:t>
            </a: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class</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SensorServer</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public</a:t>
            </a: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static</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void</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main</a:t>
            </a:r>
            <a:r>
              <a:rPr b="1" lang="en-US" sz="1000">
                <a:solidFill>
                  <a:srgbClr val="3B3B3B"/>
                </a:solidFill>
                <a:latin typeface="Courier New"/>
                <a:ea typeface="Courier New"/>
                <a:cs typeface="Courier New"/>
                <a:sym typeface="Courier New"/>
              </a:rPr>
              <a:t>(</a:t>
            </a:r>
            <a:r>
              <a:rPr b="1" lang="en-US" sz="1000">
                <a:solidFill>
                  <a:srgbClr val="267F99"/>
                </a:solidFill>
                <a:latin typeface="Courier New"/>
                <a:ea typeface="Courier New"/>
                <a:cs typeface="Courier New"/>
                <a:sym typeface="Courier New"/>
              </a:rPr>
              <a:t>String</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args</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int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port</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98658"/>
                </a:solidFill>
                <a:latin typeface="Courier New"/>
                <a:ea typeface="Courier New"/>
                <a:cs typeface="Courier New"/>
                <a:sym typeface="Courier New"/>
              </a:rPr>
              <a:t>12345</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try</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ServerSocket</a:t>
            </a:r>
            <a:r>
              <a:rPr b="1" lang="en-US" sz="1000">
                <a:solidFill>
                  <a:srgbClr val="3B3B3B"/>
                </a:solidFill>
                <a:latin typeface="Courier New"/>
                <a:ea typeface="Courier New"/>
                <a:cs typeface="Courier New"/>
                <a:sym typeface="Courier New"/>
              </a:rPr>
              <a:t> </a:t>
            </a:r>
            <a:r>
              <a:rPr b="1" lang="en-US" sz="1000">
                <a:solidFill>
                  <a:srgbClr val="0070C1"/>
                </a:solidFill>
                <a:latin typeface="Courier New"/>
                <a:ea typeface="Courier New"/>
                <a:cs typeface="Courier New"/>
                <a:sym typeface="Courier New"/>
              </a:rPr>
              <a:t>serverSocket</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new</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ServerSocket</a:t>
            </a:r>
            <a:r>
              <a:rPr b="1" lang="en-US" sz="1000">
                <a:solidFill>
                  <a:srgbClr val="3B3B3B"/>
                </a:solidFill>
                <a:latin typeface="Courier New"/>
                <a:ea typeface="Courier New"/>
                <a:cs typeface="Courier New"/>
                <a:sym typeface="Courier New"/>
              </a:rPr>
              <a:t>(</a:t>
            </a:r>
            <a:r>
              <a:rPr b="1" lang="en-US" sz="1000">
                <a:solidFill>
                  <a:srgbClr val="001080"/>
                </a:solidFill>
                <a:latin typeface="Courier New"/>
                <a:ea typeface="Courier New"/>
                <a:cs typeface="Courier New"/>
                <a:sym typeface="Courier New"/>
              </a:rPr>
              <a:t>port</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System</a:t>
            </a:r>
            <a:r>
              <a:rPr b="1" lang="en-US" sz="1000">
                <a:solidFill>
                  <a:srgbClr val="3B3B3B"/>
                </a:solidFill>
                <a:latin typeface="Courier New"/>
                <a:ea typeface="Courier New"/>
                <a:cs typeface="Courier New"/>
                <a:sym typeface="Courier New"/>
              </a:rPr>
              <a:t>.</a:t>
            </a:r>
            <a:r>
              <a:rPr b="1" lang="en-US" sz="1000">
                <a:solidFill>
                  <a:srgbClr val="0070C1"/>
                </a:solidFill>
                <a:latin typeface="Courier New"/>
                <a:ea typeface="Courier New"/>
                <a:cs typeface="Courier New"/>
                <a:sym typeface="Courier New"/>
              </a:rPr>
              <a:t>out</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println</a:t>
            </a:r>
            <a:r>
              <a:rPr b="1" lang="en-US" sz="1000">
                <a:solidFill>
                  <a:srgbClr val="3B3B3B"/>
                </a:solidFill>
                <a:latin typeface="Courier New"/>
                <a:ea typeface="Courier New"/>
                <a:cs typeface="Courier New"/>
                <a:sym typeface="Courier New"/>
              </a:rPr>
              <a:t>(</a:t>
            </a:r>
            <a:r>
              <a:rPr b="1" lang="en-US" sz="1000">
                <a:solidFill>
                  <a:srgbClr val="A31515"/>
                </a:solidFill>
                <a:latin typeface="Courier New"/>
                <a:ea typeface="Courier New"/>
                <a:cs typeface="Courier New"/>
                <a:sym typeface="Courier New"/>
              </a:rPr>
              <a:t>" Server dang cho ket noi tren cong "</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port</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31515"/>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while</a:t>
            </a: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true</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Socket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clientSocket</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070C1"/>
                </a:solidFill>
                <a:latin typeface="Courier New"/>
                <a:ea typeface="Courier New"/>
                <a:cs typeface="Courier New"/>
                <a:sym typeface="Courier New"/>
              </a:rPr>
              <a:t>serverSocket</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accept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System</a:t>
            </a:r>
            <a:r>
              <a:rPr b="1" lang="en-US" sz="1000">
                <a:solidFill>
                  <a:srgbClr val="3B3B3B"/>
                </a:solidFill>
                <a:latin typeface="Courier New"/>
                <a:ea typeface="Courier New"/>
                <a:cs typeface="Courier New"/>
                <a:sym typeface="Courier New"/>
              </a:rPr>
              <a:t>.</a:t>
            </a:r>
            <a:r>
              <a:rPr b="1" lang="en-US" sz="1000">
                <a:solidFill>
                  <a:srgbClr val="0070C1"/>
                </a:solidFill>
                <a:latin typeface="Courier New"/>
                <a:ea typeface="Courier New"/>
                <a:cs typeface="Courier New"/>
                <a:sym typeface="Courier New"/>
              </a:rPr>
              <a:t>out</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println</a:t>
            </a:r>
            <a:r>
              <a:rPr b="1" lang="en-US" sz="1000">
                <a:solidFill>
                  <a:srgbClr val="3B3B3B"/>
                </a:solidFill>
                <a:latin typeface="Courier New"/>
                <a:ea typeface="Courier New"/>
                <a:cs typeface="Courier New"/>
                <a:sym typeface="Courier New"/>
              </a:rPr>
              <a:t>(</a:t>
            </a:r>
            <a:r>
              <a:rPr b="1" lang="en-US" sz="1000">
                <a:solidFill>
                  <a:srgbClr val="A31515"/>
                </a:solidFill>
                <a:latin typeface="Courier New"/>
                <a:ea typeface="Courier New"/>
                <a:cs typeface="Courier New"/>
                <a:sym typeface="Courier New"/>
              </a:rPr>
              <a:t>" Sensor ket noi: "</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clientSocket</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getInetAddress</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8000"/>
                </a:solidFill>
                <a:latin typeface="Courier New"/>
                <a:ea typeface="Courier New"/>
                <a:cs typeface="Courier New"/>
                <a:sym typeface="Courier New"/>
              </a:rPr>
              <a:t>// Xử lý Client trong một thread riêng</a:t>
            </a:r>
            <a:endParaRPr b="1" sz="10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new</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Thread</a:t>
            </a: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-&gt;</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try</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BufferedReader</a:t>
            </a:r>
            <a:r>
              <a:rPr b="1" lang="en-US" sz="1000">
                <a:solidFill>
                  <a:srgbClr val="3B3B3B"/>
                </a:solidFill>
                <a:latin typeface="Courier New"/>
                <a:ea typeface="Courier New"/>
                <a:cs typeface="Courier New"/>
                <a:sym typeface="Courier New"/>
              </a:rPr>
              <a:t> </a:t>
            </a:r>
            <a:r>
              <a:rPr b="1" lang="en-US" sz="1000">
                <a:solidFill>
                  <a:srgbClr val="0070C1"/>
                </a:solidFill>
                <a:latin typeface="Courier New"/>
                <a:ea typeface="Courier New"/>
                <a:cs typeface="Courier New"/>
                <a:sym typeface="Courier New"/>
              </a:rPr>
              <a:t>in</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new</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BufferedReader</a:t>
            </a:r>
            <a:r>
              <a:rPr b="1" lang="en-US" sz="1000">
                <a:solidFill>
                  <a:srgbClr val="3B3B3B"/>
                </a:solidFill>
                <a:latin typeface="Courier New"/>
                <a:ea typeface="Courier New"/>
                <a:cs typeface="Courier New"/>
                <a:sym typeface="Courier New"/>
              </a:rPr>
              <a:t>(</a:t>
            </a:r>
            <a:r>
              <a:rPr b="1" lang="en-US" sz="1000">
                <a:solidFill>
                  <a:srgbClr val="AF00DB"/>
                </a:solidFill>
                <a:latin typeface="Courier New"/>
                <a:ea typeface="Courier New"/>
                <a:cs typeface="Courier New"/>
                <a:sym typeface="Courier New"/>
              </a:rPr>
              <a:t>new</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InputStreamReader</a:t>
            </a:r>
            <a:r>
              <a:rPr b="1" lang="en-US" sz="1000">
                <a:solidFill>
                  <a:srgbClr val="3B3B3B"/>
                </a:solidFill>
                <a:latin typeface="Courier New"/>
                <a:ea typeface="Courier New"/>
                <a:cs typeface="Courier New"/>
                <a:sym typeface="Courier New"/>
              </a:rPr>
              <a:t>(</a:t>
            </a:r>
            <a:r>
              <a:rPr b="1" lang="en-US" sz="1000">
                <a:solidFill>
                  <a:srgbClr val="001080"/>
                </a:solidFill>
                <a:latin typeface="Courier New"/>
                <a:ea typeface="Courier New"/>
                <a:cs typeface="Courier New"/>
                <a:sym typeface="Courier New"/>
              </a:rPr>
              <a:t>clientSocket</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getInputStream</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String</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input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while</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input</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070C1"/>
                </a:solidFill>
                <a:latin typeface="Courier New"/>
                <a:ea typeface="Courier New"/>
                <a:cs typeface="Courier New"/>
                <a:sym typeface="Courier New"/>
              </a:rPr>
              <a:t>in</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readLine</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null</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System</a:t>
            </a:r>
            <a:r>
              <a:rPr b="1" lang="en-US" sz="1000">
                <a:solidFill>
                  <a:srgbClr val="3B3B3B"/>
                </a:solidFill>
                <a:latin typeface="Courier New"/>
                <a:ea typeface="Courier New"/>
                <a:cs typeface="Courier New"/>
                <a:sym typeface="Courier New"/>
              </a:rPr>
              <a:t>.</a:t>
            </a:r>
            <a:r>
              <a:rPr b="1" lang="en-US" sz="1000">
                <a:solidFill>
                  <a:srgbClr val="0070C1"/>
                </a:solidFill>
                <a:latin typeface="Courier New"/>
                <a:ea typeface="Courier New"/>
                <a:cs typeface="Courier New"/>
                <a:sym typeface="Courier New"/>
              </a:rPr>
              <a:t>out</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println</a:t>
            </a:r>
            <a:r>
              <a:rPr b="1" lang="en-US" sz="1000">
                <a:solidFill>
                  <a:srgbClr val="3B3B3B"/>
                </a:solidFill>
                <a:latin typeface="Courier New"/>
                <a:ea typeface="Courier New"/>
                <a:cs typeface="Courier New"/>
                <a:sym typeface="Courier New"/>
              </a:rPr>
              <a:t>(</a:t>
            </a:r>
            <a:r>
              <a:rPr b="1" lang="en-US" sz="1000">
                <a:solidFill>
                  <a:srgbClr val="A31515"/>
                </a:solidFill>
                <a:latin typeface="Courier New"/>
                <a:ea typeface="Courier New"/>
                <a:cs typeface="Courier New"/>
                <a:sym typeface="Courier New"/>
              </a:rPr>
              <a:t>" Nhan du lieu tu Sensor: "</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input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 </a:t>
            </a:r>
            <a:r>
              <a:rPr b="1" lang="en-US" sz="1000">
                <a:solidFill>
                  <a:srgbClr val="AF00DB"/>
                </a:solidFill>
                <a:latin typeface="Courier New"/>
                <a:ea typeface="Courier New"/>
                <a:cs typeface="Courier New"/>
                <a:sym typeface="Courier New"/>
              </a:rPr>
              <a:t>catch</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IOException</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e</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e</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printStackTrace</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start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 </a:t>
            </a:r>
            <a:r>
              <a:rPr b="1" lang="en-US" sz="1000">
                <a:solidFill>
                  <a:srgbClr val="AF00DB"/>
                </a:solidFill>
                <a:latin typeface="Courier New"/>
                <a:ea typeface="Courier New"/>
                <a:cs typeface="Courier New"/>
                <a:sym typeface="Courier New"/>
              </a:rPr>
              <a:t>catch</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IOException</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e</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e</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printStackTrace</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400">
              <a:solidFill>
                <a:srgbClr val="F286C4"/>
              </a:solidFill>
              <a:latin typeface="Calibri"/>
              <a:ea typeface="Calibri"/>
              <a:cs typeface="Calibri"/>
              <a:sym typeface="Calibri"/>
            </a:endParaRPr>
          </a:p>
        </p:txBody>
      </p:sp>
      <p:sp>
        <p:nvSpPr>
          <p:cNvPr id="498" name="Google Shape;498;p6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02" name="Shape 502"/>
        <p:cNvGrpSpPr/>
        <p:nvPr/>
      </p:nvGrpSpPr>
      <p:grpSpPr>
        <a:xfrm>
          <a:off x="0" y="0"/>
          <a:ext cx="0" cy="0"/>
          <a:chOff x="0" y="0"/>
          <a:chExt cx="0" cy="0"/>
        </a:xfrm>
      </p:grpSpPr>
      <p:sp>
        <p:nvSpPr>
          <p:cNvPr id="503" name="Google Shape;503;p61"/>
          <p:cNvSpPr txBox="1"/>
          <p:nvPr/>
        </p:nvSpPr>
        <p:spPr>
          <a:xfrm>
            <a:off x="10275050" y="108550"/>
            <a:ext cx="1526700" cy="3849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rPr lang="en-US" sz="2100">
                <a:solidFill>
                  <a:schemeClr val="dk1"/>
                </a:solidFill>
              </a:rPr>
              <a:t>Client</a:t>
            </a:r>
            <a:endParaRPr sz="2100">
              <a:solidFill>
                <a:schemeClr val="dk1"/>
              </a:solidFill>
              <a:latin typeface="Calibri"/>
              <a:ea typeface="Calibri"/>
              <a:cs typeface="Calibri"/>
              <a:sym typeface="Calibri"/>
            </a:endParaRPr>
          </a:p>
        </p:txBody>
      </p:sp>
      <p:sp>
        <p:nvSpPr>
          <p:cNvPr id="504" name="Google Shape;504;p61"/>
          <p:cNvSpPr txBox="1"/>
          <p:nvPr/>
        </p:nvSpPr>
        <p:spPr>
          <a:xfrm>
            <a:off x="0" y="0"/>
            <a:ext cx="5735700" cy="6814500"/>
          </a:xfrm>
          <a:prstGeom prst="rect">
            <a:avLst/>
          </a:prstGeom>
          <a:noFill/>
          <a:ln>
            <a:noFill/>
          </a:ln>
        </p:spPr>
        <p:txBody>
          <a:bodyPr anchorCtr="0" anchor="t" bIns="60950" lIns="60950" spcFirstLastPara="1" rIns="60950" wrap="square" tIns="60950">
            <a:spAutoFit/>
          </a:bodyPr>
          <a:lstStyle/>
          <a:p>
            <a:pPr indent="0" lvl="0" marL="0" rtl="0" algn="l">
              <a:lnSpc>
                <a:spcPct val="135714"/>
              </a:lnSpc>
              <a:spcBef>
                <a:spcPts val="0"/>
              </a:spcBef>
              <a:spcAft>
                <a:spcPts val="0"/>
              </a:spcAft>
              <a:buClr>
                <a:schemeClr val="dk1"/>
              </a:buClr>
              <a:buSzPts val="700"/>
              <a:buFont typeface="Arial"/>
              <a:buNone/>
            </a:pPr>
            <a:r>
              <a:rPr b="1" lang="en-US" sz="1000">
                <a:solidFill>
                  <a:srgbClr val="0000FF"/>
                </a:solidFill>
                <a:latin typeface="Courier New"/>
                <a:ea typeface="Courier New"/>
                <a:cs typeface="Courier New"/>
                <a:sym typeface="Courier New"/>
              </a:rPr>
              <a:t>import</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java</a:t>
            </a:r>
            <a:r>
              <a:rPr b="1" lang="en-US" sz="1000">
                <a:solidFill>
                  <a:schemeClr val="dk1"/>
                </a:solidFill>
                <a:latin typeface="Courier New"/>
                <a:ea typeface="Courier New"/>
                <a:cs typeface="Courier New"/>
                <a:sym typeface="Courier New"/>
              </a:rPr>
              <a:t>.</a:t>
            </a:r>
            <a:r>
              <a:rPr b="1" lang="en-US" sz="1000">
                <a:solidFill>
                  <a:srgbClr val="267F99"/>
                </a:solidFill>
                <a:latin typeface="Courier New"/>
                <a:ea typeface="Courier New"/>
                <a:cs typeface="Courier New"/>
                <a:sym typeface="Courier New"/>
              </a:rPr>
              <a:t>io</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0000FF"/>
                </a:solidFill>
                <a:latin typeface="Courier New"/>
                <a:ea typeface="Courier New"/>
                <a:cs typeface="Courier New"/>
                <a:sym typeface="Courier New"/>
              </a:rPr>
              <a:t>import</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java</a:t>
            </a:r>
            <a:r>
              <a:rPr b="1" lang="en-US" sz="1000">
                <a:solidFill>
                  <a:schemeClr val="dk1"/>
                </a:solidFill>
                <a:latin typeface="Courier New"/>
                <a:ea typeface="Courier New"/>
                <a:cs typeface="Courier New"/>
                <a:sym typeface="Courier New"/>
              </a:rPr>
              <a:t>.</a:t>
            </a:r>
            <a:r>
              <a:rPr b="1" lang="en-US" sz="1000">
                <a:solidFill>
                  <a:srgbClr val="267F99"/>
                </a:solidFill>
                <a:latin typeface="Courier New"/>
                <a:ea typeface="Courier New"/>
                <a:cs typeface="Courier New"/>
                <a:sym typeface="Courier New"/>
              </a:rPr>
              <a:t>net</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0000FF"/>
                </a:solidFill>
                <a:latin typeface="Courier New"/>
                <a:ea typeface="Courier New"/>
                <a:cs typeface="Courier New"/>
                <a:sym typeface="Courier New"/>
              </a:rPr>
              <a:t>import</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java</a:t>
            </a:r>
            <a:r>
              <a:rPr b="1" lang="en-US" sz="1000">
                <a:solidFill>
                  <a:schemeClr val="dk1"/>
                </a:solidFill>
                <a:latin typeface="Courier New"/>
                <a:ea typeface="Courier New"/>
                <a:cs typeface="Courier New"/>
                <a:sym typeface="Courier New"/>
              </a:rPr>
              <a:t>.</a:t>
            </a:r>
            <a:r>
              <a:rPr b="1" lang="en-US" sz="1000">
                <a:solidFill>
                  <a:srgbClr val="267F99"/>
                </a:solidFill>
                <a:latin typeface="Courier New"/>
                <a:ea typeface="Courier New"/>
                <a:cs typeface="Courier New"/>
                <a:sym typeface="Courier New"/>
              </a:rPr>
              <a:t>util</a:t>
            </a:r>
            <a:r>
              <a:rPr b="1" lang="en-US" sz="1000">
                <a:solidFill>
                  <a:schemeClr val="dk1"/>
                </a:solidFill>
                <a:latin typeface="Courier New"/>
                <a:ea typeface="Courier New"/>
                <a:cs typeface="Courier New"/>
                <a:sym typeface="Courier New"/>
              </a:rPr>
              <a:t>.</a:t>
            </a:r>
            <a:r>
              <a:rPr b="1" lang="en-US" sz="1000">
                <a:solidFill>
                  <a:srgbClr val="267F99"/>
                </a:solidFill>
                <a:latin typeface="Courier New"/>
                <a:ea typeface="Courier New"/>
                <a:cs typeface="Courier New"/>
                <a:sym typeface="Courier New"/>
              </a:rPr>
              <a:t>Random</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0000FF"/>
                </a:solidFill>
                <a:latin typeface="Courier New"/>
                <a:ea typeface="Courier New"/>
                <a:cs typeface="Courier New"/>
                <a:sym typeface="Courier New"/>
              </a:rPr>
              <a:t>class</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SensorThread</a:t>
            </a: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extends</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Thread</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private</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String</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sensorName</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private</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Socket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socket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private</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PrintWriter</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out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public</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SensorThread</a:t>
            </a:r>
            <a:r>
              <a:rPr b="1" lang="en-US" sz="1000">
                <a:solidFill>
                  <a:srgbClr val="3B3B3B"/>
                </a:solidFill>
                <a:latin typeface="Courier New"/>
                <a:ea typeface="Courier New"/>
                <a:cs typeface="Courier New"/>
                <a:sym typeface="Courier New"/>
              </a:rPr>
              <a:t>(</a:t>
            </a:r>
            <a:r>
              <a:rPr b="1" lang="en-US" sz="1000">
                <a:solidFill>
                  <a:srgbClr val="267F99"/>
                </a:solidFill>
                <a:latin typeface="Courier New"/>
                <a:ea typeface="Courier New"/>
                <a:cs typeface="Courier New"/>
                <a:sym typeface="Courier New"/>
              </a:rPr>
              <a:t>String</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sensorName</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String</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serverAddress</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int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serverPort</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this</a:t>
            </a:r>
            <a:r>
              <a:rPr b="1" lang="en-US" sz="1000">
                <a:solidFill>
                  <a:srgbClr val="3B3B3B"/>
                </a:solidFill>
                <a:latin typeface="Courier New"/>
                <a:ea typeface="Courier New"/>
                <a:cs typeface="Courier New"/>
                <a:sym typeface="Courier New"/>
              </a:rPr>
              <a:t>.</a:t>
            </a:r>
            <a:r>
              <a:rPr b="1" lang="en-US" sz="1000">
                <a:solidFill>
                  <a:srgbClr val="001080"/>
                </a:solidFill>
                <a:latin typeface="Courier New"/>
                <a:ea typeface="Courier New"/>
                <a:cs typeface="Courier New"/>
                <a:sym typeface="Courier New"/>
              </a:rPr>
              <a:t>sensorName</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sensorName</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try</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socket</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new</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Socket</a:t>
            </a:r>
            <a:r>
              <a:rPr b="1" lang="en-US" sz="1000">
                <a:solidFill>
                  <a:srgbClr val="3B3B3B"/>
                </a:solidFill>
                <a:latin typeface="Courier New"/>
                <a:ea typeface="Courier New"/>
                <a:cs typeface="Courier New"/>
                <a:sym typeface="Courier New"/>
              </a:rPr>
              <a:t>(</a:t>
            </a:r>
            <a:r>
              <a:rPr b="1" lang="en-US" sz="1000">
                <a:solidFill>
                  <a:srgbClr val="001080"/>
                </a:solidFill>
                <a:latin typeface="Courier New"/>
                <a:ea typeface="Courier New"/>
                <a:cs typeface="Courier New"/>
                <a:sym typeface="Courier New"/>
              </a:rPr>
              <a:t>serverAddress</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serverPort</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out</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new</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PrintWriter</a:t>
            </a:r>
            <a:r>
              <a:rPr b="1" lang="en-US" sz="1000">
                <a:solidFill>
                  <a:srgbClr val="3B3B3B"/>
                </a:solidFill>
                <a:latin typeface="Courier New"/>
                <a:ea typeface="Courier New"/>
                <a:cs typeface="Courier New"/>
                <a:sym typeface="Courier New"/>
              </a:rPr>
              <a:t>(</a:t>
            </a:r>
            <a:r>
              <a:rPr b="1" lang="en-US" sz="1000">
                <a:solidFill>
                  <a:srgbClr val="001080"/>
                </a:solidFill>
                <a:latin typeface="Courier New"/>
                <a:ea typeface="Courier New"/>
                <a:cs typeface="Courier New"/>
                <a:sym typeface="Courier New"/>
              </a:rPr>
              <a:t>socket</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getOutputStream</a:t>
            </a: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true</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 </a:t>
            </a:r>
            <a:r>
              <a:rPr b="1" lang="en-US" sz="1000">
                <a:solidFill>
                  <a:srgbClr val="AF00DB"/>
                </a:solidFill>
                <a:latin typeface="Courier New"/>
                <a:ea typeface="Courier New"/>
                <a:cs typeface="Courier New"/>
                <a:sym typeface="Courier New"/>
              </a:rPr>
              <a:t>catch</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IOException</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e</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System</a:t>
            </a:r>
            <a:r>
              <a:rPr b="1" lang="en-US" sz="1000">
                <a:solidFill>
                  <a:srgbClr val="3B3B3B"/>
                </a:solidFill>
                <a:latin typeface="Courier New"/>
                <a:ea typeface="Courier New"/>
                <a:cs typeface="Courier New"/>
                <a:sym typeface="Courier New"/>
              </a:rPr>
              <a:t>.</a:t>
            </a:r>
            <a:r>
              <a:rPr b="1" lang="en-US" sz="1000">
                <a:solidFill>
                  <a:srgbClr val="0070C1"/>
                </a:solidFill>
                <a:latin typeface="Courier New"/>
                <a:ea typeface="Courier New"/>
                <a:cs typeface="Courier New"/>
                <a:sym typeface="Courier New"/>
              </a:rPr>
              <a:t>out</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println</a:t>
            </a:r>
            <a:r>
              <a:rPr b="1" lang="en-US" sz="1000">
                <a:solidFill>
                  <a:srgbClr val="3B3B3B"/>
                </a:solidFill>
                <a:latin typeface="Courier New"/>
                <a:ea typeface="Courier New"/>
                <a:cs typeface="Courier New"/>
                <a:sym typeface="Courier New"/>
              </a:rPr>
              <a:t>(</a:t>
            </a:r>
            <a:r>
              <a:rPr b="1" lang="en-US" sz="1000">
                <a:solidFill>
                  <a:srgbClr val="A31515"/>
                </a:solidFill>
                <a:latin typeface="Courier New"/>
                <a:ea typeface="Courier New"/>
                <a:cs typeface="Courier New"/>
                <a:sym typeface="Courier New"/>
              </a:rPr>
              <a:t>"Khong the ket noi den Server "</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sensorName</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0000FF"/>
                </a:solidFill>
                <a:latin typeface="Courier New"/>
                <a:ea typeface="Courier New"/>
                <a:cs typeface="Courier New"/>
                <a:sym typeface="Courier New"/>
              </a:rPr>
              <a:t>private</a:t>
            </a: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int</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getRandomValue</a:t>
            </a:r>
            <a:r>
              <a:rPr b="1" lang="en-US" sz="1000">
                <a:solidFill>
                  <a:srgbClr val="3B3B3B"/>
                </a:solidFill>
                <a:latin typeface="Courier New"/>
                <a:ea typeface="Courier New"/>
                <a:cs typeface="Courier New"/>
                <a:sym typeface="Courier New"/>
              </a:rPr>
              <a:t>(</a:t>
            </a:r>
            <a:r>
              <a:rPr b="1" lang="en-US" sz="1000">
                <a:solidFill>
                  <a:srgbClr val="267F99"/>
                </a:solidFill>
                <a:latin typeface="Courier New"/>
                <a:ea typeface="Courier New"/>
                <a:cs typeface="Courier New"/>
                <a:sym typeface="Courier New"/>
              </a:rPr>
              <a:t>String</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sensor</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267F99"/>
                </a:solidFill>
                <a:latin typeface="Courier New"/>
                <a:ea typeface="Courier New"/>
                <a:cs typeface="Courier New"/>
                <a:sym typeface="Courier New"/>
              </a:rPr>
              <a:t>Random</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rand</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new</a:t>
            </a:r>
            <a:r>
              <a:rPr b="1" lang="en-US" sz="1000">
                <a:solidFill>
                  <a:srgbClr val="3B3B3B"/>
                </a:solidFill>
                <a:latin typeface="Courier New"/>
                <a:ea typeface="Courier New"/>
                <a:cs typeface="Courier New"/>
                <a:sym typeface="Courier New"/>
              </a:rPr>
              <a:t> </a:t>
            </a:r>
            <a:r>
              <a:rPr b="1" lang="en-US" sz="1000">
                <a:solidFill>
                  <a:srgbClr val="795E26"/>
                </a:solidFill>
                <a:latin typeface="Courier New"/>
                <a:ea typeface="Courier New"/>
                <a:cs typeface="Courier New"/>
                <a:sym typeface="Courier New"/>
              </a:rPr>
              <a:t>Random</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switch</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sensor</a:t>
            </a: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case</a:t>
            </a:r>
            <a:r>
              <a:rPr b="1" lang="en-US" sz="1000">
                <a:solidFill>
                  <a:srgbClr val="3B3B3B"/>
                </a:solidFill>
                <a:latin typeface="Courier New"/>
                <a:ea typeface="Courier New"/>
                <a:cs typeface="Courier New"/>
                <a:sym typeface="Courier New"/>
              </a:rPr>
              <a:t> </a:t>
            </a:r>
            <a:r>
              <a:rPr b="1" lang="en-US" sz="1000">
                <a:solidFill>
                  <a:srgbClr val="A31515"/>
                </a:solidFill>
                <a:latin typeface="Courier New"/>
                <a:ea typeface="Courier New"/>
                <a:cs typeface="Courier New"/>
                <a:sym typeface="Courier New"/>
              </a:rPr>
              <a:t>"LM35"</a:t>
            </a:r>
            <a:r>
              <a:rPr b="1" lang="en-US" sz="1000">
                <a:solidFill>
                  <a:srgbClr val="AF00DB"/>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return</a:t>
            </a:r>
            <a:r>
              <a:rPr b="1" lang="en-US" sz="1000">
                <a:solidFill>
                  <a:srgbClr val="3B3B3B"/>
                </a:solidFill>
                <a:latin typeface="Courier New"/>
                <a:ea typeface="Courier New"/>
                <a:cs typeface="Courier New"/>
                <a:sym typeface="Courier New"/>
              </a:rPr>
              <a:t> </a:t>
            </a:r>
            <a:r>
              <a:rPr b="1" lang="en-US" sz="1000">
                <a:solidFill>
                  <a:srgbClr val="098658"/>
                </a:solidFill>
                <a:latin typeface="Courier New"/>
                <a:ea typeface="Courier New"/>
                <a:cs typeface="Courier New"/>
                <a:sym typeface="Courier New"/>
              </a:rPr>
              <a:t>20</a:t>
            </a:r>
            <a:r>
              <a:rPr b="1" lang="en-US" sz="1000">
                <a:solidFill>
                  <a:srgbClr val="3B3B3B"/>
                </a:solidFill>
                <a:latin typeface="Courier New"/>
                <a:ea typeface="Courier New"/>
                <a:cs typeface="Courier New"/>
                <a:sym typeface="Courier New"/>
              </a:rPr>
              <a:t> </a:t>
            </a:r>
            <a:r>
              <a:rPr b="1" lang="en-US" sz="1000">
                <a:solidFill>
                  <a:schemeClr val="dk1"/>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rand</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nextInt</a:t>
            </a:r>
            <a:r>
              <a:rPr b="1" lang="en-US" sz="1000">
                <a:solidFill>
                  <a:srgbClr val="3B3B3B"/>
                </a:solidFill>
                <a:latin typeface="Courier New"/>
                <a:ea typeface="Courier New"/>
                <a:cs typeface="Courier New"/>
                <a:sym typeface="Courier New"/>
              </a:rPr>
              <a:t>(</a:t>
            </a:r>
            <a:r>
              <a:rPr b="1" lang="en-US" sz="1000">
                <a:solidFill>
                  <a:srgbClr val="098658"/>
                </a:solidFill>
                <a:latin typeface="Courier New"/>
                <a:ea typeface="Courier New"/>
                <a:cs typeface="Courier New"/>
                <a:sym typeface="Courier New"/>
              </a:rPr>
              <a:t>16</a:t>
            </a:r>
            <a:r>
              <a:rPr b="1" lang="en-US" sz="1000">
                <a:solidFill>
                  <a:srgbClr val="3B3B3B"/>
                </a:solidFill>
                <a:latin typeface="Courier New"/>
                <a:ea typeface="Courier New"/>
                <a:cs typeface="Courier New"/>
                <a:sym typeface="Courier New"/>
              </a:rPr>
              <a:t>);  </a:t>
            </a:r>
            <a:endParaRPr b="1" sz="10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case</a:t>
            </a:r>
            <a:r>
              <a:rPr b="1" lang="en-US" sz="1000">
                <a:solidFill>
                  <a:srgbClr val="3B3B3B"/>
                </a:solidFill>
                <a:latin typeface="Courier New"/>
                <a:ea typeface="Courier New"/>
                <a:cs typeface="Courier New"/>
                <a:sym typeface="Courier New"/>
              </a:rPr>
              <a:t> </a:t>
            </a:r>
            <a:r>
              <a:rPr b="1" lang="en-US" sz="1000">
                <a:solidFill>
                  <a:srgbClr val="A31515"/>
                </a:solidFill>
                <a:latin typeface="Courier New"/>
                <a:ea typeface="Courier New"/>
                <a:cs typeface="Courier New"/>
                <a:sym typeface="Courier New"/>
              </a:rPr>
              <a:t>"MQ2"</a:t>
            </a:r>
            <a:r>
              <a:rPr b="1" lang="en-US" sz="1000">
                <a:solidFill>
                  <a:srgbClr val="AF00DB"/>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return</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rand</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nextInt</a:t>
            </a:r>
            <a:r>
              <a:rPr b="1" lang="en-US" sz="1000">
                <a:solidFill>
                  <a:srgbClr val="3B3B3B"/>
                </a:solidFill>
                <a:latin typeface="Courier New"/>
                <a:ea typeface="Courier New"/>
                <a:cs typeface="Courier New"/>
                <a:sym typeface="Courier New"/>
              </a:rPr>
              <a:t>(</a:t>
            </a:r>
            <a:r>
              <a:rPr b="1" lang="en-US" sz="1000">
                <a:solidFill>
                  <a:srgbClr val="098658"/>
                </a:solidFill>
                <a:latin typeface="Courier New"/>
                <a:ea typeface="Courier New"/>
                <a:cs typeface="Courier New"/>
                <a:sym typeface="Courier New"/>
              </a:rPr>
              <a:t>101</a:t>
            </a:r>
            <a:r>
              <a:rPr b="1" lang="en-US" sz="1000">
                <a:solidFill>
                  <a:srgbClr val="3B3B3B"/>
                </a:solidFill>
                <a:latin typeface="Courier New"/>
                <a:ea typeface="Courier New"/>
                <a:cs typeface="Courier New"/>
                <a:sym typeface="Courier New"/>
              </a:rPr>
              <a:t>);       </a:t>
            </a:r>
            <a:endParaRPr b="1" sz="10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case</a:t>
            </a:r>
            <a:r>
              <a:rPr b="1" lang="en-US" sz="1000">
                <a:solidFill>
                  <a:srgbClr val="3B3B3B"/>
                </a:solidFill>
                <a:latin typeface="Courier New"/>
                <a:ea typeface="Courier New"/>
                <a:cs typeface="Courier New"/>
                <a:sym typeface="Courier New"/>
              </a:rPr>
              <a:t> </a:t>
            </a:r>
            <a:r>
              <a:rPr b="1" lang="en-US" sz="1000">
                <a:solidFill>
                  <a:srgbClr val="A31515"/>
                </a:solidFill>
                <a:latin typeface="Courier New"/>
                <a:ea typeface="Courier New"/>
                <a:cs typeface="Courier New"/>
                <a:sym typeface="Courier New"/>
              </a:rPr>
              <a:t>"MQ135"</a:t>
            </a:r>
            <a:r>
              <a:rPr b="1" lang="en-US" sz="1000">
                <a:solidFill>
                  <a:srgbClr val="AF00DB"/>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return</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rand</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nextInt</a:t>
            </a:r>
            <a:r>
              <a:rPr b="1" lang="en-US" sz="1000">
                <a:solidFill>
                  <a:srgbClr val="3B3B3B"/>
                </a:solidFill>
                <a:latin typeface="Courier New"/>
                <a:ea typeface="Courier New"/>
                <a:cs typeface="Courier New"/>
                <a:sym typeface="Courier New"/>
              </a:rPr>
              <a:t>(</a:t>
            </a:r>
            <a:r>
              <a:rPr b="1" lang="en-US" sz="1000">
                <a:solidFill>
                  <a:srgbClr val="098658"/>
                </a:solidFill>
                <a:latin typeface="Courier New"/>
                <a:ea typeface="Courier New"/>
                <a:cs typeface="Courier New"/>
                <a:sym typeface="Courier New"/>
              </a:rPr>
              <a:t>501</a:t>
            </a:r>
            <a:r>
              <a:rPr b="1" lang="en-US" sz="1000">
                <a:solidFill>
                  <a:srgbClr val="3B3B3B"/>
                </a:solidFill>
                <a:latin typeface="Courier New"/>
                <a:ea typeface="Courier New"/>
                <a:cs typeface="Courier New"/>
                <a:sym typeface="Courier New"/>
              </a:rPr>
              <a:t>);    </a:t>
            </a:r>
            <a:endParaRPr b="1" sz="10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case</a:t>
            </a:r>
            <a:r>
              <a:rPr b="1" lang="en-US" sz="1000">
                <a:solidFill>
                  <a:srgbClr val="3B3B3B"/>
                </a:solidFill>
                <a:latin typeface="Courier New"/>
                <a:ea typeface="Courier New"/>
                <a:cs typeface="Courier New"/>
                <a:sym typeface="Courier New"/>
              </a:rPr>
              <a:t> </a:t>
            </a:r>
            <a:r>
              <a:rPr b="1" lang="en-US" sz="1000">
                <a:solidFill>
                  <a:srgbClr val="A31515"/>
                </a:solidFill>
                <a:latin typeface="Courier New"/>
                <a:ea typeface="Courier New"/>
                <a:cs typeface="Courier New"/>
                <a:sym typeface="Courier New"/>
              </a:rPr>
              <a:t>"BH170"</a:t>
            </a:r>
            <a:r>
              <a:rPr b="1" lang="en-US" sz="1000">
                <a:solidFill>
                  <a:srgbClr val="AF00DB"/>
                </a:solidFill>
                <a:latin typeface="Courier New"/>
                <a:ea typeface="Courier New"/>
                <a:cs typeface="Courier New"/>
                <a:sym typeface="Courier New"/>
              </a:rPr>
              <a: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return</a:t>
            </a:r>
            <a:r>
              <a:rPr b="1" lang="en-US" sz="1000">
                <a:solidFill>
                  <a:srgbClr val="3B3B3B"/>
                </a:solidFill>
                <a:latin typeface="Courier New"/>
                <a:ea typeface="Courier New"/>
                <a:cs typeface="Courier New"/>
                <a:sym typeface="Courier New"/>
              </a:rPr>
              <a:t> </a:t>
            </a:r>
            <a:r>
              <a:rPr b="1" lang="en-US" sz="1000">
                <a:solidFill>
                  <a:srgbClr val="001080"/>
                </a:solidFill>
                <a:latin typeface="Courier New"/>
                <a:ea typeface="Courier New"/>
                <a:cs typeface="Courier New"/>
                <a:sym typeface="Courier New"/>
              </a:rPr>
              <a:t>rand</a:t>
            </a:r>
            <a:r>
              <a:rPr b="1" lang="en-US" sz="1000">
                <a:solidFill>
                  <a:srgbClr val="3B3B3B"/>
                </a:solidFill>
                <a:latin typeface="Courier New"/>
                <a:ea typeface="Courier New"/>
                <a:cs typeface="Courier New"/>
                <a:sym typeface="Courier New"/>
              </a:rPr>
              <a:t>.</a:t>
            </a:r>
            <a:r>
              <a:rPr b="1" lang="en-US" sz="1000">
                <a:solidFill>
                  <a:srgbClr val="795E26"/>
                </a:solidFill>
                <a:latin typeface="Courier New"/>
                <a:ea typeface="Courier New"/>
                <a:cs typeface="Courier New"/>
                <a:sym typeface="Courier New"/>
              </a:rPr>
              <a:t>nextInt</a:t>
            </a:r>
            <a:r>
              <a:rPr b="1" lang="en-US" sz="1000">
                <a:solidFill>
                  <a:srgbClr val="3B3B3B"/>
                </a:solidFill>
                <a:latin typeface="Courier New"/>
                <a:ea typeface="Courier New"/>
                <a:cs typeface="Courier New"/>
                <a:sym typeface="Courier New"/>
              </a:rPr>
              <a:t>(</a:t>
            </a:r>
            <a:r>
              <a:rPr b="1" lang="en-US" sz="1000">
                <a:solidFill>
                  <a:srgbClr val="098658"/>
                </a:solidFill>
                <a:latin typeface="Courier New"/>
                <a:ea typeface="Courier New"/>
                <a:cs typeface="Courier New"/>
                <a:sym typeface="Courier New"/>
              </a:rPr>
              <a:t>1001</a:t>
            </a:r>
            <a:r>
              <a:rPr b="1" lang="en-US" sz="1000">
                <a:solidFill>
                  <a:srgbClr val="3B3B3B"/>
                </a:solidFill>
                <a:latin typeface="Courier New"/>
                <a:ea typeface="Courier New"/>
                <a:cs typeface="Courier New"/>
                <a:sym typeface="Courier New"/>
              </a:rPr>
              <a:t>);    </a:t>
            </a:r>
            <a:endParaRPr b="1" sz="10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default:</a:t>
            </a:r>
            <a:r>
              <a:rPr b="1" lang="en-US" sz="1000">
                <a:solidFill>
                  <a:srgbClr val="3B3B3B"/>
                </a:solidFill>
                <a:latin typeface="Courier New"/>
                <a:ea typeface="Courier New"/>
                <a:cs typeface="Courier New"/>
                <a:sym typeface="Courier New"/>
              </a:rPr>
              <a:t> </a:t>
            </a:r>
            <a:r>
              <a:rPr b="1" lang="en-US" sz="1000">
                <a:solidFill>
                  <a:srgbClr val="AF00DB"/>
                </a:solidFill>
                <a:latin typeface="Courier New"/>
                <a:ea typeface="Courier New"/>
                <a:cs typeface="Courier New"/>
                <a:sym typeface="Courier New"/>
              </a:rPr>
              <a:t>return</a:t>
            </a:r>
            <a:r>
              <a:rPr b="1" lang="en-US" sz="1000">
                <a:solidFill>
                  <a:srgbClr val="3B3B3B"/>
                </a:solidFill>
                <a:latin typeface="Courier New"/>
                <a:ea typeface="Courier New"/>
                <a:cs typeface="Courier New"/>
                <a:sym typeface="Courier New"/>
              </a:rPr>
              <a:t> </a:t>
            </a:r>
            <a:r>
              <a:rPr b="1" lang="en-US" sz="1000">
                <a:solidFill>
                  <a:srgbClr val="098658"/>
                </a:solidFill>
                <a:latin typeface="Courier New"/>
                <a:ea typeface="Courier New"/>
                <a:cs typeface="Courier New"/>
                <a:sym typeface="Courier New"/>
              </a:rPr>
              <a:t>0</a:t>
            </a:r>
            <a:r>
              <a:rPr b="1" lang="en-US" sz="1000">
                <a:solidFill>
                  <a:srgbClr val="3B3B3B"/>
                </a:solidFill>
                <a:latin typeface="Courier New"/>
                <a:ea typeface="Courier New"/>
                <a:cs typeface="Courier New"/>
                <a:sym typeface="Courier New"/>
              </a:rPr>
              <a:t>;</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3B3B3B"/>
                </a:solidFill>
                <a:latin typeface="Courier New"/>
                <a:ea typeface="Courier New"/>
                <a:cs typeface="Courier New"/>
                <a:sym typeface="Courier New"/>
              </a:rPr>
              <a:t>    }</a:t>
            </a:r>
            <a:endParaRPr b="1" sz="10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400">
              <a:solidFill>
                <a:srgbClr val="0000FF"/>
              </a:solidFill>
            </a:endParaRPr>
          </a:p>
        </p:txBody>
      </p:sp>
      <p:sp>
        <p:nvSpPr>
          <p:cNvPr id="505" name="Google Shape;505;p61"/>
          <p:cNvSpPr txBox="1"/>
          <p:nvPr/>
        </p:nvSpPr>
        <p:spPr>
          <a:xfrm>
            <a:off x="5825450" y="0"/>
            <a:ext cx="6251100" cy="65967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b="1" lang="en-US" sz="900">
                <a:solidFill>
                  <a:srgbClr val="0000FF"/>
                </a:solidFill>
                <a:latin typeface="Courier New"/>
                <a:ea typeface="Courier New"/>
                <a:cs typeface="Courier New"/>
                <a:sym typeface="Courier New"/>
              </a:rPr>
              <a:t>public</a:t>
            </a: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void</a:t>
            </a:r>
            <a:r>
              <a:rPr b="1" lang="en-US" sz="900">
                <a:solidFill>
                  <a:srgbClr val="3B3B3B"/>
                </a:solidFill>
                <a:latin typeface="Courier New"/>
                <a:ea typeface="Courier New"/>
                <a:cs typeface="Courier New"/>
                <a:sym typeface="Courier New"/>
              </a:rPr>
              <a:t> </a:t>
            </a:r>
            <a:r>
              <a:rPr b="1" lang="en-US" sz="900">
                <a:solidFill>
                  <a:srgbClr val="795E26"/>
                </a:solidFill>
                <a:latin typeface="Courier New"/>
                <a:ea typeface="Courier New"/>
                <a:cs typeface="Courier New"/>
                <a:sym typeface="Courier New"/>
              </a:rPr>
              <a:t>run</a:t>
            </a: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AF00DB"/>
                </a:solidFill>
                <a:latin typeface="Courier New"/>
                <a:ea typeface="Courier New"/>
                <a:cs typeface="Courier New"/>
                <a:sym typeface="Courier New"/>
              </a:rPr>
              <a:t>if</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socket</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0000FF"/>
                </a:solidFill>
                <a:latin typeface="Courier New"/>
                <a:ea typeface="Courier New"/>
                <a:cs typeface="Courier New"/>
                <a:sym typeface="Courier New"/>
              </a:rPr>
              <a:t>null</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out</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0000FF"/>
                </a:solidFill>
                <a:latin typeface="Courier New"/>
                <a:ea typeface="Courier New"/>
                <a:cs typeface="Courier New"/>
                <a:sym typeface="Courier New"/>
              </a:rPr>
              <a:t>null</a:t>
            </a:r>
            <a:r>
              <a:rPr b="1" lang="en-US" sz="900">
                <a:solidFill>
                  <a:srgbClr val="3B3B3B"/>
                </a:solidFill>
                <a:latin typeface="Courier New"/>
                <a:ea typeface="Courier New"/>
                <a:cs typeface="Courier New"/>
                <a:sym typeface="Courier New"/>
              </a:rPr>
              <a:t>) </a:t>
            </a:r>
            <a:r>
              <a:rPr b="1" lang="en-US" sz="900">
                <a:solidFill>
                  <a:srgbClr val="AF00DB"/>
                </a:solidFill>
                <a:latin typeface="Courier New"/>
                <a:ea typeface="Courier New"/>
                <a:cs typeface="Courier New"/>
                <a:sym typeface="Courier New"/>
              </a:rPr>
              <a:t>return</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AF00DB"/>
                </a:solidFill>
                <a:latin typeface="Courier New"/>
                <a:ea typeface="Courier New"/>
                <a:cs typeface="Courier New"/>
                <a:sym typeface="Courier New"/>
              </a:rPr>
              <a:t>for</a:t>
            </a: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int</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i</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098658"/>
                </a:solidFill>
                <a:latin typeface="Courier New"/>
                <a:ea typeface="Courier New"/>
                <a:cs typeface="Courier New"/>
                <a:sym typeface="Courier New"/>
              </a:rPr>
              <a:t>0</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i</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&lt;</a:t>
            </a:r>
            <a:r>
              <a:rPr b="1" lang="en-US" sz="900">
                <a:solidFill>
                  <a:srgbClr val="3B3B3B"/>
                </a:solidFill>
                <a:latin typeface="Courier New"/>
                <a:ea typeface="Courier New"/>
                <a:cs typeface="Courier New"/>
                <a:sym typeface="Courier New"/>
              </a:rPr>
              <a:t> </a:t>
            </a:r>
            <a:r>
              <a:rPr b="1" lang="en-US" sz="900">
                <a:solidFill>
                  <a:srgbClr val="098658"/>
                </a:solidFill>
                <a:latin typeface="Courier New"/>
                <a:ea typeface="Courier New"/>
                <a:cs typeface="Courier New"/>
                <a:sym typeface="Courier New"/>
              </a:rPr>
              <a:t>5</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i</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int</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value</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795E26"/>
                </a:solidFill>
                <a:latin typeface="Courier New"/>
                <a:ea typeface="Courier New"/>
                <a:cs typeface="Courier New"/>
                <a:sym typeface="Courier New"/>
              </a:rPr>
              <a:t>getRandomValue</a:t>
            </a:r>
            <a:r>
              <a:rPr b="1" lang="en-US" sz="900">
                <a:solidFill>
                  <a:srgbClr val="3B3B3B"/>
                </a:solidFill>
                <a:latin typeface="Courier New"/>
                <a:ea typeface="Courier New"/>
                <a:cs typeface="Courier New"/>
                <a:sym typeface="Courier New"/>
              </a:rPr>
              <a:t>(</a:t>
            </a:r>
            <a:r>
              <a:rPr b="1" lang="en-US" sz="900">
                <a:solidFill>
                  <a:srgbClr val="001080"/>
                </a:solidFill>
                <a:latin typeface="Courier New"/>
                <a:ea typeface="Courier New"/>
                <a:cs typeface="Courier New"/>
                <a:sym typeface="Courier New"/>
              </a:rPr>
              <a:t>sensorName</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String</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message</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sensorName</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A31515"/>
                </a:solidFill>
                <a:latin typeface="Courier New"/>
                <a:ea typeface="Courier New"/>
                <a:cs typeface="Courier New"/>
                <a:sym typeface="Courier New"/>
              </a:rPr>
              <a:t>": "</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value</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System</a:t>
            </a:r>
            <a:r>
              <a:rPr b="1" lang="en-US" sz="900">
                <a:solidFill>
                  <a:srgbClr val="3B3B3B"/>
                </a:solidFill>
                <a:latin typeface="Courier New"/>
                <a:ea typeface="Courier New"/>
                <a:cs typeface="Courier New"/>
                <a:sym typeface="Courier New"/>
              </a:rPr>
              <a:t>.</a:t>
            </a:r>
            <a:r>
              <a:rPr b="1" lang="en-US" sz="900">
                <a:solidFill>
                  <a:srgbClr val="0070C1"/>
                </a:solidFill>
                <a:latin typeface="Courier New"/>
                <a:ea typeface="Courier New"/>
                <a:cs typeface="Courier New"/>
                <a:sym typeface="Courier New"/>
              </a:rPr>
              <a:t>out</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println</a:t>
            </a:r>
            <a:r>
              <a:rPr b="1" lang="en-US" sz="900">
                <a:solidFill>
                  <a:srgbClr val="3B3B3B"/>
                </a:solidFill>
                <a:latin typeface="Courier New"/>
                <a:ea typeface="Courier New"/>
                <a:cs typeface="Courier New"/>
                <a:sym typeface="Courier New"/>
              </a:rPr>
              <a:t>(</a:t>
            </a:r>
            <a:r>
              <a:rPr b="1" lang="en-US" sz="900">
                <a:solidFill>
                  <a:srgbClr val="A31515"/>
                </a:solidFill>
                <a:latin typeface="Courier New"/>
                <a:ea typeface="Courier New"/>
                <a:cs typeface="Courier New"/>
                <a:sym typeface="Courier New"/>
              </a:rPr>
              <a:t>" Gui du lieu -&gt; "</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message</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out</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println</a:t>
            </a:r>
            <a:r>
              <a:rPr b="1" lang="en-US" sz="900">
                <a:solidFill>
                  <a:srgbClr val="3B3B3B"/>
                </a:solidFill>
                <a:latin typeface="Courier New"/>
                <a:ea typeface="Courier New"/>
                <a:cs typeface="Courier New"/>
                <a:sym typeface="Courier New"/>
              </a:rPr>
              <a:t>(</a:t>
            </a:r>
            <a:r>
              <a:rPr b="1" lang="en-US" sz="900">
                <a:solidFill>
                  <a:srgbClr val="001080"/>
                </a:solidFill>
                <a:latin typeface="Courier New"/>
                <a:ea typeface="Courier New"/>
                <a:cs typeface="Courier New"/>
                <a:sym typeface="Courier New"/>
              </a:rPr>
              <a:t>message</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AF00DB"/>
                </a:solidFill>
                <a:latin typeface="Courier New"/>
                <a:ea typeface="Courier New"/>
                <a:cs typeface="Courier New"/>
                <a:sym typeface="Courier New"/>
              </a:rPr>
              <a:t>try</a:t>
            </a: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Thread</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sleep</a:t>
            </a:r>
            <a:r>
              <a:rPr b="1" lang="en-US" sz="900">
                <a:solidFill>
                  <a:srgbClr val="3B3B3B"/>
                </a:solidFill>
                <a:latin typeface="Courier New"/>
                <a:ea typeface="Courier New"/>
                <a:cs typeface="Courier New"/>
                <a:sym typeface="Courier New"/>
              </a:rPr>
              <a:t>(</a:t>
            </a:r>
            <a:r>
              <a:rPr b="1" lang="en-US" sz="900">
                <a:solidFill>
                  <a:srgbClr val="098658"/>
                </a:solidFill>
                <a:latin typeface="Courier New"/>
                <a:ea typeface="Courier New"/>
                <a:cs typeface="Courier New"/>
                <a:sym typeface="Courier New"/>
              </a:rPr>
              <a:t>2000</a:t>
            </a:r>
            <a:r>
              <a:rPr b="1" lang="en-US" sz="900">
                <a:solidFill>
                  <a:srgbClr val="3B3B3B"/>
                </a:solidFill>
                <a:latin typeface="Courier New"/>
                <a:ea typeface="Courier New"/>
                <a:cs typeface="Courier New"/>
                <a:sym typeface="Courier New"/>
              </a:rPr>
              <a:t>);  </a:t>
            </a:r>
            <a:endParaRPr b="1" sz="900">
              <a:solidFill>
                <a:srgbClr val="008000"/>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 </a:t>
            </a:r>
            <a:r>
              <a:rPr b="1" lang="en-US" sz="900">
                <a:solidFill>
                  <a:srgbClr val="AF00DB"/>
                </a:solidFill>
                <a:latin typeface="Courier New"/>
                <a:ea typeface="Courier New"/>
                <a:cs typeface="Courier New"/>
                <a:sym typeface="Courier New"/>
              </a:rPr>
              <a:t>catch</a:t>
            </a: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InterruptedException</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e</a:t>
            </a: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e</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printStackTrace</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AF00DB"/>
                </a:solidFill>
                <a:latin typeface="Courier New"/>
                <a:ea typeface="Courier New"/>
                <a:cs typeface="Courier New"/>
                <a:sym typeface="Courier New"/>
              </a:rPr>
              <a:t>try</a:t>
            </a: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out</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close</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socket</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close</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 </a:t>
            </a:r>
            <a:r>
              <a:rPr b="1" lang="en-US" sz="900">
                <a:solidFill>
                  <a:srgbClr val="AF00DB"/>
                </a:solidFill>
                <a:latin typeface="Courier New"/>
                <a:ea typeface="Courier New"/>
                <a:cs typeface="Courier New"/>
                <a:sym typeface="Courier New"/>
              </a:rPr>
              <a:t>catch</a:t>
            </a: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IOException</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e</a:t>
            </a: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e</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printStackTrace</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0000FF"/>
                </a:solidFill>
                <a:latin typeface="Courier New"/>
                <a:ea typeface="Courier New"/>
                <a:cs typeface="Courier New"/>
                <a:sym typeface="Courier New"/>
              </a:rPr>
              <a:t>public</a:t>
            </a:r>
            <a:r>
              <a:rPr b="1" lang="en-US" sz="900">
                <a:solidFill>
                  <a:srgbClr val="3B3B3B"/>
                </a:solidFill>
                <a:latin typeface="Courier New"/>
                <a:ea typeface="Courier New"/>
                <a:cs typeface="Courier New"/>
                <a:sym typeface="Courier New"/>
              </a:rPr>
              <a:t> </a:t>
            </a:r>
            <a:r>
              <a:rPr b="1" lang="en-US" sz="900">
                <a:solidFill>
                  <a:srgbClr val="0000FF"/>
                </a:solidFill>
                <a:latin typeface="Courier New"/>
                <a:ea typeface="Courier New"/>
                <a:cs typeface="Courier New"/>
                <a:sym typeface="Courier New"/>
              </a:rPr>
              <a:t>class</a:t>
            </a: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SensorClient</a:t>
            </a: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00FF"/>
                </a:solidFill>
                <a:latin typeface="Courier New"/>
                <a:ea typeface="Courier New"/>
                <a:cs typeface="Courier New"/>
                <a:sym typeface="Courier New"/>
              </a:rPr>
              <a:t>public</a:t>
            </a:r>
            <a:r>
              <a:rPr b="1" lang="en-US" sz="900">
                <a:solidFill>
                  <a:srgbClr val="3B3B3B"/>
                </a:solidFill>
                <a:latin typeface="Courier New"/>
                <a:ea typeface="Courier New"/>
                <a:cs typeface="Courier New"/>
                <a:sym typeface="Courier New"/>
              </a:rPr>
              <a:t> </a:t>
            </a:r>
            <a:r>
              <a:rPr b="1" lang="en-US" sz="900">
                <a:solidFill>
                  <a:srgbClr val="0000FF"/>
                </a:solidFill>
                <a:latin typeface="Courier New"/>
                <a:ea typeface="Courier New"/>
                <a:cs typeface="Courier New"/>
                <a:sym typeface="Courier New"/>
              </a:rPr>
              <a:t>static</a:t>
            </a: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void</a:t>
            </a:r>
            <a:r>
              <a:rPr b="1" lang="en-US" sz="900">
                <a:solidFill>
                  <a:srgbClr val="3B3B3B"/>
                </a:solidFill>
                <a:latin typeface="Courier New"/>
                <a:ea typeface="Courier New"/>
                <a:cs typeface="Courier New"/>
                <a:sym typeface="Courier New"/>
              </a:rPr>
              <a:t> </a:t>
            </a:r>
            <a:r>
              <a:rPr b="1" lang="en-US" sz="900">
                <a:solidFill>
                  <a:srgbClr val="795E26"/>
                </a:solidFill>
                <a:latin typeface="Courier New"/>
                <a:ea typeface="Courier New"/>
                <a:cs typeface="Courier New"/>
                <a:sym typeface="Courier New"/>
              </a:rPr>
              <a:t>main</a:t>
            </a:r>
            <a:r>
              <a:rPr b="1" lang="en-US" sz="900">
                <a:solidFill>
                  <a:srgbClr val="3B3B3B"/>
                </a:solidFill>
                <a:latin typeface="Courier New"/>
                <a:ea typeface="Courier New"/>
                <a:cs typeface="Courier New"/>
                <a:sym typeface="Courier New"/>
              </a:rPr>
              <a:t>(</a:t>
            </a:r>
            <a:r>
              <a:rPr b="1" lang="en-US" sz="900">
                <a:solidFill>
                  <a:srgbClr val="267F99"/>
                </a:solidFill>
                <a:latin typeface="Courier New"/>
                <a:ea typeface="Courier New"/>
                <a:cs typeface="Courier New"/>
                <a:sym typeface="Courier New"/>
              </a:rPr>
              <a:t>String</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args</a:t>
            </a: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String</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serverAddress</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A31515"/>
                </a:solidFill>
                <a:latin typeface="Courier New"/>
                <a:ea typeface="Courier New"/>
                <a:cs typeface="Courier New"/>
                <a:sym typeface="Courier New"/>
              </a:rPr>
              <a:t>"localhost"</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int</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serverPort</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098658"/>
                </a:solidFill>
                <a:latin typeface="Courier New"/>
                <a:ea typeface="Courier New"/>
                <a:cs typeface="Courier New"/>
                <a:sym typeface="Courier New"/>
              </a:rPr>
              <a:t>12345</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SensorThread</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lm35</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AF00DB"/>
                </a:solidFill>
                <a:latin typeface="Courier New"/>
                <a:ea typeface="Courier New"/>
                <a:cs typeface="Courier New"/>
                <a:sym typeface="Courier New"/>
              </a:rPr>
              <a:t>new</a:t>
            </a:r>
            <a:r>
              <a:rPr b="1" lang="en-US" sz="900">
                <a:solidFill>
                  <a:srgbClr val="3B3B3B"/>
                </a:solidFill>
                <a:latin typeface="Courier New"/>
                <a:ea typeface="Courier New"/>
                <a:cs typeface="Courier New"/>
                <a:sym typeface="Courier New"/>
              </a:rPr>
              <a:t> </a:t>
            </a:r>
            <a:r>
              <a:rPr b="1" lang="en-US" sz="900">
                <a:solidFill>
                  <a:srgbClr val="795E26"/>
                </a:solidFill>
                <a:latin typeface="Courier New"/>
                <a:ea typeface="Courier New"/>
                <a:cs typeface="Courier New"/>
                <a:sym typeface="Courier New"/>
              </a:rPr>
              <a:t>SensorThread</a:t>
            </a:r>
            <a:r>
              <a:rPr b="1" lang="en-US" sz="900">
                <a:solidFill>
                  <a:srgbClr val="3B3B3B"/>
                </a:solidFill>
                <a:latin typeface="Courier New"/>
                <a:ea typeface="Courier New"/>
                <a:cs typeface="Courier New"/>
                <a:sym typeface="Courier New"/>
              </a:rPr>
              <a:t>(</a:t>
            </a:r>
            <a:r>
              <a:rPr b="1" lang="en-US" sz="900">
                <a:solidFill>
                  <a:srgbClr val="A31515"/>
                </a:solidFill>
                <a:latin typeface="Courier New"/>
                <a:ea typeface="Courier New"/>
                <a:cs typeface="Courier New"/>
                <a:sym typeface="Courier New"/>
              </a:rPr>
              <a:t>"LM35"</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serverAddress</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serverPort</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SensorThread</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mq2</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AF00DB"/>
                </a:solidFill>
                <a:latin typeface="Courier New"/>
                <a:ea typeface="Courier New"/>
                <a:cs typeface="Courier New"/>
                <a:sym typeface="Courier New"/>
              </a:rPr>
              <a:t>new</a:t>
            </a:r>
            <a:r>
              <a:rPr b="1" lang="en-US" sz="900">
                <a:solidFill>
                  <a:srgbClr val="3B3B3B"/>
                </a:solidFill>
                <a:latin typeface="Courier New"/>
                <a:ea typeface="Courier New"/>
                <a:cs typeface="Courier New"/>
                <a:sym typeface="Courier New"/>
              </a:rPr>
              <a:t> </a:t>
            </a:r>
            <a:r>
              <a:rPr b="1" lang="en-US" sz="900">
                <a:solidFill>
                  <a:srgbClr val="795E26"/>
                </a:solidFill>
                <a:latin typeface="Courier New"/>
                <a:ea typeface="Courier New"/>
                <a:cs typeface="Courier New"/>
                <a:sym typeface="Courier New"/>
              </a:rPr>
              <a:t>SensorThread</a:t>
            </a:r>
            <a:r>
              <a:rPr b="1" lang="en-US" sz="900">
                <a:solidFill>
                  <a:srgbClr val="3B3B3B"/>
                </a:solidFill>
                <a:latin typeface="Courier New"/>
                <a:ea typeface="Courier New"/>
                <a:cs typeface="Courier New"/>
                <a:sym typeface="Courier New"/>
              </a:rPr>
              <a:t>(</a:t>
            </a:r>
            <a:r>
              <a:rPr b="1" lang="en-US" sz="900">
                <a:solidFill>
                  <a:srgbClr val="A31515"/>
                </a:solidFill>
                <a:latin typeface="Courier New"/>
                <a:ea typeface="Courier New"/>
                <a:cs typeface="Courier New"/>
                <a:sym typeface="Courier New"/>
              </a:rPr>
              <a:t>"MQ2"</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serverAddress</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serverPort</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SensorThread</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mq135</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AF00DB"/>
                </a:solidFill>
                <a:latin typeface="Courier New"/>
                <a:ea typeface="Courier New"/>
                <a:cs typeface="Courier New"/>
                <a:sym typeface="Courier New"/>
              </a:rPr>
              <a:t>new</a:t>
            </a:r>
            <a:r>
              <a:rPr b="1" lang="en-US" sz="900">
                <a:solidFill>
                  <a:srgbClr val="3B3B3B"/>
                </a:solidFill>
                <a:latin typeface="Courier New"/>
                <a:ea typeface="Courier New"/>
                <a:cs typeface="Courier New"/>
                <a:sym typeface="Courier New"/>
              </a:rPr>
              <a:t> </a:t>
            </a:r>
            <a:r>
              <a:rPr b="1" lang="en-US" sz="900">
                <a:solidFill>
                  <a:srgbClr val="795E26"/>
                </a:solidFill>
                <a:latin typeface="Courier New"/>
                <a:ea typeface="Courier New"/>
                <a:cs typeface="Courier New"/>
                <a:sym typeface="Courier New"/>
              </a:rPr>
              <a:t>SensorThread</a:t>
            </a:r>
            <a:r>
              <a:rPr b="1" lang="en-US" sz="900">
                <a:solidFill>
                  <a:srgbClr val="3B3B3B"/>
                </a:solidFill>
                <a:latin typeface="Courier New"/>
                <a:ea typeface="Courier New"/>
                <a:cs typeface="Courier New"/>
                <a:sym typeface="Courier New"/>
              </a:rPr>
              <a:t>(</a:t>
            </a:r>
            <a:r>
              <a:rPr b="1" lang="en-US" sz="900">
                <a:solidFill>
                  <a:srgbClr val="A31515"/>
                </a:solidFill>
                <a:latin typeface="Courier New"/>
                <a:ea typeface="Courier New"/>
                <a:cs typeface="Courier New"/>
                <a:sym typeface="Courier New"/>
              </a:rPr>
              <a:t>"MQ135"</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serverAddress</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serverPort</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267F99"/>
                </a:solidFill>
                <a:latin typeface="Courier New"/>
                <a:ea typeface="Courier New"/>
                <a:cs typeface="Courier New"/>
                <a:sym typeface="Courier New"/>
              </a:rPr>
              <a:t>SensorThread</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bh170</a:t>
            </a:r>
            <a:r>
              <a:rPr b="1" lang="en-US" sz="900">
                <a:solidFill>
                  <a:srgbClr val="3B3B3B"/>
                </a:solidFill>
                <a:latin typeface="Courier New"/>
                <a:ea typeface="Courier New"/>
                <a:cs typeface="Courier New"/>
                <a:sym typeface="Courier New"/>
              </a:rPr>
              <a:t> </a:t>
            </a:r>
            <a:r>
              <a:rPr b="1" lang="en-US" sz="900">
                <a:solidFill>
                  <a:schemeClr val="dk1"/>
                </a:solidFill>
                <a:latin typeface="Courier New"/>
                <a:ea typeface="Courier New"/>
                <a:cs typeface="Courier New"/>
                <a:sym typeface="Courier New"/>
              </a:rPr>
              <a:t>=</a:t>
            </a:r>
            <a:r>
              <a:rPr b="1" lang="en-US" sz="900">
                <a:solidFill>
                  <a:srgbClr val="3B3B3B"/>
                </a:solidFill>
                <a:latin typeface="Courier New"/>
                <a:ea typeface="Courier New"/>
                <a:cs typeface="Courier New"/>
                <a:sym typeface="Courier New"/>
              </a:rPr>
              <a:t> </a:t>
            </a:r>
            <a:r>
              <a:rPr b="1" lang="en-US" sz="900">
                <a:solidFill>
                  <a:srgbClr val="AF00DB"/>
                </a:solidFill>
                <a:latin typeface="Courier New"/>
                <a:ea typeface="Courier New"/>
                <a:cs typeface="Courier New"/>
                <a:sym typeface="Courier New"/>
              </a:rPr>
              <a:t>new</a:t>
            </a:r>
            <a:r>
              <a:rPr b="1" lang="en-US" sz="900">
                <a:solidFill>
                  <a:srgbClr val="3B3B3B"/>
                </a:solidFill>
                <a:latin typeface="Courier New"/>
                <a:ea typeface="Courier New"/>
                <a:cs typeface="Courier New"/>
                <a:sym typeface="Courier New"/>
              </a:rPr>
              <a:t> </a:t>
            </a:r>
            <a:r>
              <a:rPr b="1" lang="en-US" sz="900">
                <a:solidFill>
                  <a:srgbClr val="795E26"/>
                </a:solidFill>
                <a:latin typeface="Courier New"/>
                <a:ea typeface="Courier New"/>
                <a:cs typeface="Courier New"/>
                <a:sym typeface="Courier New"/>
              </a:rPr>
              <a:t>SensorThread</a:t>
            </a:r>
            <a:r>
              <a:rPr b="1" lang="en-US" sz="900">
                <a:solidFill>
                  <a:srgbClr val="3B3B3B"/>
                </a:solidFill>
                <a:latin typeface="Courier New"/>
                <a:ea typeface="Courier New"/>
                <a:cs typeface="Courier New"/>
                <a:sym typeface="Courier New"/>
              </a:rPr>
              <a:t>(</a:t>
            </a:r>
            <a:r>
              <a:rPr b="1" lang="en-US" sz="900">
                <a:solidFill>
                  <a:srgbClr val="A31515"/>
                </a:solidFill>
                <a:latin typeface="Courier New"/>
                <a:ea typeface="Courier New"/>
                <a:cs typeface="Courier New"/>
                <a:sym typeface="Courier New"/>
              </a:rPr>
              <a:t>"BH170"</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serverAddress</a:t>
            </a: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serverPort</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30480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lm35</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start</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mq2</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start</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mq135</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start</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r>
              <a:rPr b="1" lang="en-US" sz="900">
                <a:solidFill>
                  <a:srgbClr val="001080"/>
                </a:solidFill>
                <a:latin typeface="Courier New"/>
                <a:ea typeface="Courier New"/>
                <a:cs typeface="Courier New"/>
                <a:sym typeface="Courier New"/>
              </a:rPr>
              <a:t>bh170</a:t>
            </a:r>
            <a:r>
              <a:rPr b="1" lang="en-US" sz="900">
                <a:solidFill>
                  <a:srgbClr val="3B3B3B"/>
                </a:solidFill>
                <a:latin typeface="Courier New"/>
                <a:ea typeface="Courier New"/>
                <a:cs typeface="Courier New"/>
                <a:sym typeface="Courier New"/>
              </a:rPr>
              <a:t>.</a:t>
            </a:r>
            <a:r>
              <a:rPr b="1" lang="en-US" sz="900">
                <a:solidFill>
                  <a:srgbClr val="795E26"/>
                </a:solidFill>
                <a:latin typeface="Courier New"/>
                <a:ea typeface="Courier New"/>
                <a:cs typeface="Courier New"/>
                <a:sym typeface="Courier New"/>
              </a:rPr>
              <a:t>start</a:t>
            </a: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    }</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900">
                <a:solidFill>
                  <a:srgbClr val="3B3B3B"/>
                </a:solidFill>
                <a:latin typeface="Courier New"/>
                <a:ea typeface="Courier New"/>
                <a:cs typeface="Courier New"/>
                <a:sym typeface="Courier New"/>
              </a:rPr>
              <a:t>}</a:t>
            </a:r>
            <a:endParaRPr b="1" sz="900">
              <a:solidFill>
                <a:srgbClr val="3B3B3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900">
              <a:solidFill>
                <a:srgbClr val="3B3B3B"/>
              </a:solidFill>
              <a:latin typeface="Courier New"/>
              <a:ea typeface="Courier New"/>
              <a:cs typeface="Courier New"/>
              <a:sym typeface="Courier New"/>
            </a:endParaRPr>
          </a:p>
          <a:p>
            <a:pPr indent="0" lvl="0" marL="0" rtl="0" algn="l">
              <a:spcBef>
                <a:spcPts val="0"/>
              </a:spcBef>
              <a:spcAft>
                <a:spcPts val="0"/>
              </a:spcAft>
              <a:buNone/>
            </a:pPr>
            <a:r>
              <a:t/>
            </a:r>
            <a:endParaRPr b="1" sz="1300">
              <a:solidFill>
                <a:srgbClr val="0000FF"/>
              </a:solidFill>
            </a:endParaRPr>
          </a:p>
        </p:txBody>
      </p:sp>
      <p:sp>
        <p:nvSpPr>
          <p:cNvPr id="506" name="Google Shape;506;p6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10" name="Shape 510"/>
        <p:cNvGrpSpPr/>
        <p:nvPr/>
      </p:nvGrpSpPr>
      <p:grpSpPr>
        <a:xfrm>
          <a:off x="0" y="0"/>
          <a:ext cx="0" cy="0"/>
          <a:chOff x="0" y="0"/>
          <a:chExt cx="0" cy="0"/>
        </a:xfrm>
      </p:grpSpPr>
      <p:sp>
        <p:nvSpPr>
          <p:cNvPr id="511" name="Google Shape;511;p62"/>
          <p:cNvSpPr txBox="1"/>
          <p:nvPr/>
        </p:nvSpPr>
        <p:spPr>
          <a:xfrm>
            <a:off x="10275050" y="108550"/>
            <a:ext cx="1526700" cy="3849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512" name="Google Shape;512;p62"/>
          <p:cNvSpPr txBox="1"/>
          <p:nvPr/>
        </p:nvSpPr>
        <p:spPr>
          <a:xfrm>
            <a:off x="0" y="0"/>
            <a:ext cx="5735700" cy="7634700"/>
          </a:xfrm>
          <a:prstGeom prst="rect">
            <a:avLst/>
          </a:prstGeom>
          <a:noFill/>
          <a:ln>
            <a:noFill/>
          </a:ln>
        </p:spPr>
        <p:txBody>
          <a:bodyPr anchorCtr="0" anchor="t" bIns="60950" lIns="60950" spcFirstLastPara="1" rIns="60950" wrap="square" tIns="60950">
            <a:spAutoFit/>
          </a:bodyPr>
          <a:lstStyle/>
          <a:p>
            <a:pPr indent="0" lvl="0" marL="0" rtl="0" algn="l">
              <a:lnSpc>
                <a:spcPct val="135714"/>
              </a:lnSpc>
              <a:spcBef>
                <a:spcPts val="0"/>
              </a:spcBef>
              <a:spcAft>
                <a:spcPts val="0"/>
              </a:spcAft>
              <a:buClr>
                <a:schemeClr val="dk1"/>
              </a:buClr>
              <a:buSzPts val="700"/>
              <a:buFont typeface="Arial"/>
              <a:buNone/>
            </a:pPr>
            <a:r>
              <a:rPr b="1" lang="en-US" sz="1000">
                <a:solidFill>
                  <a:srgbClr val="7B7F8B"/>
                </a:solidFill>
                <a:latin typeface="Courier New"/>
                <a:ea typeface="Courier New"/>
                <a:cs typeface="Courier New"/>
                <a:sym typeface="Courier New"/>
              </a:rPr>
              <a:t>// SensorServer.java</a:t>
            </a:r>
            <a:endParaRPr b="1" sz="1000">
              <a:solidFill>
                <a:srgbClr val="7B7F8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286C4"/>
                </a:solidFill>
                <a:latin typeface="Courier New"/>
                <a:ea typeface="Courier New"/>
                <a:cs typeface="Courier New"/>
                <a:sym typeface="Courier New"/>
              </a:rPr>
              <a:t>import</a:t>
            </a:r>
            <a:r>
              <a:rPr b="1" lang="en-US" sz="1000">
                <a:solidFill>
                  <a:srgbClr val="F6F6F4"/>
                </a:solidFill>
                <a:latin typeface="Courier New"/>
                <a:ea typeface="Courier New"/>
                <a:cs typeface="Courier New"/>
                <a:sym typeface="Courier New"/>
              </a:rPr>
              <a:t> java.io.</a:t>
            </a:r>
            <a:r>
              <a:rPr b="1" i="1" lang="en-US" sz="1000">
                <a:solidFill>
                  <a:srgbClr val="BF9EEE"/>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286C4"/>
                </a:solidFill>
                <a:latin typeface="Courier New"/>
                <a:ea typeface="Courier New"/>
                <a:cs typeface="Courier New"/>
                <a:sym typeface="Courier New"/>
              </a:rPr>
              <a:t>import</a:t>
            </a:r>
            <a:r>
              <a:rPr b="1" lang="en-US" sz="1000">
                <a:solidFill>
                  <a:srgbClr val="F6F6F4"/>
                </a:solidFill>
                <a:latin typeface="Courier New"/>
                <a:ea typeface="Courier New"/>
                <a:cs typeface="Courier New"/>
                <a:sym typeface="Courier New"/>
              </a:rPr>
              <a:t> java.net.</a:t>
            </a:r>
            <a:r>
              <a:rPr b="1" i="1" lang="en-US" sz="1000">
                <a:solidFill>
                  <a:srgbClr val="BF9EEE"/>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286C4"/>
                </a:solidFill>
                <a:latin typeface="Courier New"/>
                <a:ea typeface="Courier New"/>
                <a:cs typeface="Courier New"/>
                <a:sym typeface="Courier New"/>
              </a:rPr>
              <a:t>public</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class</a:t>
            </a: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SensorServer</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public</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static</a:t>
            </a:r>
            <a:r>
              <a:rPr b="1" lang="en-US" sz="1000">
                <a:solidFill>
                  <a:srgbClr val="F6F6F4"/>
                </a:solidFill>
                <a:latin typeface="Courier New"/>
                <a:ea typeface="Courier New"/>
                <a:cs typeface="Courier New"/>
                <a:sym typeface="Courier New"/>
              </a:rPr>
              <a:t> </a:t>
            </a:r>
            <a:r>
              <a:rPr b="1" i="1" lang="en-US" sz="1000">
                <a:solidFill>
                  <a:srgbClr val="97E1F1"/>
                </a:solidFill>
                <a:latin typeface="Courier New"/>
                <a:ea typeface="Courier New"/>
                <a:cs typeface="Courier New"/>
                <a:sym typeface="Courier New"/>
              </a:rPr>
              <a:t>void</a:t>
            </a:r>
            <a:r>
              <a:rPr b="1" lang="en-US" sz="1000">
                <a:solidFill>
                  <a:srgbClr val="F6F6F4"/>
                </a:solidFill>
                <a:latin typeface="Courier New"/>
                <a:ea typeface="Courier New"/>
                <a:cs typeface="Courier New"/>
                <a:sym typeface="Courier New"/>
              </a:rPr>
              <a:t> </a:t>
            </a:r>
            <a:r>
              <a:rPr b="1" lang="en-US" sz="1000">
                <a:solidFill>
                  <a:srgbClr val="62E884"/>
                </a:solidFill>
                <a:latin typeface="Courier New"/>
                <a:ea typeface="Courier New"/>
                <a:cs typeface="Courier New"/>
                <a:sym typeface="Courier New"/>
              </a:rPr>
              <a:t>main</a:t>
            </a:r>
            <a:r>
              <a:rPr b="1" lang="en-US" sz="1000">
                <a:solidFill>
                  <a:srgbClr val="F6F6F4"/>
                </a:solidFill>
                <a:latin typeface="Courier New"/>
                <a:ea typeface="Courier New"/>
                <a:cs typeface="Courier New"/>
                <a:sym typeface="Courier New"/>
              </a:rPr>
              <a:t>(</a:t>
            </a:r>
            <a:r>
              <a:rPr b="1" lang="en-US" sz="1000">
                <a:solidFill>
                  <a:srgbClr val="97E1F1"/>
                </a:solidFill>
                <a:latin typeface="Courier New"/>
                <a:ea typeface="Courier New"/>
                <a:cs typeface="Courier New"/>
                <a:sym typeface="Courier New"/>
              </a:rPr>
              <a:t>String</a:t>
            </a:r>
            <a:r>
              <a:rPr b="1" lang="en-US" sz="1000">
                <a:solidFill>
                  <a:srgbClr val="F6F6F4"/>
                </a:solidFill>
                <a:latin typeface="Courier New"/>
                <a:ea typeface="Courier New"/>
                <a:cs typeface="Courier New"/>
                <a:sym typeface="Courier New"/>
              </a:rPr>
              <a:t>[] </a:t>
            </a:r>
            <a:r>
              <a:rPr b="1" i="1" lang="en-US" sz="1000">
                <a:solidFill>
                  <a:srgbClr val="FFB86C"/>
                </a:solidFill>
                <a:latin typeface="Courier New"/>
                <a:ea typeface="Courier New"/>
                <a:cs typeface="Courier New"/>
                <a:sym typeface="Courier New"/>
              </a:rPr>
              <a:t>args</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i="1" lang="en-US" sz="1000">
                <a:solidFill>
                  <a:srgbClr val="97E1F1"/>
                </a:solidFill>
                <a:latin typeface="Courier New"/>
                <a:ea typeface="Courier New"/>
                <a:cs typeface="Courier New"/>
                <a:sym typeface="Courier New"/>
              </a:rPr>
              <a:t>int</a:t>
            </a:r>
            <a:r>
              <a:rPr b="1" lang="en-US" sz="1000">
                <a:solidFill>
                  <a:srgbClr val="F6F6F4"/>
                </a:solidFill>
                <a:latin typeface="Courier New"/>
                <a:ea typeface="Courier New"/>
                <a:cs typeface="Courier New"/>
                <a:sym typeface="Courier New"/>
              </a:rPr>
              <a:t> port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12345</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try</a:t>
            </a: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ServerSocket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serverSocket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new</a:t>
            </a:r>
            <a:r>
              <a:rPr b="1" lang="en-US" sz="1000">
                <a:solidFill>
                  <a:srgbClr val="F6F6F4"/>
                </a:solidFill>
                <a:latin typeface="Courier New"/>
                <a:ea typeface="Courier New"/>
                <a:cs typeface="Courier New"/>
                <a:sym typeface="Courier New"/>
              </a:rPr>
              <a:t> </a:t>
            </a:r>
            <a:r>
              <a:rPr b="1" lang="en-US" sz="1000">
                <a:solidFill>
                  <a:srgbClr val="62E884"/>
                </a:solidFill>
                <a:latin typeface="Courier New"/>
                <a:ea typeface="Courier New"/>
                <a:cs typeface="Courier New"/>
                <a:sym typeface="Courier New"/>
              </a:rPr>
              <a:t>ServerSocket</a:t>
            </a:r>
            <a:r>
              <a:rPr b="1" lang="en-US" sz="1000">
                <a:solidFill>
                  <a:srgbClr val="F6F6F4"/>
                </a:solidFill>
                <a:latin typeface="Courier New"/>
                <a:ea typeface="Courier New"/>
                <a:cs typeface="Courier New"/>
                <a:sym typeface="Courier New"/>
              </a:rPr>
              <a:t>(port))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out</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Server đang lắng nghe trên cổng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port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while</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true</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Socket</a:t>
            </a:r>
            <a:r>
              <a:rPr b="1" lang="en-US" sz="1000">
                <a:solidFill>
                  <a:srgbClr val="F6F6F4"/>
                </a:solidFill>
                <a:latin typeface="Courier New"/>
                <a:ea typeface="Courier New"/>
                <a:cs typeface="Courier New"/>
                <a:sym typeface="Courier New"/>
              </a:rPr>
              <a:t> clientSocket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serverSocket</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accept</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out</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Kết nối mới từ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clientSocket.</a:t>
            </a:r>
            <a:r>
              <a:rPr b="1" lang="en-US" sz="1000">
                <a:solidFill>
                  <a:srgbClr val="62E884"/>
                </a:solidFill>
                <a:latin typeface="Courier New"/>
                <a:ea typeface="Courier New"/>
                <a:cs typeface="Courier New"/>
                <a:sym typeface="Courier New"/>
              </a:rPr>
              <a:t>getInetAddress</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new</a:t>
            </a:r>
            <a:r>
              <a:rPr b="1" lang="en-US" sz="1000">
                <a:solidFill>
                  <a:srgbClr val="F6F6F4"/>
                </a:solidFill>
                <a:latin typeface="Courier New"/>
                <a:ea typeface="Courier New"/>
                <a:cs typeface="Courier New"/>
                <a:sym typeface="Courier New"/>
              </a:rPr>
              <a:t> </a:t>
            </a:r>
            <a:r>
              <a:rPr b="1" lang="en-US" sz="1000">
                <a:solidFill>
                  <a:srgbClr val="62E884"/>
                </a:solidFill>
                <a:latin typeface="Courier New"/>
                <a:ea typeface="Courier New"/>
                <a:cs typeface="Courier New"/>
                <a:sym typeface="Courier New"/>
              </a:rPr>
              <a:t>Thread</a:t>
            </a:r>
            <a:r>
              <a:rPr b="1" lang="en-US" sz="1000">
                <a:solidFill>
                  <a:srgbClr val="F6F6F4"/>
                </a:solidFill>
                <a:latin typeface="Courier New"/>
                <a:ea typeface="Courier New"/>
                <a:cs typeface="Courier New"/>
                <a:sym typeface="Courier New"/>
              </a:rPr>
              <a:t>(() </a:t>
            </a:r>
            <a:r>
              <a:rPr b="1" i="1" lang="en-US" sz="1000">
                <a:solidFill>
                  <a:srgbClr val="97E1F1"/>
                </a:solidFill>
                <a:latin typeface="Courier New"/>
                <a:ea typeface="Courier New"/>
                <a:cs typeface="Courier New"/>
                <a:sym typeface="Courier New"/>
              </a:rPr>
              <a:t>-&gt;</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try</a:t>
            </a: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BufferedReader</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in</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new</a:t>
            </a:r>
            <a:r>
              <a:rPr b="1" lang="en-US" sz="1000">
                <a:solidFill>
                  <a:srgbClr val="F6F6F4"/>
                </a:solidFill>
                <a:latin typeface="Courier New"/>
                <a:ea typeface="Courier New"/>
                <a:cs typeface="Courier New"/>
                <a:sym typeface="Courier New"/>
              </a:rPr>
              <a:t> </a:t>
            </a:r>
            <a:r>
              <a:rPr b="1" lang="en-US" sz="1000">
                <a:solidFill>
                  <a:srgbClr val="62E884"/>
                </a:solidFill>
                <a:latin typeface="Courier New"/>
                <a:ea typeface="Courier New"/>
                <a:cs typeface="Courier New"/>
                <a:sym typeface="Courier New"/>
              </a:rPr>
              <a:t>BufferedReader</a:t>
            </a:r>
            <a:r>
              <a:rPr b="1" lang="en-US" sz="1000">
                <a:solidFill>
                  <a:srgbClr val="F6F6F4"/>
                </a:solidFill>
                <a:latin typeface="Courier New"/>
                <a:ea typeface="Courier New"/>
                <a:cs typeface="Courier New"/>
                <a:sym typeface="Courier New"/>
              </a:rPr>
              <a:t>(</a:t>
            </a:r>
            <a:r>
              <a:rPr b="1" lang="en-US" sz="1000">
                <a:solidFill>
                  <a:srgbClr val="F286C4"/>
                </a:solidFill>
                <a:latin typeface="Courier New"/>
                <a:ea typeface="Courier New"/>
                <a:cs typeface="Courier New"/>
                <a:sym typeface="Courier New"/>
              </a:rPr>
              <a:t>new</a:t>
            </a:r>
            <a:r>
              <a:rPr b="1" lang="en-US" sz="1000">
                <a:solidFill>
                  <a:srgbClr val="F6F6F4"/>
                </a:solidFill>
                <a:latin typeface="Courier New"/>
                <a:ea typeface="Courier New"/>
                <a:cs typeface="Courier New"/>
                <a:sym typeface="Courier New"/>
              </a:rPr>
              <a:t> </a:t>
            </a:r>
            <a:r>
              <a:rPr b="1" lang="en-US" sz="1000">
                <a:solidFill>
                  <a:srgbClr val="62E884"/>
                </a:solidFill>
                <a:latin typeface="Courier New"/>
                <a:ea typeface="Courier New"/>
                <a:cs typeface="Courier New"/>
                <a:sym typeface="Courier New"/>
              </a:rPr>
              <a:t>InputStreamReader</a:t>
            </a:r>
            <a:r>
              <a:rPr b="1" lang="en-US" sz="1000">
                <a:solidFill>
                  <a:srgbClr val="F6F6F4"/>
                </a:solidFill>
                <a:latin typeface="Courier New"/>
                <a:ea typeface="Courier New"/>
                <a:cs typeface="Courier New"/>
                <a:sym typeface="Courier New"/>
              </a:rPr>
              <a:t>(clientSocket.</a:t>
            </a:r>
            <a:r>
              <a:rPr b="1" lang="en-US" sz="1000">
                <a:solidFill>
                  <a:srgbClr val="62E884"/>
                </a:solidFill>
                <a:latin typeface="Courier New"/>
                <a:ea typeface="Courier New"/>
                <a:cs typeface="Courier New"/>
                <a:sym typeface="Courier New"/>
              </a:rPr>
              <a:t>getInputStream</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String</a:t>
            </a:r>
            <a:r>
              <a:rPr b="1" lang="en-US" sz="1000">
                <a:solidFill>
                  <a:srgbClr val="F6F6F4"/>
                </a:solidFill>
                <a:latin typeface="Courier New"/>
                <a:ea typeface="Courier New"/>
                <a:cs typeface="Courier New"/>
                <a:sym typeface="Courier New"/>
              </a:rPr>
              <a:t> input;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while</a:t>
            </a:r>
            <a:r>
              <a:rPr b="1" lang="en-US" sz="1000">
                <a:solidFill>
                  <a:srgbClr val="F6F6F4"/>
                </a:solidFill>
                <a:latin typeface="Courier New"/>
                <a:ea typeface="Courier New"/>
                <a:cs typeface="Courier New"/>
                <a:sym typeface="Courier New"/>
              </a:rPr>
              <a:t> ((input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in</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readLine</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null</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out</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Nhận: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input);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62E884"/>
                </a:solidFill>
                <a:latin typeface="Courier New"/>
                <a:ea typeface="Courier New"/>
                <a:cs typeface="Courier New"/>
                <a:sym typeface="Courier New"/>
              </a:rPr>
              <a:t>checkWarning</a:t>
            </a:r>
            <a:r>
              <a:rPr b="1" lang="en-US" sz="1000">
                <a:solidFill>
                  <a:srgbClr val="F6F6F4"/>
                </a:solidFill>
                <a:latin typeface="Courier New"/>
                <a:ea typeface="Courier New"/>
                <a:cs typeface="Courier New"/>
                <a:sym typeface="Courier New"/>
              </a:rPr>
              <a:t>(input);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 </a:t>
            </a:r>
            <a:r>
              <a:rPr b="1" lang="en-US" sz="1000">
                <a:solidFill>
                  <a:srgbClr val="F286C4"/>
                </a:solidFill>
                <a:latin typeface="Courier New"/>
                <a:ea typeface="Courier New"/>
                <a:cs typeface="Courier New"/>
                <a:sym typeface="Courier New"/>
              </a:rPr>
              <a:t>catch</a:t>
            </a: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IOException</a:t>
            </a:r>
            <a:r>
              <a:rPr b="1" lang="en-US" sz="1000">
                <a:solidFill>
                  <a:srgbClr val="F6F6F4"/>
                </a:solidFill>
                <a:latin typeface="Courier New"/>
                <a:ea typeface="Courier New"/>
                <a:cs typeface="Courier New"/>
                <a:sym typeface="Courier New"/>
              </a:rPr>
              <a:t> </a:t>
            </a:r>
            <a:r>
              <a:rPr b="1" i="1" lang="en-US" sz="1000">
                <a:solidFill>
                  <a:srgbClr val="F6F6F4"/>
                </a:solidFill>
                <a:latin typeface="Courier New"/>
                <a:ea typeface="Courier New"/>
                <a:cs typeface="Courier New"/>
                <a:sym typeface="Courier New"/>
              </a:rPr>
              <a:t>e</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err</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Lỗi đọc dữ liệu: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e.</a:t>
            </a:r>
            <a:r>
              <a:rPr b="1" lang="en-US" sz="1000">
                <a:solidFill>
                  <a:srgbClr val="62E884"/>
                </a:solidFill>
                <a:latin typeface="Courier New"/>
                <a:ea typeface="Courier New"/>
                <a:cs typeface="Courier New"/>
                <a:sym typeface="Courier New"/>
              </a:rPr>
              <a:t>getMessage</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62E884"/>
                </a:solidFill>
                <a:latin typeface="Courier New"/>
                <a:ea typeface="Courier New"/>
                <a:cs typeface="Courier New"/>
                <a:sym typeface="Courier New"/>
              </a:rPr>
              <a:t>start</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 </a:t>
            </a:r>
            <a:r>
              <a:rPr b="1" lang="en-US" sz="1000">
                <a:solidFill>
                  <a:srgbClr val="F286C4"/>
                </a:solidFill>
                <a:latin typeface="Courier New"/>
                <a:ea typeface="Courier New"/>
                <a:cs typeface="Courier New"/>
                <a:sym typeface="Courier New"/>
              </a:rPr>
              <a:t>catch</a:t>
            </a: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IOException</a:t>
            </a:r>
            <a:r>
              <a:rPr b="1" lang="en-US" sz="1000">
                <a:solidFill>
                  <a:srgbClr val="F6F6F4"/>
                </a:solidFill>
                <a:latin typeface="Courier New"/>
                <a:ea typeface="Courier New"/>
                <a:cs typeface="Courier New"/>
                <a:sym typeface="Courier New"/>
              </a:rPr>
              <a:t> </a:t>
            </a:r>
            <a:r>
              <a:rPr b="1" i="1" lang="en-US" sz="1000">
                <a:solidFill>
                  <a:srgbClr val="F6F6F4"/>
                </a:solidFill>
                <a:latin typeface="Courier New"/>
                <a:ea typeface="Courier New"/>
                <a:cs typeface="Courier New"/>
                <a:sym typeface="Courier New"/>
              </a:rPr>
              <a:t>e</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err</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Server lỗi: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e.</a:t>
            </a:r>
            <a:r>
              <a:rPr b="1" lang="en-US" sz="1000">
                <a:solidFill>
                  <a:srgbClr val="62E884"/>
                </a:solidFill>
                <a:latin typeface="Courier New"/>
                <a:ea typeface="Courier New"/>
                <a:cs typeface="Courier New"/>
                <a:sym typeface="Courier New"/>
              </a:rPr>
              <a:t>getMessage</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sz="1300">
              <a:solidFill>
                <a:srgbClr val="0000FF"/>
              </a:solidFill>
              <a:latin typeface="Courier New"/>
              <a:ea typeface="Courier New"/>
              <a:cs typeface="Courier New"/>
              <a:sym typeface="Courier New"/>
            </a:endParaRPr>
          </a:p>
        </p:txBody>
      </p:sp>
      <p:sp>
        <p:nvSpPr>
          <p:cNvPr id="513" name="Google Shape;513;p62"/>
          <p:cNvSpPr txBox="1"/>
          <p:nvPr/>
        </p:nvSpPr>
        <p:spPr>
          <a:xfrm>
            <a:off x="5825450" y="0"/>
            <a:ext cx="6251100" cy="65967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7B7F8B"/>
                </a:solidFill>
                <a:latin typeface="Courier New"/>
                <a:ea typeface="Courier New"/>
                <a:cs typeface="Courier New"/>
                <a:sym typeface="Courier New"/>
              </a:rPr>
              <a:t>// ⚠️ Kiểm tra ngưỡng và in cảnh báo nếu vượt</a:t>
            </a:r>
            <a:endParaRPr b="1" sz="1000">
              <a:solidFill>
                <a:srgbClr val="7B7F8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private</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static</a:t>
            </a:r>
            <a:r>
              <a:rPr b="1" lang="en-US" sz="1000">
                <a:solidFill>
                  <a:srgbClr val="F6F6F4"/>
                </a:solidFill>
                <a:latin typeface="Courier New"/>
                <a:ea typeface="Courier New"/>
                <a:cs typeface="Courier New"/>
                <a:sym typeface="Courier New"/>
              </a:rPr>
              <a:t> </a:t>
            </a:r>
            <a:r>
              <a:rPr b="1" i="1" lang="en-US" sz="1000">
                <a:solidFill>
                  <a:srgbClr val="97E1F1"/>
                </a:solidFill>
                <a:latin typeface="Courier New"/>
                <a:ea typeface="Courier New"/>
                <a:cs typeface="Courier New"/>
                <a:sym typeface="Courier New"/>
              </a:rPr>
              <a:t>void</a:t>
            </a:r>
            <a:r>
              <a:rPr b="1" lang="en-US" sz="1000">
                <a:solidFill>
                  <a:srgbClr val="F6F6F4"/>
                </a:solidFill>
                <a:latin typeface="Courier New"/>
                <a:ea typeface="Courier New"/>
                <a:cs typeface="Courier New"/>
                <a:sym typeface="Courier New"/>
              </a:rPr>
              <a:t> </a:t>
            </a:r>
            <a:r>
              <a:rPr b="1" lang="en-US" sz="1000">
                <a:solidFill>
                  <a:srgbClr val="62E884"/>
                </a:solidFill>
                <a:latin typeface="Courier New"/>
                <a:ea typeface="Courier New"/>
                <a:cs typeface="Courier New"/>
                <a:sym typeface="Courier New"/>
              </a:rPr>
              <a:t>checkWarning</a:t>
            </a:r>
            <a:r>
              <a:rPr b="1" lang="en-US" sz="1000">
                <a:solidFill>
                  <a:srgbClr val="F6F6F4"/>
                </a:solidFill>
                <a:latin typeface="Courier New"/>
                <a:ea typeface="Courier New"/>
                <a:cs typeface="Courier New"/>
                <a:sym typeface="Courier New"/>
              </a:rPr>
              <a:t>(</a:t>
            </a:r>
            <a:r>
              <a:rPr b="1" lang="en-US" sz="1000">
                <a:solidFill>
                  <a:srgbClr val="97E1F1"/>
                </a:solidFill>
                <a:latin typeface="Courier New"/>
                <a:ea typeface="Courier New"/>
                <a:cs typeface="Courier New"/>
                <a:sym typeface="Courier New"/>
              </a:rPr>
              <a:t>String</a:t>
            </a:r>
            <a:r>
              <a:rPr b="1" lang="en-US" sz="1000">
                <a:solidFill>
                  <a:srgbClr val="F6F6F4"/>
                </a:solidFill>
                <a:latin typeface="Courier New"/>
                <a:ea typeface="Courier New"/>
                <a:cs typeface="Courier New"/>
                <a:sym typeface="Courier New"/>
              </a:rPr>
              <a:t> </a:t>
            </a:r>
            <a:r>
              <a:rPr b="1" i="1" lang="en-US" sz="1000">
                <a:solidFill>
                  <a:srgbClr val="FFB86C"/>
                </a:solidFill>
                <a:latin typeface="Courier New"/>
                <a:ea typeface="Courier New"/>
                <a:cs typeface="Courier New"/>
                <a:sym typeface="Courier New"/>
              </a:rPr>
              <a:t>message</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try</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7B7F8B"/>
                </a:solidFill>
                <a:latin typeface="Courier New"/>
                <a:ea typeface="Courier New"/>
                <a:cs typeface="Courier New"/>
                <a:sym typeface="Courier New"/>
              </a:rPr>
              <a:t>// Format: [Client][SensorType][SensorID] = value</a:t>
            </a:r>
            <a:endParaRPr b="1" sz="1000">
              <a:solidFill>
                <a:srgbClr val="7B7F8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String</a:t>
            </a:r>
            <a:r>
              <a:rPr b="1" lang="en-US" sz="1000">
                <a:solidFill>
                  <a:srgbClr val="F6F6F4"/>
                </a:solidFill>
                <a:latin typeface="Courier New"/>
                <a:ea typeface="Courier New"/>
                <a:cs typeface="Courier New"/>
                <a:sym typeface="Courier New"/>
              </a:rPr>
              <a:t>[] parts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i="1" lang="en-US" sz="1000">
                <a:solidFill>
                  <a:srgbClr val="FFB86C"/>
                </a:solidFill>
                <a:latin typeface="Courier New"/>
                <a:ea typeface="Courier New"/>
                <a:cs typeface="Courier New"/>
                <a:sym typeface="Courier New"/>
              </a:rPr>
              <a:t>message</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split</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if</a:t>
            </a:r>
            <a:r>
              <a:rPr b="1" lang="en-US" sz="1000">
                <a:solidFill>
                  <a:srgbClr val="F6F6F4"/>
                </a:solidFill>
                <a:latin typeface="Courier New"/>
                <a:ea typeface="Courier New"/>
                <a:cs typeface="Courier New"/>
                <a:sym typeface="Courier New"/>
              </a:rPr>
              <a:t> (parts.</a:t>
            </a:r>
            <a:r>
              <a:rPr b="1" lang="en-US" sz="1000">
                <a:solidFill>
                  <a:srgbClr val="BF9EEE"/>
                </a:solidFill>
                <a:latin typeface="Courier New"/>
                <a:ea typeface="Courier New"/>
                <a:cs typeface="Courier New"/>
                <a:sym typeface="Courier New"/>
              </a:rPr>
              <a:t>length</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&lt;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2</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return</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String</a:t>
            </a:r>
            <a:r>
              <a:rPr b="1" lang="en-US" sz="1000">
                <a:solidFill>
                  <a:srgbClr val="F6F6F4"/>
                </a:solidFill>
                <a:latin typeface="Courier New"/>
                <a:ea typeface="Courier New"/>
                <a:cs typeface="Courier New"/>
                <a:sym typeface="Courier New"/>
              </a:rPr>
              <a:t> metadata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parts[</a:t>
            </a:r>
            <a:r>
              <a:rPr b="1" lang="en-US" sz="1000">
                <a:solidFill>
                  <a:srgbClr val="BF9EEE"/>
                </a:solidFill>
                <a:latin typeface="Courier New"/>
                <a:ea typeface="Courier New"/>
                <a:cs typeface="Courier New"/>
                <a:sym typeface="Courier New"/>
              </a:rPr>
              <a:t>0</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i="1" lang="en-US" sz="1000">
                <a:solidFill>
                  <a:srgbClr val="97E1F1"/>
                </a:solidFill>
                <a:latin typeface="Courier New"/>
                <a:ea typeface="Courier New"/>
                <a:cs typeface="Courier New"/>
                <a:sym typeface="Courier New"/>
              </a:rPr>
              <a:t>int</a:t>
            </a:r>
            <a:r>
              <a:rPr b="1" lang="en-US" sz="1000">
                <a:solidFill>
                  <a:srgbClr val="F6F6F4"/>
                </a:solidFill>
                <a:latin typeface="Courier New"/>
                <a:ea typeface="Courier New"/>
                <a:cs typeface="Courier New"/>
                <a:sym typeface="Courier New"/>
              </a:rPr>
              <a:t> value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Integer</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parseInt</a:t>
            </a:r>
            <a:r>
              <a:rPr b="1" lang="en-US" sz="1000">
                <a:solidFill>
                  <a:srgbClr val="F6F6F4"/>
                </a:solidFill>
                <a:latin typeface="Courier New"/>
                <a:ea typeface="Courier New"/>
                <a:cs typeface="Courier New"/>
                <a:sym typeface="Courier New"/>
              </a:rPr>
              <a:t>(parts[</a:t>
            </a:r>
            <a:r>
              <a:rPr b="1" lang="en-US" sz="1000">
                <a:solidFill>
                  <a:srgbClr val="BF9EEE"/>
                </a:solidFill>
                <a:latin typeface="Courier New"/>
                <a:ea typeface="Courier New"/>
                <a:cs typeface="Courier New"/>
                <a:sym typeface="Courier New"/>
              </a:rPr>
              <a:t>1</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if</a:t>
            </a:r>
            <a:r>
              <a:rPr b="1" lang="en-US" sz="1000">
                <a:solidFill>
                  <a:srgbClr val="F6F6F4"/>
                </a:solidFill>
                <a:latin typeface="Courier New"/>
                <a:ea typeface="Courier New"/>
                <a:cs typeface="Courier New"/>
                <a:sym typeface="Courier New"/>
              </a:rPr>
              <a:t> (metadata.</a:t>
            </a:r>
            <a:r>
              <a:rPr b="1" lang="en-US" sz="1000">
                <a:solidFill>
                  <a:srgbClr val="62E884"/>
                </a:solidFill>
                <a:latin typeface="Courier New"/>
                <a:ea typeface="Courier New"/>
                <a:cs typeface="Courier New"/>
                <a:sym typeface="Courier New"/>
              </a:rPr>
              <a:t>contains</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LM35</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&amp;&amp;</a:t>
            </a:r>
            <a:r>
              <a:rPr b="1" lang="en-US" sz="1000">
                <a:solidFill>
                  <a:srgbClr val="F6F6F4"/>
                </a:solidFill>
                <a:latin typeface="Courier New"/>
                <a:ea typeface="Courier New"/>
                <a:cs typeface="Courier New"/>
                <a:sym typeface="Courier New"/>
              </a:rPr>
              <a:t> value </a:t>
            </a:r>
            <a:r>
              <a:rPr b="1" lang="en-US" sz="1000">
                <a:solidFill>
                  <a:srgbClr val="F286C4"/>
                </a:solidFill>
                <a:latin typeface="Courier New"/>
                <a:ea typeface="Courier New"/>
                <a:cs typeface="Courier New"/>
                <a:sym typeface="Courier New"/>
              </a:rPr>
              <a:t>&gt;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35</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out</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CẢNH BÁO NHIỆT ĐỘ CAO: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metadata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value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°C</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 </a:t>
            </a:r>
            <a:r>
              <a:rPr b="1" lang="en-US" sz="1000">
                <a:solidFill>
                  <a:srgbClr val="F286C4"/>
                </a:solidFill>
                <a:latin typeface="Courier New"/>
                <a:ea typeface="Courier New"/>
                <a:cs typeface="Courier New"/>
                <a:sym typeface="Courier New"/>
              </a:rPr>
              <a:t>else</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if</a:t>
            </a:r>
            <a:r>
              <a:rPr b="1" lang="en-US" sz="1000">
                <a:solidFill>
                  <a:srgbClr val="F6F6F4"/>
                </a:solidFill>
                <a:latin typeface="Courier New"/>
                <a:ea typeface="Courier New"/>
                <a:cs typeface="Courier New"/>
                <a:sym typeface="Courier New"/>
              </a:rPr>
              <a:t> (metadata.</a:t>
            </a:r>
            <a:r>
              <a:rPr b="1" lang="en-US" sz="1000">
                <a:solidFill>
                  <a:srgbClr val="62E884"/>
                </a:solidFill>
                <a:latin typeface="Courier New"/>
                <a:ea typeface="Courier New"/>
                <a:cs typeface="Courier New"/>
                <a:sym typeface="Courier New"/>
              </a:rPr>
              <a:t>contains</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MQ2</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&amp;&amp;</a:t>
            </a:r>
            <a:r>
              <a:rPr b="1" lang="en-US" sz="1000">
                <a:solidFill>
                  <a:srgbClr val="F6F6F4"/>
                </a:solidFill>
                <a:latin typeface="Courier New"/>
                <a:ea typeface="Courier New"/>
                <a:cs typeface="Courier New"/>
                <a:sym typeface="Courier New"/>
              </a:rPr>
              <a:t> value </a:t>
            </a:r>
            <a:r>
              <a:rPr b="1" lang="en-US" sz="1000">
                <a:solidFill>
                  <a:srgbClr val="F286C4"/>
                </a:solidFill>
                <a:latin typeface="Courier New"/>
                <a:ea typeface="Courier New"/>
                <a:cs typeface="Courier New"/>
                <a:sym typeface="Courier New"/>
              </a:rPr>
              <a:t>&gt;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80</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out</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CẢNH BÁO KHÍ GAS CAO: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metadata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value);</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 </a:t>
            </a:r>
            <a:r>
              <a:rPr b="1" lang="en-US" sz="1000">
                <a:solidFill>
                  <a:srgbClr val="F286C4"/>
                </a:solidFill>
                <a:latin typeface="Courier New"/>
                <a:ea typeface="Courier New"/>
                <a:cs typeface="Courier New"/>
                <a:sym typeface="Courier New"/>
              </a:rPr>
              <a:t>else</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if</a:t>
            </a:r>
            <a:r>
              <a:rPr b="1" lang="en-US" sz="1000">
                <a:solidFill>
                  <a:srgbClr val="F6F6F4"/>
                </a:solidFill>
                <a:latin typeface="Courier New"/>
                <a:ea typeface="Courier New"/>
                <a:cs typeface="Courier New"/>
                <a:sym typeface="Courier New"/>
              </a:rPr>
              <a:t> (metadata.</a:t>
            </a:r>
            <a:r>
              <a:rPr b="1" lang="en-US" sz="1000">
                <a:solidFill>
                  <a:srgbClr val="62E884"/>
                </a:solidFill>
                <a:latin typeface="Courier New"/>
                <a:ea typeface="Courier New"/>
                <a:cs typeface="Courier New"/>
                <a:sym typeface="Courier New"/>
              </a:rPr>
              <a:t>contains</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MQ135</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&amp;&amp;</a:t>
            </a:r>
            <a:r>
              <a:rPr b="1" lang="en-US" sz="1000">
                <a:solidFill>
                  <a:srgbClr val="F6F6F4"/>
                </a:solidFill>
                <a:latin typeface="Courier New"/>
                <a:ea typeface="Courier New"/>
                <a:cs typeface="Courier New"/>
                <a:sym typeface="Courier New"/>
              </a:rPr>
              <a:t> value </a:t>
            </a:r>
            <a:r>
              <a:rPr b="1" lang="en-US" sz="1000">
                <a:solidFill>
                  <a:srgbClr val="F286C4"/>
                </a:solidFill>
                <a:latin typeface="Courier New"/>
                <a:ea typeface="Courier New"/>
                <a:cs typeface="Courier New"/>
                <a:sym typeface="Courier New"/>
              </a:rPr>
              <a:t>&gt;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400</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out</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CẢNH BÁO Ô NHIỄM KHÔNG KHÍ: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metadata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value);</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 </a:t>
            </a:r>
            <a:r>
              <a:rPr b="1" lang="en-US" sz="1000">
                <a:solidFill>
                  <a:srgbClr val="F286C4"/>
                </a:solidFill>
                <a:latin typeface="Courier New"/>
                <a:ea typeface="Courier New"/>
                <a:cs typeface="Courier New"/>
                <a:sym typeface="Courier New"/>
              </a:rPr>
              <a:t>else</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if</a:t>
            </a:r>
            <a:r>
              <a:rPr b="1" lang="en-US" sz="1000">
                <a:solidFill>
                  <a:srgbClr val="F6F6F4"/>
                </a:solidFill>
                <a:latin typeface="Courier New"/>
                <a:ea typeface="Courier New"/>
                <a:cs typeface="Courier New"/>
                <a:sym typeface="Courier New"/>
              </a:rPr>
              <a:t> (metadata.</a:t>
            </a:r>
            <a:r>
              <a:rPr b="1" lang="en-US" sz="1000">
                <a:solidFill>
                  <a:srgbClr val="62E884"/>
                </a:solidFill>
                <a:latin typeface="Courier New"/>
                <a:ea typeface="Courier New"/>
                <a:cs typeface="Courier New"/>
                <a:sym typeface="Courier New"/>
              </a:rPr>
              <a:t>contains</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BH170</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&amp;&amp;</a:t>
            </a:r>
            <a:r>
              <a:rPr b="1" lang="en-US" sz="1000">
                <a:solidFill>
                  <a:srgbClr val="F6F6F4"/>
                </a:solidFill>
                <a:latin typeface="Courier New"/>
                <a:ea typeface="Courier New"/>
                <a:cs typeface="Courier New"/>
                <a:sym typeface="Courier New"/>
              </a:rPr>
              <a:t> value </a:t>
            </a:r>
            <a:r>
              <a:rPr b="1" lang="en-US" sz="1000">
                <a:solidFill>
                  <a:srgbClr val="F286C4"/>
                </a:solidFill>
                <a:latin typeface="Courier New"/>
                <a:ea typeface="Courier New"/>
                <a:cs typeface="Courier New"/>
                <a:sym typeface="Courier New"/>
              </a:rPr>
              <a:t>&gt;</a:t>
            </a:r>
            <a:r>
              <a:rPr b="1" lang="en-US" sz="1000">
                <a:solidFill>
                  <a:srgbClr val="F6F6F4"/>
                </a:solidFill>
                <a:latin typeface="Courier New"/>
                <a:ea typeface="Courier New"/>
                <a:cs typeface="Courier New"/>
                <a:sym typeface="Courier New"/>
              </a:rPr>
              <a:t> </a:t>
            </a:r>
            <a:r>
              <a:rPr b="1" lang="en-US" sz="1000">
                <a:solidFill>
                  <a:srgbClr val="BF9EEE"/>
                </a:solidFill>
                <a:latin typeface="Courier New"/>
                <a:ea typeface="Courier New"/>
                <a:cs typeface="Courier New"/>
                <a:sym typeface="Courier New"/>
              </a:rPr>
              <a:t>800</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out</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CẢNH BÁO ÁNH SÁNG MẠNH: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metadata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value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Lux</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 </a:t>
            </a:r>
            <a:r>
              <a:rPr b="1" lang="en-US" sz="1000">
                <a:solidFill>
                  <a:srgbClr val="F286C4"/>
                </a:solidFill>
                <a:latin typeface="Courier New"/>
                <a:ea typeface="Courier New"/>
                <a:cs typeface="Courier New"/>
                <a:sym typeface="Courier New"/>
              </a:rPr>
              <a:t>catch</a:t>
            </a: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Exception</a:t>
            </a:r>
            <a:r>
              <a:rPr b="1" lang="en-US" sz="1000">
                <a:solidFill>
                  <a:srgbClr val="F6F6F4"/>
                </a:solidFill>
                <a:latin typeface="Courier New"/>
                <a:ea typeface="Courier New"/>
                <a:cs typeface="Courier New"/>
                <a:sym typeface="Courier New"/>
              </a:rPr>
              <a:t> </a:t>
            </a:r>
            <a:r>
              <a:rPr b="1" i="1" lang="en-US" sz="1000">
                <a:solidFill>
                  <a:srgbClr val="F6F6F4"/>
                </a:solidFill>
                <a:latin typeface="Courier New"/>
                <a:ea typeface="Courier New"/>
                <a:cs typeface="Courier New"/>
                <a:sym typeface="Courier New"/>
              </a:rPr>
              <a:t>e</a:t>
            </a: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r>
              <a:rPr b="1" lang="en-US" sz="1000">
                <a:solidFill>
                  <a:srgbClr val="97E1F1"/>
                </a:solidFill>
                <a:latin typeface="Courier New"/>
                <a:ea typeface="Courier New"/>
                <a:cs typeface="Courier New"/>
                <a:sym typeface="Courier New"/>
              </a:rPr>
              <a:t>System</a:t>
            </a:r>
            <a:r>
              <a:rPr b="1" lang="en-US" sz="1000">
                <a:solidFill>
                  <a:srgbClr val="F6F6F4"/>
                </a:solidFill>
                <a:latin typeface="Courier New"/>
                <a:ea typeface="Courier New"/>
                <a:cs typeface="Courier New"/>
                <a:sym typeface="Courier New"/>
              </a:rPr>
              <a:t>.</a:t>
            </a:r>
            <a:r>
              <a:rPr b="1" lang="en-US" sz="1000">
                <a:solidFill>
                  <a:srgbClr val="BF9EEE"/>
                </a:solidFill>
                <a:latin typeface="Courier New"/>
                <a:ea typeface="Courier New"/>
                <a:cs typeface="Courier New"/>
                <a:sym typeface="Courier New"/>
              </a:rPr>
              <a:t>err</a:t>
            </a:r>
            <a:r>
              <a:rPr b="1" lang="en-US" sz="1000">
                <a:solidFill>
                  <a:srgbClr val="F6F6F4"/>
                </a:solidFill>
                <a:latin typeface="Courier New"/>
                <a:ea typeface="Courier New"/>
                <a:cs typeface="Courier New"/>
                <a:sym typeface="Courier New"/>
              </a:rPr>
              <a:t>.</a:t>
            </a:r>
            <a:r>
              <a:rPr b="1" lang="en-US" sz="1000">
                <a:solidFill>
                  <a:srgbClr val="62E884"/>
                </a:solidFill>
                <a:latin typeface="Courier New"/>
                <a:ea typeface="Courier New"/>
                <a:cs typeface="Courier New"/>
                <a:sym typeface="Courier New"/>
              </a:rPr>
              <a:t>println</a:t>
            </a:r>
            <a:r>
              <a:rPr b="1" lang="en-US" sz="1000">
                <a:solidFill>
                  <a:srgbClr val="F6F6F4"/>
                </a:solidFill>
                <a:latin typeface="Courier New"/>
                <a:ea typeface="Courier New"/>
                <a:cs typeface="Courier New"/>
                <a:sym typeface="Courier New"/>
              </a:rPr>
              <a:t>(</a:t>
            </a:r>
            <a:r>
              <a:rPr b="1" lang="en-US" sz="1000">
                <a:solidFill>
                  <a:srgbClr val="DEE492"/>
                </a:solidFill>
                <a:latin typeface="Courier New"/>
                <a:ea typeface="Courier New"/>
                <a:cs typeface="Courier New"/>
                <a:sym typeface="Courier New"/>
              </a:rPr>
              <a:t>"</a:t>
            </a:r>
            <a:r>
              <a:rPr b="1" lang="en-US" sz="1000">
                <a:solidFill>
                  <a:srgbClr val="E7EE98"/>
                </a:solidFill>
                <a:latin typeface="Courier New"/>
                <a:ea typeface="Courier New"/>
                <a:cs typeface="Courier New"/>
                <a:sym typeface="Courier New"/>
              </a:rPr>
              <a:t> Lỗi xử lý cảnh báo: </a:t>
            </a:r>
            <a:r>
              <a:rPr b="1" lang="en-US" sz="1000">
                <a:solidFill>
                  <a:srgbClr val="DEE492"/>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a:t>
            </a:r>
            <a:r>
              <a:rPr b="1" lang="en-US" sz="1000">
                <a:solidFill>
                  <a:srgbClr val="F286C4"/>
                </a:solidFill>
                <a:latin typeface="Courier New"/>
                <a:ea typeface="Courier New"/>
                <a:cs typeface="Courier New"/>
                <a:sym typeface="Courier New"/>
              </a:rPr>
              <a:t>+</a:t>
            </a:r>
            <a:r>
              <a:rPr b="1" lang="en-US" sz="1000">
                <a:solidFill>
                  <a:srgbClr val="F6F6F4"/>
                </a:solidFill>
                <a:latin typeface="Courier New"/>
                <a:ea typeface="Courier New"/>
                <a:cs typeface="Courier New"/>
                <a:sym typeface="Courier New"/>
              </a:rPr>
              <a:t> e.</a:t>
            </a:r>
            <a:r>
              <a:rPr b="1" lang="en-US" sz="1000">
                <a:solidFill>
                  <a:srgbClr val="62E884"/>
                </a:solidFill>
                <a:latin typeface="Courier New"/>
                <a:ea typeface="Courier New"/>
                <a:cs typeface="Courier New"/>
                <a:sym typeface="Courier New"/>
              </a:rPr>
              <a:t>getMessage</a:t>
            </a: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    }</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000">
                <a:solidFill>
                  <a:srgbClr val="F6F6F4"/>
                </a:solidFill>
                <a:latin typeface="Courier New"/>
                <a:ea typeface="Courier New"/>
                <a:cs typeface="Courier New"/>
                <a:sym typeface="Courier New"/>
              </a:rPr>
              <a:t>}</a:t>
            </a:r>
            <a:endParaRPr b="1" sz="10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000">
              <a:solidFill>
                <a:srgbClr val="F6F6F4"/>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rgbClr val="0000FF"/>
              </a:solidFill>
              <a:latin typeface="Courier New"/>
              <a:ea typeface="Courier New"/>
              <a:cs typeface="Courier New"/>
              <a:sym typeface="Courier New"/>
            </a:endParaRPr>
          </a:p>
        </p:txBody>
      </p:sp>
      <p:sp>
        <p:nvSpPr>
          <p:cNvPr id="514" name="Google Shape;514;p6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18" name="Shape 518"/>
        <p:cNvGrpSpPr/>
        <p:nvPr/>
      </p:nvGrpSpPr>
      <p:grpSpPr>
        <a:xfrm>
          <a:off x="0" y="0"/>
          <a:ext cx="0" cy="0"/>
          <a:chOff x="0" y="0"/>
          <a:chExt cx="0" cy="0"/>
        </a:xfrm>
      </p:grpSpPr>
      <p:sp>
        <p:nvSpPr>
          <p:cNvPr id="519" name="Google Shape;519;p63"/>
          <p:cNvSpPr txBox="1"/>
          <p:nvPr/>
        </p:nvSpPr>
        <p:spPr>
          <a:xfrm>
            <a:off x="10275050" y="108550"/>
            <a:ext cx="1526700" cy="3849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520" name="Google Shape;520;p63"/>
          <p:cNvSpPr txBox="1"/>
          <p:nvPr/>
        </p:nvSpPr>
        <p:spPr>
          <a:xfrm>
            <a:off x="0" y="0"/>
            <a:ext cx="6294900" cy="63723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b="1" lang="en-US" sz="800">
                <a:solidFill>
                  <a:srgbClr val="7B7F8B"/>
                </a:solidFill>
              </a:rPr>
              <a:t>// ClientI.java</a:t>
            </a:r>
            <a:endParaRPr b="1" sz="800">
              <a:solidFill>
                <a:srgbClr val="7B7F8B"/>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rPr>
              <a:t>import</a:t>
            </a:r>
            <a:r>
              <a:rPr b="1" lang="en-US" sz="800">
                <a:solidFill>
                  <a:srgbClr val="F6F6F4"/>
                </a:solidFill>
              </a:rPr>
              <a:t> java.io.</a:t>
            </a:r>
            <a:r>
              <a:rPr b="1" i="1" lang="en-US" sz="800">
                <a:solidFill>
                  <a:srgbClr val="BF9EEE"/>
                </a:solidFill>
              </a:rPr>
              <a:t>*</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rPr>
              <a:t>import</a:t>
            </a:r>
            <a:r>
              <a:rPr b="1" lang="en-US" sz="800">
                <a:solidFill>
                  <a:srgbClr val="F6F6F4"/>
                </a:solidFill>
              </a:rPr>
              <a:t> java.net.</a:t>
            </a:r>
            <a:r>
              <a:rPr b="1" i="1" lang="en-US" sz="800">
                <a:solidFill>
                  <a:srgbClr val="BF9EEE"/>
                </a:solidFill>
              </a:rPr>
              <a:t>*</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rPr>
              <a:t>import</a:t>
            </a:r>
            <a:r>
              <a:rPr b="1" lang="en-US" sz="800">
                <a:solidFill>
                  <a:srgbClr val="F6F6F4"/>
                </a:solidFill>
              </a:rPr>
              <a:t> java.util.</a:t>
            </a:r>
            <a:r>
              <a:rPr b="1" i="1" lang="en-US" sz="800">
                <a:solidFill>
                  <a:srgbClr val="BF9EEE"/>
                </a:solidFill>
              </a:rPr>
              <a:t>*</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rPr>
              <a:t>class</a:t>
            </a:r>
            <a:r>
              <a:rPr b="1" lang="en-US" sz="800">
                <a:solidFill>
                  <a:srgbClr val="F6F6F4"/>
                </a:solidFill>
              </a:rPr>
              <a:t> </a:t>
            </a:r>
            <a:r>
              <a:rPr b="1" lang="en-US" sz="800">
                <a:solidFill>
                  <a:srgbClr val="97E1F1"/>
                </a:solidFill>
              </a:rPr>
              <a:t>SensorWorker</a:t>
            </a:r>
            <a:r>
              <a:rPr b="1" lang="en-US" sz="800">
                <a:solidFill>
                  <a:srgbClr val="F6F6F4"/>
                </a:solidFill>
              </a:rPr>
              <a:t> </a:t>
            </a:r>
            <a:r>
              <a:rPr b="1" lang="en-US" sz="800">
                <a:solidFill>
                  <a:srgbClr val="F286C4"/>
                </a:solidFill>
              </a:rPr>
              <a:t>extends</a:t>
            </a:r>
            <a:r>
              <a:rPr b="1" lang="en-US" sz="800">
                <a:solidFill>
                  <a:srgbClr val="F6F6F4"/>
                </a:solidFill>
              </a:rPr>
              <a:t> </a:t>
            </a:r>
            <a:r>
              <a:rPr b="1" lang="en-US" sz="800">
                <a:solidFill>
                  <a:srgbClr val="97E1F1"/>
                </a:solidFill>
              </a:rPr>
              <a:t>Thread</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private</a:t>
            </a:r>
            <a:r>
              <a:rPr b="1" lang="en-US" sz="800">
                <a:solidFill>
                  <a:srgbClr val="F6F6F4"/>
                </a:solidFill>
              </a:rPr>
              <a:t> </a:t>
            </a:r>
            <a:r>
              <a:rPr b="1" lang="en-US" sz="800">
                <a:solidFill>
                  <a:srgbClr val="97E1F1"/>
                </a:solidFill>
              </a:rPr>
              <a:t>String</a:t>
            </a:r>
            <a:r>
              <a:rPr b="1" lang="en-US" sz="800">
                <a:solidFill>
                  <a:srgbClr val="F6F6F4"/>
                </a:solidFill>
              </a:rPr>
              <a:t> clientID;</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private</a:t>
            </a:r>
            <a:r>
              <a:rPr b="1" lang="en-US" sz="800">
                <a:solidFill>
                  <a:srgbClr val="F6F6F4"/>
                </a:solidFill>
              </a:rPr>
              <a:t> </a:t>
            </a:r>
            <a:r>
              <a:rPr b="1" lang="en-US" sz="800">
                <a:solidFill>
                  <a:srgbClr val="97E1F1"/>
                </a:solidFill>
              </a:rPr>
              <a:t>String</a:t>
            </a:r>
            <a:r>
              <a:rPr b="1" lang="en-US" sz="800">
                <a:solidFill>
                  <a:srgbClr val="F6F6F4"/>
                </a:solidFill>
              </a:rPr>
              <a:t> sensorType;</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private</a:t>
            </a:r>
            <a:r>
              <a:rPr b="1" lang="en-US" sz="800">
                <a:solidFill>
                  <a:srgbClr val="F6F6F4"/>
                </a:solidFill>
              </a:rPr>
              <a:t> </a:t>
            </a:r>
            <a:r>
              <a:rPr b="1" lang="en-US" sz="800">
                <a:solidFill>
                  <a:srgbClr val="97E1F1"/>
                </a:solidFill>
              </a:rPr>
              <a:t>String</a:t>
            </a:r>
            <a:r>
              <a:rPr b="1" lang="en-US" sz="800">
                <a:solidFill>
                  <a:srgbClr val="F6F6F4"/>
                </a:solidFill>
              </a:rPr>
              <a:t> sensorID;</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private</a:t>
            </a:r>
            <a:r>
              <a:rPr b="1" lang="en-US" sz="800">
                <a:solidFill>
                  <a:srgbClr val="F6F6F4"/>
                </a:solidFill>
              </a:rPr>
              <a:t> </a:t>
            </a:r>
            <a:r>
              <a:rPr b="1" i="1" lang="en-US" sz="800">
                <a:solidFill>
                  <a:srgbClr val="97E1F1"/>
                </a:solidFill>
              </a:rPr>
              <a:t>int</a:t>
            </a:r>
            <a:r>
              <a:rPr b="1" lang="en-US" sz="800">
                <a:solidFill>
                  <a:srgbClr val="F6F6F4"/>
                </a:solidFill>
              </a:rPr>
              <a:t> interval; </a:t>
            </a:r>
            <a:r>
              <a:rPr b="1" lang="en-US" sz="800">
                <a:solidFill>
                  <a:srgbClr val="7B7F8B"/>
                </a:solidFill>
              </a:rPr>
              <a:t>// chu kỳ đọc (ms)</a:t>
            </a:r>
            <a:endParaRPr b="1" sz="800">
              <a:solidFill>
                <a:srgbClr val="7B7F8B"/>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private</a:t>
            </a:r>
            <a:r>
              <a:rPr b="1" lang="en-US" sz="800">
                <a:solidFill>
                  <a:srgbClr val="F6F6F4"/>
                </a:solidFill>
              </a:rPr>
              <a:t> </a:t>
            </a:r>
            <a:r>
              <a:rPr b="1" lang="en-US" sz="800">
                <a:solidFill>
                  <a:srgbClr val="97E1F1"/>
                </a:solidFill>
              </a:rPr>
              <a:t>Socket</a:t>
            </a:r>
            <a:r>
              <a:rPr b="1" lang="en-US" sz="800">
                <a:solidFill>
                  <a:srgbClr val="F6F6F4"/>
                </a:solidFill>
              </a:rPr>
              <a:t> socket;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private</a:t>
            </a:r>
            <a:r>
              <a:rPr b="1" lang="en-US" sz="800">
                <a:solidFill>
                  <a:srgbClr val="F6F6F4"/>
                </a:solidFill>
              </a:rPr>
              <a:t> </a:t>
            </a:r>
            <a:r>
              <a:rPr b="1" lang="en-US" sz="800">
                <a:solidFill>
                  <a:srgbClr val="97E1F1"/>
                </a:solidFill>
              </a:rPr>
              <a:t>PrintWriter</a:t>
            </a:r>
            <a:r>
              <a:rPr b="1" lang="en-US" sz="800">
                <a:solidFill>
                  <a:srgbClr val="F6F6F4"/>
                </a:solidFill>
              </a:rPr>
              <a:t> out;</a:t>
            </a:r>
            <a:endParaRPr b="1" sz="800">
              <a:solidFill>
                <a:srgbClr val="F6F6F4"/>
              </a:solidFill>
            </a:endParaRPr>
          </a:p>
          <a:p>
            <a:pPr indent="0" lvl="0" marL="0" rtl="0" algn="l">
              <a:lnSpc>
                <a:spcPct val="135714"/>
              </a:lnSpc>
              <a:spcBef>
                <a:spcPts val="0"/>
              </a:spcBef>
              <a:spcAft>
                <a:spcPts val="0"/>
              </a:spcAft>
              <a:buNone/>
            </a:pPr>
            <a:r>
              <a:rPr b="1" lang="en-US" sz="800">
                <a:solidFill>
                  <a:srgbClr val="F6F6F4"/>
                </a:solidFill>
              </a:rPr>
              <a:t>    </a:t>
            </a:r>
            <a:r>
              <a:rPr b="1" lang="en-US" sz="800">
                <a:solidFill>
                  <a:srgbClr val="F286C4"/>
                </a:solidFill>
              </a:rPr>
              <a:t>private</a:t>
            </a:r>
            <a:r>
              <a:rPr b="1" lang="en-US" sz="800">
                <a:solidFill>
                  <a:srgbClr val="F6F6F4"/>
                </a:solidFill>
              </a:rPr>
              <a:t> </a:t>
            </a:r>
            <a:r>
              <a:rPr b="1" lang="en-US" sz="800">
                <a:solidFill>
                  <a:srgbClr val="97E1F1"/>
                </a:solidFill>
              </a:rPr>
              <a:t>Random</a:t>
            </a:r>
            <a:r>
              <a:rPr b="1" lang="en-US" sz="800">
                <a:solidFill>
                  <a:srgbClr val="F6F6F4"/>
                </a:solidFill>
              </a:rPr>
              <a:t> rand </a:t>
            </a:r>
            <a:r>
              <a:rPr b="1" lang="en-US" sz="800">
                <a:solidFill>
                  <a:srgbClr val="F286C4"/>
                </a:solidFill>
              </a:rPr>
              <a:t>=</a:t>
            </a:r>
            <a:r>
              <a:rPr b="1" lang="en-US" sz="800">
                <a:solidFill>
                  <a:srgbClr val="F6F6F4"/>
                </a:solidFill>
              </a:rPr>
              <a:t> </a:t>
            </a:r>
            <a:r>
              <a:rPr b="1" lang="en-US" sz="800">
                <a:solidFill>
                  <a:srgbClr val="F286C4"/>
                </a:solidFill>
              </a:rPr>
              <a:t>new</a:t>
            </a:r>
            <a:r>
              <a:rPr b="1" lang="en-US" sz="800">
                <a:solidFill>
                  <a:srgbClr val="F6F6F4"/>
                </a:solidFill>
              </a:rPr>
              <a:t> </a:t>
            </a:r>
            <a:r>
              <a:rPr b="1" lang="en-US" sz="800">
                <a:solidFill>
                  <a:srgbClr val="62E884"/>
                </a:solidFill>
              </a:rPr>
              <a:t>Random</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rPr>
              <a:t>public</a:t>
            </a:r>
            <a:r>
              <a:rPr b="1" lang="en-US" sz="800">
                <a:solidFill>
                  <a:srgbClr val="F6F6F4"/>
                </a:solidFill>
              </a:rPr>
              <a:t> </a:t>
            </a:r>
            <a:r>
              <a:rPr b="1" lang="en-US" sz="800">
                <a:solidFill>
                  <a:srgbClr val="62E884"/>
                </a:solidFill>
              </a:rPr>
              <a:t>SensorWorker</a:t>
            </a:r>
            <a:r>
              <a:rPr b="1" lang="en-US" sz="800">
                <a:solidFill>
                  <a:srgbClr val="F6F6F4"/>
                </a:solidFill>
              </a:rPr>
              <a:t>(</a:t>
            </a:r>
            <a:r>
              <a:rPr b="1" lang="en-US" sz="800">
                <a:solidFill>
                  <a:srgbClr val="97E1F1"/>
                </a:solidFill>
              </a:rPr>
              <a:t>String</a:t>
            </a:r>
            <a:r>
              <a:rPr b="1" lang="en-US" sz="800">
                <a:solidFill>
                  <a:srgbClr val="F6F6F4"/>
                </a:solidFill>
              </a:rPr>
              <a:t> </a:t>
            </a:r>
            <a:r>
              <a:rPr b="1" i="1" lang="en-US" sz="800">
                <a:solidFill>
                  <a:srgbClr val="FFB86C"/>
                </a:solidFill>
              </a:rPr>
              <a:t>clientID</a:t>
            </a:r>
            <a:r>
              <a:rPr b="1" lang="en-US" sz="800">
                <a:solidFill>
                  <a:srgbClr val="F6F6F4"/>
                </a:solidFill>
              </a:rPr>
              <a:t>, </a:t>
            </a:r>
            <a:r>
              <a:rPr b="1" lang="en-US" sz="800">
                <a:solidFill>
                  <a:srgbClr val="97E1F1"/>
                </a:solidFill>
              </a:rPr>
              <a:t>String</a:t>
            </a:r>
            <a:r>
              <a:rPr b="1" lang="en-US" sz="800">
                <a:solidFill>
                  <a:srgbClr val="F6F6F4"/>
                </a:solidFill>
              </a:rPr>
              <a:t> </a:t>
            </a:r>
            <a:r>
              <a:rPr b="1" i="1" lang="en-US" sz="800">
                <a:solidFill>
                  <a:srgbClr val="FFB86C"/>
                </a:solidFill>
              </a:rPr>
              <a:t>sensorType</a:t>
            </a:r>
            <a:r>
              <a:rPr b="1" lang="en-US" sz="800">
                <a:solidFill>
                  <a:srgbClr val="F6F6F4"/>
                </a:solidFill>
              </a:rPr>
              <a:t>, </a:t>
            </a:r>
            <a:r>
              <a:rPr b="1" lang="en-US" sz="800">
                <a:solidFill>
                  <a:srgbClr val="97E1F1"/>
                </a:solidFill>
              </a:rPr>
              <a:t>String</a:t>
            </a:r>
            <a:r>
              <a:rPr b="1" lang="en-US" sz="800">
                <a:solidFill>
                  <a:srgbClr val="F6F6F4"/>
                </a:solidFill>
              </a:rPr>
              <a:t> </a:t>
            </a:r>
            <a:r>
              <a:rPr b="1" i="1" lang="en-US" sz="800">
                <a:solidFill>
                  <a:srgbClr val="FFB86C"/>
                </a:solidFill>
              </a:rPr>
              <a:t>sensorID</a:t>
            </a:r>
            <a:r>
              <a:rPr b="1" lang="en-US" sz="800">
                <a:solidFill>
                  <a:srgbClr val="F6F6F4"/>
                </a:solidFill>
              </a:rPr>
              <a:t>, </a:t>
            </a:r>
            <a:r>
              <a:rPr b="1" i="1" lang="en-US" sz="800">
                <a:solidFill>
                  <a:srgbClr val="97E1F1"/>
                </a:solidFill>
              </a:rPr>
              <a:t>int</a:t>
            </a:r>
            <a:r>
              <a:rPr b="1" lang="en-US" sz="800">
                <a:solidFill>
                  <a:srgbClr val="F6F6F4"/>
                </a:solidFill>
              </a:rPr>
              <a:t> </a:t>
            </a:r>
            <a:r>
              <a:rPr b="1" i="1" lang="en-US" sz="800">
                <a:solidFill>
                  <a:srgbClr val="FFB86C"/>
                </a:solidFill>
              </a:rPr>
              <a:t>interval</a:t>
            </a:r>
            <a:r>
              <a:rPr b="1" lang="en-US" sz="800">
                <a:solidFill>
                  <a:srgbClr val="F6F6F4"/>
                </a:solidFill>
              </a:rPr>
              <a:t>, </a:t>
            </a:r>
            <a:r>
              <a:rPr b="1" lang="en-US" sz="800">
                <a:solidFill>
                  <a:srgbClr val="97E1F1"/>
                </a:solidFill>
              </a:rPr>
              <a:t>String</a:t>
            </a:r>
            <a:r>
              <a:rPr b="1" lang="en-US" sz="800">
                <a:solidFill>
                  <a:srgbClr val="F6F6F4"/>
                </a:solidFill>
              </a:rPr>
              <a:t> </a:t>
            </a:r>
            <a:r>
              <a:rPr b="1" i="1" lang="en-US" sz="800">
                <a:solidFill>
                  <a:srgbClr val="FFB86C"/>
                </a:solidFill>
              </a:rPr>
              <a:t>host</a:t>
            </a:r>
            <a:r>
              <a:rPr b="1" lang="en-US" sz="800">
                <a:solidFill>
                  <a:srgbClr val="F6F6F4"/>
                </a:solidFill>
              </a:rPr>
              <a:t>, </a:t>
            </a:r>
            <a:r>
              <a:rPr b="1" i="1" lang="en-US" sz="800">
                <a:solidFill>
                  <a:srgbClr val="97E1F1"/>
                </a:solidFill>
              </a:rPr>
              <a:t>int</a:t>
            </a:r>
            <a:r>
              <a:rPr b="1" lang="en-US" sz="800">
                <a:solidFill>
                  <a:srgbClr val="F6F6F4"/>
                </a:solidFill>
              </a:rPr>
              <a:t> </a:t>
            </a:r>
            <a:r>
              <a:rPr b="1" i="1" lang="en-US" sz="800">
                <a:solidFill>
                  <a:srgbClr val="FFB86C"/>
                </a:solidFill>
              </a:rPr>
              <a:t>port</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i="1" lang="en-US" sz="800">
                <a:solidFill>
                  <a:srgbClr val="BF9EEE"/>
                </a:solidFill>
              </a:rPr>
              <a:t>this</a:t>
            </a:r>
            <a:r>
              <a:rPr b="1" lang="en-US" sz="800">
                <a:solidFill>
                  <a:srgbClr val="F6F6F4"/>
                </a:solidFill>
              </a:rPr>
              <a:t>.clientID </a:t>
            </a:r>
            <a:r>
              <a:rPr b="1" lang="en-US" sz="800">
                <a:solidFill>
                  <a:srgbClr val="F286C4"/>
                </a:solidFill>
              </a:rPr>
              <a:t>=</a:t>
            </a:r>
            <a:r>
              <a:rPr b="1" lang="en-US" sz="800">
                <a:solidFill>
                  <a:srgbClr val="F6F6F4"/>
                </a:solidFill>
              </a:rPr>
              <a:t> </a:t>
            </a:r>
            <a:r>
              <a:rPr b="1" i="1" lang="en-US" sz="800">
                <a:solidFill>
                  <a:srgbClr val="FFB86C"/>
                </a:solidFill>
              </a:rPr>
              <a:t>clientID</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i="1" lang="en-US" sz="800">
                <a:solidFill>
                  <a:srgbClr val="BF9EEE"/>
                </a:solidFill>
              </a:rPr>
              <a:t>this</a:t>
            </a:r>
            <a:r>
              <a:rPr b="1" lang="en-US" sz="800">
                <a:solidFill>
                  <a:srgbClr val="F6F6F4"/>
                </a:solidFill>
              </a:rPr>
              <a:t>.sensorType </a:t>
            </a:r>
            <a:r>
              <a:rPr b="1" lang="en-US" sz="800">
                <a:solidFill>
                  <a:srgbClr val="F286C4"/>
                </a:solidFill>
              </a:rPr>
              <a:t>=</a:t>
            </a:r>
            <a:r>
              <a:rPr b="1" lang="en-US" sz="800">
                <a:solidFill>
                  <a:srgbClr val="F6F6F4"/>
                </a:solidFill>
              </a:rPr>
              <a:t> </a:t>
            </a:r>
            <a:r>
              <a:rPr b="1" i="1" lang="en-US" sz="800">
                <a:solidFill>
                  <a:srgbClr val="FFB86C"/>
                </a:solidFill>
              </a:rPr>
              <a:t>sensorType</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i="1" lang="en-US" sz="800">
                <a:solidFill>
                  <a:srgbClr val="BF9EEE"/>
                </a:solidFill>
              </a:rPr>
              <a:t>this</a:t>
            </a:r>
            <a:r>
              <a:rPr b="1" lang="en-US" sz="800">
                <a:solidFill>
                  <a:srgbClr val="F6F6F4"/>
                </a:solidFill>
              </a:rPr>
              <a:t>.sensorID </a:t>
            </a:r>
            <a:r>
              <a:rPr b="1" lang="en-US" sz="800">
                <a:solidFill>
                  <a:srgbClr val="F286C4"/>
                </a:solidFill>
              </a:rPr>
              <a:t>=</a:t>
            </a:r>
            <a:r>
              <a:rPr b="1" lang="en-US" sz="800">
                <a:solidFill>
                  <a:srgbClr val="F6F6F4"/>
                </a:solidFill>
              </a:rPr>
              <a:t> </a:t>
            </a:r>
            <a:r>
              <a:rPr b="1" i="1" lang="en-US" sz="800">
                <a:solidFill>
                  <a:srgbClr val="FFB86C"/>
                </a:solidFill>
              </a:rPr>
              <a:t>sensorID</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None/>
            </a:pPr>
            <a:r>
              <a:rPr b="1" lang="en-US" sz="800">
                <a:solidFill>
                  <a:srgbClr val="F6F6F4"/>
                </a:solidFill>
              </a:rPr>
              <a:t>        </a:t>
            </a:r>
            <a:r>
              <a:rPr b="1" i="1" lang="en-US" sz="800">
                <a:solidFill>
                  <a:srgbClr val="BF9EEE"/>
                </a:solidFill>
              </a:rPr>
              <a:t>this</a:t>
            </a:r>
            <a:r>
              <a:rPr b="1" lang="en-US" sz="800">
                <a:solidFill>
                  <a:srgbClr val="F6F6F4"/>
                </a:solidFill>
              </a:rPr>
              <a:t>.interval </a:t>
            </a:r>
            <a:r>
              <a:rPr b="1" lang="en-US" sz="800">
                <a:solidFill>
                  <a:srgbClr val="F286C4"/>
                </a:solidFill>
              </a:rPr>
              <a:t>=</a:t>
            </a:r>
            <a:r>
              <a:rPr b="1" lang="en-US" sz="800">
                <a:solidFill>
                  <a:srgbClr val="F6F6F4"/>
                </a:solidFill>
              </a:rPr>
              <a:t> </a:t>
            </a:r>
            <a:r>
              <a:rPr b="1" i="1" lang="en-US" sz="800">
                <a:solidFill>
                  <a:srgbClr val="FFB86C"/>
                </a:solidFill>
              </a:rPr>
              <a:t>interval</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try</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ket </a:t>
            </a:r>
            <a:r>
              <a:rPr b="1" lang="en-US" sz="800">
                <a:solidFill>
                  <a:srgbClr val="F286C4"/>
                </a:solidFill>
              </a:rPr>
              <a:t>=</a:t>
            </a:r>
            <a:r>
              <a:rPr b="1" lang="en-US" sz="800">
                <a:solidFill>
                  <a:srgbClr val="F6F6F4"/>
                </a:solidFill>
              </a:rPr>
              <a:t> </a:t>
            </a:r>
            <a:r>
              <a:rPr b="1" lang="en-US" sz="800">
                <a:solidFill>
                  <a:srgbClr val="F286C4"/>
                </a:solidFill>
              </a:rPr>
              <a:t>new</a:t>
            </a:r>
            <a:r>
              <a:rPr b="1" lang="en-US" sz="800">
                <a:solidFill>
                  <a:srgbClr val="F6F6F4"/>
                </a:solidFill>
              </a:rPr>
              <a:t> </a:t>
            </a:r>
            <a:r>
              <a:rPr b="1" lang="en-US" sz="800">
                <a:solidFill>
                  <a:srgbClr val="62E884"/>
                </a:solidFill>
              </a:rPr>
              <a:t>Socket</a:t>
            </a:r>
            <a:r>
              <a:rPr b="1" lang="en-US" sz="800">
                <a:solidFill>
                  <a:srgbClr val="F6F6F4"/>
                </a:solidFill>
              </a:rPr>
              <a:t>(</a:t>
            </a:r>
            <a:r>
              <a:rPr b="1" i="1" lang="en-US" sz="800">
                <a:solidFill>
                  <a:srgbClr val="FFB86C"/>
                </a:solidFill>
              </a:rPr>
              <a:t>host</a:t>
            </a:r>
            <a:r>
              <a:rPr b="1" lang="en-US" sz="800">
                <a:solidFill>
                  <a:srgbClr val="F6F6F4"/>
                </a:solidFill>
              </a:rPr>
              <a:t>, </a:t>
            </a:r>
            <a:r>
              <a:rPr b="1" i="1" lang="en-US" sz="800">
                <a:solidFill>
                  <a:srgbClr val="FFB86C"/>
                </a:solidFill>
              </a:rPr>
              <a:t>port</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out </a:t>
            </a:r>
            <a:r>
              <a:rPr b="1" lang="en-US" sz="800">
                <a:solidFill>
                  <a:srgbClr val="F286C4"/>
                </a:solidFill>
              </a:rPr>
              <a:t>=</a:t>
            </a:r>
            <a:r>
              <a:rPr b="1" lang="en-US" sz="800">
                <a:solidFill>
                  <a:srgbClr val="F6F6F4"/>
                </a:solidFill>
              </a:rPr>
              <a:t> </a:t>
            </a:r>
            <a:r>
              <a:rPr b="1" lang="en-US" sz="800">
                <a:solidFill>
                  <a:srgbClr val="F286C4"/>
                </a:solidFill>
              </a:rPr>
              <a:t>new</a:t>
            </a:r>
            <a:r>
              <a:rPr b="1" lang="en-US" sz="800">
                <a:solidFill>
                  <a:srgbClr val="F6F6F4"/>
                </a:solidFill>
              </a:rPr>
              <a:t> </a:t>
            </a:r>
            <a:r>
              <a:rPr b="1" lang="en-US" sz="800">
                <a:solidFill>
                  <a:srgbClr val="62E884"/>
                </a:solidFill>
              </a:rPr>
              <a:t>PrintWriter</a:t>
            </a:r>
            <a:r>
              <a:rPr b="1" lang="en-US" sz="800">
                <a:solidFill>
                  <a:srgbClr val="F6F6F4"/>
                </a:solidFill>
              </a:rPr>
              <a:t>(socket.</a:t>
            </a:r>
            <a:r>
              <a:rPr b="1" lang="en-US" sz="800">
                <a:solidFill>
                  <a:srgbClr val="62E884"/>
                </a:solidFill>
              </a:rPr>
              <a:t>getOutputStream</a:t>
            </a:r>
            <a:r>
              <a:rPr b="1" lang="en-US" sz="800">
                <a:solidFill>
                  <a:srgbClr val="F6F6F4"/>
                </a:solidFill>
              </a:rPr>
              <a:t>(), </a:t>
            </a:r>
            <a:r>
              <a:rPr b="1" lang="en-US" sz="800">
                <a:solidFill>
                  <a:srgbClr val="BF9EEE"/>
                </a:solidFill>
              </a:rPr>
              <a:t>true</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 </a:t>
            </a:r>
            <a:r>
              <a:rPr b="1" lang="en-US" sz="800">
                <a:solidFill>
                  <a:srgbClr val="F286C4"/>
                </a:solidFill>
              </a:rPr>
              <a:t>catch</a:t>
            </a:r>
            <a:r>
              <a:rPr b="1" lang="en-US" sz="800">
                <a:solidFill>
                  <a:srgbClr val="F6F6F4"/>
                </a:solidFill>
              </a:rPr>
              <a:t> (</a:t>
            </a:r>
            <a:r>
              <a:rPr b="1" lang="en-US" sz="800">
                <a:solidFill>
                  <a:srgbClr val="97E1F1"/>
                </a:solidFill>
              </a:rPr>
              <a:t>IOException</a:t>
            </a:r>
            <a:r>
              <a:rPr b="1" lang="en-US" sz="800">
                <a:solidFill>
                  <a:srgbClr val="F6F6F4"/>
                </a:solidFill>
              </a:rPr>
              <a:t> </a:t>
            </a:r>
            <a:r>
              <a:rPr b="1" i="1" lang="en-US" sz="800">
                <a:solidFill>
                  <a:srgbClr val="F6F6F4"/>
                </a:solidFill>
              </a:rPr>
              <a:t>e</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97E1F1"/>
                </a:solidFill>
              </a:rPr>
              <a:t>System</a:t>
            </a:r>
            <a:r>
              <a:rPr b="1" lang="en-US" sz="800">
                <a:solidFill>
                  <a:srgbClr val="F6F6F4"/>
                </a:solidFill>
              </a:rPr>
              <a:t>.</a:t>
            </a:r>
            <a:r>
              <a:rPr b="1" lang="en-US" sz="800">
                <a:solidFill>
                  <a:srgbClr val="BF9EEE"/>
                </a:solidFill>
              </a:rPr>
              <a:t>err</a:t>
            </a:r>
            <a:r>
              <a:rPr b="1" lang="en-US" sz="800">
                <a:solidFill>
                  <a:srgbClr val="F6F6F4"/>
                </a:solidFill>
              </a:rPr>
              <a:t>.</a:t>
            </a:r>
            <a:r>
              <a:rPr b="1" lang="en-US" sz="800">
                <a:solidFill>
                  <a:srgbClr val="62E884"/>
                </a:solidFill>
              </a:rPr>
              <a:t>println</a:t>
            </a:r>
            <a:r>
              <a:rPr b="1" lang="en-US" sz="800">
                <a:solidFill>
                  <a:srgbClr val="F6F6F4"/>
                </a:solidFill>
              </a:rPr>
              <a:t>(</a:t>
            </a:r>
            <a:r>
              <a:rPr b="1" lang="en-US" sz="800">
                <a:solidFill>
                  <a:srgbClr val="DEE492"/>
                </a:solidFill>
              </a:rPr>
              <a:t>"</a:t>
            </a:r>
            <a:r>
              <a:rPr b="1" lang="en-US" sz="800">
                <a:solidFill>
                  <a:srgbClr val="E7EE98"/>
                </a:solidFill>
              </a:rPr>
              <a:t> Không kết nối được đến server từ </a:t>
            </a:r>
            <a:r>
              <a:rPr b="1" lang="en-US" sz="800">
                <a:solidFill>
                  <a:srgbClr val="DEE492"/>
                </a:solidFill>
              </a:rPr>
              <a:t>"</a:t>
            </a:r>
            <a:r>
              <a:rPr b="1" lang="en-US" sz="800">
                <a:solidFill>
                  <a:srgbClr val="F6F6F4"/>
                </a:solidFill>
              </a:rPr>
              <a:t> </a:t>
            </a:r>
            <a:r>
              <a:rPr b="1" lang="en-US" sz="800">
                <a:solidFill>
                  <a:srgbClr val="F286C4"/>
                </a:solidFill>
              </a:rPr>
              <a:t>+</a:t>
            </a:r>
            <a:r>
              <a:rPr b="1" lang="en-US" sz="800">
                <a:solidFill>
                  <a:srgbClr val="F6F6F4"/>
                </a:solidFill>
              </a:rPr>
              <a:t> </a:t>
            </a:r>
            <a:r>
              <a:rPr b="1" i="1" lang="en-US" sz="800">
                <a:solidFill>
                  <a:srgbClr val="FFB86C"/>
                </a:solidFill>
              </a:rPr>
              <a:t>sensorType</a:t>
            </a:r>
            <a:r>
              <a:rPr b="1" lang="en-US" sz="800">
                <a:solidFill>
                  <a:srgbClr val="F6F6F4"/>
                </a:solidFill>
              </a:rPr>
              <a:t> </a:t>
            </a:r>
            <a:r>
              <a:rPr b="1" lang="en-US" sz="800">
                <a:solidFill>
                  <a:srgbClr val="F286C4"/>
                </a:solidFill>
              </a:rPr>
              <a:t>+</a:t>
            </a:r>
            <a:r>
              <a:rPr b="1" lang="en-US" sz="800">
                <a:solidFill>
                  <a:srgbClr val="F6F6F4"/>
                </a:solidFill>
              </a:rPr>
              <a:t> </a:t>
            </a:r>
            <a:r>
              <a:rPr b="1" i="1" lang="en-US" sz="800">
                <a:solidFill>
                  <a:srgbClr val="FFB86C"/>
                </a:solidFill>
              </a:rPr>
              <a:t>sensorID</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private</a:t>
            </a:r>
            <a:r>
              <a:rPr b="1" lang="en-US" sz="800">
                <a:solidFill>
                  <a:srgbClr val="F6F6F4"/>
                </a:solidFill>
              </a:rPr>
              <a:t> </a:t>
            </a:r>
            <a:r>
              <a:rPr b="1" i="1" lang="en-US" sz="800">
                <a:solidFill>
                  <a:srgbClr val="97E1F1"/>
                </a:solidFill>
              </a:rPr>
              <a:t>int</a:t>
            </a:r>
            <a:r>
              <a:rPr b="1" lang="en-US" sz="800">
                <a:solidFill>
                  <a:srgbClr val="F6F6F4"/>
                </a:solidFill>
              </a:rPr>
              <a:t> </a:t>
            </a:r>
            <a:r>
              <a:rPr b="1" lang="en-US" sz="800">
                <a:solidFill>
                  <a:srgbClr val="62E884"/>
                </a:solidFill>
              </a:rPr>
              <a:t>getValue</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switch</a:t>
            </a:r>
            <a:r>
              <a:rPr b="1" lang="en-US" sz="800">
                <a:solidFill>
                  <a:srgbClr val="F6F6F4"/>
                </a:solidFill>
              </a:rPr>
              <a:t> (sensorType)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case</a:t>
            </a:r>
            <a:r>
              <a:rPr b="1" lang="en-US" sz="800">
                <a:solidFill>
                  <a:srgbClr val="F6F6F4"/>
                </a:solidFill>
              </a:rPr>
              <a:t> </a:t>
            </a:r>
            <a:r>
              <a:rPr b="1" lang="en-US" sz="800">
                <a:solidFill>
                  <a:srgbClr val="DEE492"/>
                </a:solidFill>
              </a:rPr>
              <a:t>"</a:t>
            </a:r>
            <a:r>
              <a:rPr b="1" lang="en-US" sz="800">
                <a:solidFill>
                  <a:srgbClr val="E7EE98"/>
                </a:solidFill>
              </a:rPr>
              <a:t>LM35</a:t>
            </a:r>
            <a:r>
              <a:rPr b="1" lang="en-US" sz="800">
                <a:solidFill>
                  <a:srgbClr val="DEE492"/>
                </a:solidFill>
              </a:rPr>
              <a:t>"</a:t>
            </a:r>
            <a:r>
              <a:rPr b="1" lang="en-US" sz="800">
                <a:solidFill>
                  <a:srgbClr val="F286C4"/>
                </a:solidFill>
              </a:rPr>
              <a:t>:</a:t>
            </a:r>
            <a:r>
              <a:rPr b="1" lang="en-US" sz="800">
                <a:solidFill>
                  <a:srgbClr val="F6F6F4"/>
                </a:solidFill>
              </a:rPr>
              <a:t> </a:t>
            </a:r>
            <a:r>
              <a:rPr b="1" lang="en-US" sz="800">
                <a:solidFill>
                  <a:srgbClr val="F286C4"/>
                </a:solidFill>
              </a:rPr>
              <a:t>return</a:t>
            </a:r>
            <a:r>
              <a:rPr b="1" lang="en-US" sz="800">
                <a:solidFill>
                  <a:srgbClr val="F6F6F4"/>
                </a:solidFill>
              </a:rPr>
              <a:t> </a:t>
            </a:r>
            <a:r>
              <a:rPr b="1" lang="en-US" sz="800">
                <a:solidFill>
                  <a:srgbClr val="BF9EEE"/>
                </a:solidFill>
              </a:rPr>
              <a:t>20</a:t>
            </a:r>
            <a:r>
              <a:rPr b="1" lang="en-US" sz="800">
                <a:solidFill>
                  <a:srgbClr val="F6F6F4"/>
                </a:solidFill>
              </a:rPr>
              <a:t> </a:t>
            </a:r>
            <a:r>
              <a:rPr b="1" lang="en-US" sz="800">
                <a:solidFill>
                  <a:srgbClr val="F286C4"/>
                </a:solidFill>
              </a:rPr>
              <a:t>+</a:t>
            </a:r>
            <a:r>
              <a:rPr b="1" lang="en-US" sz="800">
                <a:solidFill>
                  <a:srgbClr val="F6F6F4"/>
                </a:solidFill>
              </a:rPr>
              <a:t> rand.</a:t>
            </a:r>
            <a:r>
              <a:rPr b="1" lang="en-US" sz="800">
                <a:solidFill>
                  <a:srgbClr val="62E884"/>
                </a:solidFill>
              </a:rPr>
              <a:t>nextInt</a:t>
            </a:r>
            <a:r>
              <a:rPr b="1" lang="en-US" sz="800">
                <a:solidFill>
                  <a:srgbClr val="F6F6F4"/>
                </a:solidFill>
              </a:rPr>
              <a:t>(</a:t>
            </a:r>
            <a:r>
              <a:rPr b="1" lang="en-US" sz="800">
                <a:solidFill>
                  <a:srgbClr val="BF9EEE"/>
                </a:solidFill>
              </a:rPr>
              <a:t>16</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case</a:t>
            </a:r>
            <a:r>
              <a:rPr b="1" lang="en-US" sz="800">
                <a:solidFill>
                  <a:srgbClr val="F6F6F4"/>
                </a:solidFill>
              </a:rPr>
              <a:t> </a:t>
            </a:r>
            <a:r>
              <a:rPr b="1" lang="en-US" sz="800">
                <a:solidFill>
                  <a:srgbClr val="DEE492"/>
                </a:solidFill>
              </a:rPr>
              <a:t>"</a:t>
            </a:r>
            <a:r>
              <a:rPr b="1" lang="en-US" sz="800">
                <a:solidFill>
                  <a:srgbClr val="E7EE98"/>
                </a:solidFill>
              </a:rPr>
              <a:t>BH170</a:t>
            </a:r>
            <a:r>
              <a:rPr b="1" lang="en-US" sz="800">
                <a:solidFill>
                  <a:srgbClr val="DEE492"/>
                </a:solidFill>
              </a:rPr>
              <a:t>"</a:t>
            </a:r>
            <a:r>
              <a:rPr b="1" lang="en-US" sz="800">
                <a:solidFill>
                  <a:srgbClr val="F286C4"/>
                </a:solidFill>
              </a:rPr>
              <a:t>:</a:t>
            </a:r>
            <a:r>
              <a:rPr b="1" lang="en-US" sz="800">
                <a:solidFill>
                  <a:srgbClr val="F6F6F4"/>
                </a:solidFill>
              </a:rPr>
              <a:t> </a:t>
            </a:r>
            <a:r>
              <a:rPr b="1" lang="en-US" sz="800">
                <a:solidFill>
                  <a:srgbClr val="F286C4"/>
                </a:solidFill>
              </a:rPr>
              <a:t>return</a:t>
            </a:r>
            <a:r>
              <a:rPr b="1" lang="en-US" sz="800">
                <a:solidFill>
                  <a:srgbClr val="F6F6F4"/>
                </a:solidFill>
              </a:rPr>
              <a:t> rand.</a:t>
            </a:r>
            <a:r>
              <a:rPr b="1" lang="en-US" sz="800">
                <a:solidFill>
                  <a:srgbClr val="62E884"/>
                </a:solidFill>
              </a:rPr>
              <a:t>nextInt</a:t>
            </a:r>
            <a:r>
              <a:rPr b="1" lang="en-US" sz="800">
                <a:solidFill>
                  <a:srgbClr val="F6F6F4"/>
                </a:solidFill>
              </a:rPr>
              <a:t>(</a:t>
            </a:r>
            <a:r>
              <a:rPr b="1" lang="en-US" sz="800">
                <a:solidFill>
                  <a:srgbClr val="BF9EEE"/>
                </a:solidFill>
              </a:rPr>
              <a:t>1001</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default:</a:t>
            </a:r>
            <a:r>
              <a:rPr b="1" lang="en-US" sz="800">
                <a:solidFill>
                  <a:srgbClr val="F6F6F4"/>
                </a:solidFill>
              </a:rPr>
              <a:t> </a:t>
            </a:r>
            <a:r>
              <a:rPr b="1" lang="en-US" sz="800">
                <a:solidFill>
                  <a:srgbClr val="F286C4"/>
                </a:solidFill>
              </a:rPr>
              <a:t>return</a:t>
            </a:r>
            <a:r>
              <a:rPr b="1" lang="en-US" sz="800">
                <a:solidFill>
                  <a:srgbClr val="F6F6F4"/>
                </a:solidFill>
              </a:rPr>
              <a:t> </a:t>
            </a:r>
            <a:r>
              <a:rPr b="1" lang="en-US" sz="800">
                <a:solidFill>
                  <a:srgbClr val="BF9EEE"/>
                </a:solidFill>
              </a:rPr>
              <a:t>0</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public</a:t>
            </a:r>
            <a:r>
              <a:rPr b="1" lang="en-US" sz="800">
                <a:solidFill>
                  <a:srgbClr val="F6F6F4"/>
                </a:solidFill>
              </a:rPr>
              <a:t> </a:t>
            </a:r>
            <a:r>
              <a:rPr b="1" i="1" lang="en-US" sz="800">
                <a:solidFill>
                  <a:srgbClr val="97E1F1"/>
                </a:solidFill>
              </a:rPr>
              <a:t>void</a:t>
            </a:r>
            <a:r>
              <a:rPr b="1" lang="en-US" sz="800">
                <a:solidFill>
                  <a:srgbClr val="F6F6F4"/>
                </a:solidFill>
              </a:rPr>
              <a:t> </a:t>
            </a:r>
            <a:r>
              <a:rPr b="1" lang="en-US" sz="800">
                <a:solidFill>
                  <a:srgbClr val="62E884"/>
                </a:solidFill>
              </a:rPr>
              <a:t>run</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if</a:t>
            </a:r>
            <a:r>
              <a:rPr b="1" lang="en-US" sz="800">
                <a:solidFill>
                  <a:srgbClr val="F6F6F4"/>
                </a:solidFill>
              </a:rPr>
              <a:t> (out </a:t>
            </a:r>
            <a:r>
              <a:rPr b="1" lang="en-US" sz="800">
                <a:solidFill>
                  <a:srgbClr val="F286C4"/>
                </a:solidFill>
              </a:rPr>
              <a:t>==</a:t>
            </a:r>
            <a:r>
              <a:rPr b="1" lang="en-US" sz="800">
                <a:solidFill>
                  <a:srgbClr val="F6F6F4"/>
                </a:solidFill>
              </a:rPr>
              <a:t> </a:t>
            </a:r>
            <a:r>
              <a:rPr b="1" lang="en-US" sz="800">
                <a:solidFill>
                  <a:srgbClr val="BF9EEE"/>
                </a:solidFill>
              </a:rPr>
              <a:t>null</a:t>
            </a:r>
            <a:r>
              <a:rPr b="1" lang="en-US" sz="800">
                <a:solidFill>
                  <a:srgbClr val="F6F6F4"/>
                </a:solidFill>
              </a:rPr>
              <a:t>) </a:t>
            </a:r>
            <a:r>
              <a:rPr b="1" lang="en-US" sz="800">
                <a:solidFill>
                  <a:srgbClr val="F286C4"/>
                </a:solidFill>
              </a:rPr>
              <a:t>return</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for</a:t>
            </a:r>
            <a:r>
              <a:rPr b="1" lang="en-US" sz="800">
                <a:solidFill>
                  <a:srgbClr val="F6F6F4"/>
                </a:solidFill>
              </a:rPr>
              <a:t> (</a:t>
            </a:r>
            <a:r>
              <a:rPr b="1" i="1" lang="en-US" sz="800">
                <a:solidFill>
                  <a:srgbClr val="97E1F1"/>
                </a:solidFill>
              </a:rPr>
              <a:t>int</a:t>
            </a:r>
            <a:r>
              <a:rPr b="1" lang="en-US" sz="800">
                <a:solidFill>
                  <a:srgbClr val="F6F6F4"/>
                </a:solidFill>
              </a:rPr>
              <a:t> i </a:t>
            </a:r>
            <a:r>
              <a:rPr b="1" lang="en-US" sz="800">
                <a:solidFill>
                  <a:srgbClr val="F286C4"/>
                </a:solidFill>
              </a:rPr>
              <a:t>=</a:t>
            </a:r>
            <a:r>
              <a:rPr b="1" lang="en-US" sz="800">
                <a:solidFill>
                  <a:srgbClr val="F6F6F4"/>
                </a:solidFill>
              </a:rPr>
              <a:t> </a:t>
            </a:r>
            <a:r>
              <a:rPr b="1" lang="en-US" sz="800">
                <a:solidFill>
                  <a:srgbClr val="BF9EEE"/>
                </a:solidFill>
              </a:rPr>
              <a:t>0</a:t>
            </a:r>
            <a:r>
              <a:rPr b="1" lang="en-US" sz="800">
                <a:solidFill>
                  <a:srgbClr val="F6F6F4"/>
                </a:solidFill>
              </a:rPr>
              <a:t>; i </a:t>
            </a:r>
            <a:r>
              <a:rPr b="1" lang="en-US" sz="800">
                <a:solidFill>
                  <a:srgbClr val="F286C4"/>
                </a:solidFill>
              </a:rPr>
              <a:t>&lt;</a:t>
            </a:r>
            <a:r>
              <a:rPr b="1" lang="en-US" sz="800">
                <a:solidFill>
                  <a:srgbClr val="F6F6F4"/>
                </a:solidFill>
              </a:rPr>
              <a:t> </a:t>
            </a:r>
            <a:r>
              <a:rPr b="1" lang="en-US" sz="800">
                <a:solidFill>
                  <a:srgbClr val="BF9EEE"/>
                </a:solidFill>
              </a:rPr>
              <a:t>10</a:t>
            </a:r>
            <a:r>
              <a:rPr b="1" lang="en-US" sz="800">
                <a:solidFill>
                  <a:srgbClr val="F6F6F4"/>
                </a:solidFill>
              </a:rPr>
              <a:t>; i</a:t>
            </a:r>
            <a:r>
              <a:rPr b="1" lang="en-US" sz="800">
                <a:solidFill>
                  <a:srgbClr val="F286C4"/>
                </a:solidFill>
              </a:rPr>
              <a:t>++</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i="1" lang="en-US" sz="800">
                <a:solidFill>
                  <a:srgbClr val="97E1F1"/>
                </a:solidFill>
              </a:rPr>
              <a:t>int</a:t>
            </a:r>
            <a:r>
              <a:rPr b="1" lang="en-US" sz="800">
                <a:solidFill>
                  <a:srgbClr val="F6F6F4"/>
                </a:solidFill>
              </a:rPr>
              <a:t> value </a:t>
            </a:r>
            <a:r>
              <a:rPr b="1" lang="en-US" sz="800">
                <a:solidFill>
                  <a:srgbClr val="F286C4"/>
                </a:solidFill>
              </a:rPr>
              <a:t>=</a:t>
            </a:r>
            <a:r>
              <a:rPr b="1" lang="en-US" sz="800">
                <a:solidFill>
                  <a:srgbClr val="F6F6F4"/>
                </a:solidFill>
              </a:rPr>
              <a:t> </a:t>
            </a:r>
            <a:r>
              <a:rPr b="1" lang="en-US" sz="800">
                <a:solidFill>
                  <a:srgbClr val="62E884"/>
                </a:solidFill>
              </a:rPr>
              <a:t>getValue</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97E1F1"/>
                </a:solidFill>
              </a:rPr>
              <a:t>String</a:t>
            </a:r>
            <a:r>
              <a:rPr b="1" lang="en-US" sz="800">
                <a:solidFill>
                  <a:srgbClr val="F6F6F4"/>
                </a:solidFill>
              </a:rPr>
              <a:t> message </a:t>
            </a:r>
            <a:r>
              <a:rPr b="1" lang="en-US" sz="800">
                <a:solidFill>
                  <a:srgbClr val="F286C4"/>
                </a:solidFill>
              </a:rPr>
              <a:t>=</a:t>
            </a:r>
            <a:r>
              <a:rPr b="1" lang="en-US" sz="800">
                <a:solidFill>
                  <a:srgbClr val="F6F6F4"/>
                </a:solidFill>
              </a:rPr>
              <a:t> </a:t>
            </a:r>
            <a:r>
              <a:rPr b="1" lang="en-US" sz="800">
                <a:solidFill>
                  <a:srgbClr val="DEE492"/>
                </a:solidFill>
              </a:rPr>
              <a:t>"</a:t>
            </a:r>
            <a:r>
              <a:rPr b="1" lang="en-US" sz="800">
                <a:solidFill>
                  <a:srgbClr val="E7EE98"/>
                </a:solidFill>
              </a:rPr>
              <a:t>[</a:t>
            </a:r>
            <a:r>
              <a:rPr b="1" lang="en-US" sz="800">
                <a:solidFill>
                  <a:srgbClr val="DEE492"/>
                </a:solidFill>
              </a:rPr>
              <a:t>"</a:t>
            </a:r>
            <a:r>
              <a:rPr b="1" lang="en-US" sz="800">
                <a:solidFill>
                  <a:srgbClr val="F6F6F4"/>
                </a:solidFill>
              </a:rPr>
              <a:t> </a:t>
            </a:r>
            <a:r>
              <a:rPr b="1" lang="en-US" sz="800">
                <a:solidFill>
                  <a:srgbClr val="F286C4"/>
                </a:solidFill>
              </a:rPr>
              <a:t>+</a:t>
            </a:r>
            <a:r>
              <a:rPr b="1" lang="en-US" sz="800">
                <a:solidFill>
                  <a:srgbClr val="F6F6F4"/>
                </a:solidFill>
              </a:rPr>
              <a:t> clientID </a:t>
            </a:r>
            <a:r>
              <a:rPr b="1" lang="en-US" sz="800">
                <a:solidFill>
                  <a:srgbClr val="F286C4"/>
                </a:solidFill>
              </a:rPr>
              <a:t>+</a:t>
            </a:r>
            <a:r>
              <a:rPr b="1" lang="en-US" sz="800">
                <a:solidFill>
                  <a:srgbClr val="F6F6F4"/>
                </a:solidFill>
              </a:rPr>
              <a:t> </a:t>
            </a:r>
            <a:r>
              <a:rPr b="1" lang="en-US" sz="800">
                <a:solidFill>
                  <a:srgbClr val="DEE492"/>
                </a:solidFill>
              </a:rPr>
              <a:t>"</a:t>
            </a:r>
            <a:r>
              <a:rPr b="1" lang="en-US" sz="800">
                <a:solidFill>
                  <a:srgbClr val="E7EE98"/>
                </a:solidFill>
              </a:rPr>
              <a:t>][</a:t>
            </a:r>
            <a:r>
              <a:rPr b="1" lang="en-US" sz="800">
                <a:solidFill>
                  <a:srgbClr val="DEE492"/>
                </a:solidFill>
              </a:rPr>
              <a:t>"</a:t>
            </a:r>
            <a:r>
              <a:rPr b="1" lang="en-US" sz="800">
                <a:solidFill>
                  <a:srgbClr val="F6F6F4"/>
                </a:solidFill>
              </a:rPr>
              <a:t> </a:t>
            </a:r>
            <a:r>
              <a:rPr b="1" lang="en-US" sz="800">
                <a:solidFill>
                  <a:srgbClr val="F286C4"/>
                </a:solidFill>
              </a:rPr>
              <a:t>+</a:t>
            </a:r>
            <a:r>
              <a:rPr b="1" lang="en-US" sz="800">
                <a:solidFill>
                  <a:srgbClr val="F6F6F4"/>
                </a:solidFill>
              </a:rPr>
              <a:t> sensorType </a:t>
            </a:r>
            <a:r>
              <a:rPr b="1" lang="en-US" sz="800">
                <a:solidFill>
                  <a:srgbClr val="F286C4"/>
                </a:solidFill>
              </a:rPr>
              <a:t>+</a:t>
            </a:r>
            <a:r>
              <a:rPr b="1" lang="en-US" sz="800">
                <a:solidFill>
                  <a:srgbClr val="F6F6F4"/>
                </a:solidFill>
              </a:rPr>
              <a:t> </a:t>
            </a:r>
            <a:r>
              <a:rPr b="1" lang="en-US" sz="800">
                <a:solidFill>
                  <a:srgbClr val="DEE492"/>
                </a:solidFill>
              </a:rPr>
              <a:t>"</a:t>
            </a:r>
            <a:r>
              <a:rPr b="1" lang="en-US" sz="800">
                <a:solidFill>
                  <a:srgbClr val="E7EE98"/>
                </a:solidFill>
              </a:rPr>
              <a:t>][</a:t>
            </a:r>
            <a:r>
              <a:rPr b="1" lang="en-US" sz="800">
                <a:solidFill>
                  <a:srgbClr val="DEE492"/>
                </a:solidFill>
              </a:rPr>
              <a:t>"</a:t>
            </a:r>
            <a:r>
              <a:rPr b="1" lang="en-US" sz="800">
                <a:solidFill>
                  <a:srgbClr val="F6F6F4"/>
                </a:solidFill>
              </a:rPr>
              <a:t> </a:t>
            </a:r>
            <a:r>
              <a:rPr b="1" lang="en-US" sz="800">
                <a:solidFill>
                  <a:srgbClr val="F286C4"/>
                </a:solidFill>
              </a:rPr>
              <a:t>+</a:t>
            </a:r>
            <a:r>
              <a:rPr b="1" lang="en-US" sz="800">
                <a:solidFill>
                  <a:srgbClr val="F6F6F4"/>
                </a:solidFill>
              </a:rPr>
              <a:t> sensorID </a:t>
            </a:r>
            <a:r>
              <a:rPr b="1" lang="en-US" sz="800">
                <a:solidFill>
                  <a:srgbClr val="F286C4"/>
                </a:solidFill>
              </a:rPr>
              <a:t>+</a:t>
            </a:r>
            <a:r>
              <a:rPr b="1" lang="en-US" sz="800">
                <a:solidFill>
                  <a:srgbClr val="F6F6F4"/>
                </a:solidFill>
              </a:rPr>
              <a:t> </a:t>
            </a:r>
            <a:r>
              <a:rPr b="1" lang="en-US" sz="800">
                <a:solidFill>
                  <a:srgbClr val="DEE492"/>
                </a:solidFill>
              </a:rPr>
              <a:t>"</a:t>
            </a:r>
            <a:r>
              <a:rPr b="1" lang="en-US" sz="800">
                <a:solidFill>
                  <a:srgbClr val="E7EE98"/>
                </a:solidFill>
              </a:rPr>
              <a:t>] = </a:t>
            </a:r>
            <a:r>
              <a:rPr b="1" lang="en-US" sz="800">
                <a:solidFill>
                  <a:srgbClr val="DEE492"/>
                </a:solidFill>
              </a:rPr>
              <a:t>"</a:t>
            </a:r>
            <a:r>
              <a:rPr b="1" lang="en-US" sz="800">
                <a:solidFill>
                  <a:srgbClr val="F6F6F4"/>
                </a:solidFill>
              </a:rPr>
              <a:t> </a:t>
            </a:r>
            <a:r>
              <a:rPr b="1" lang="en-US" sz="800">
                <a:solidFill>
                  <a:srgbClr val="F286C4"/>
                </a:solidFill>
              </a:rPr>
              <a:t>+</a:t>
            </a:r>
            <a:r>
              <a:rPr b="1" lang="en-US" sz="800">
                <a:solidFill>
                  <a:srgbClr val="F6F6F4"/>
                </a:solidFill>
              </a:rPr>
              <a:t> value;</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97E1F1"/>
                </a:solidFill>
              </a:rPr>
              <a:t>System</a:t>
            </a:r>
            <a:r>
              <a:rPr b="1" lang="en-US" sz="800">
                <a:solidFill>
                  <a:srgbClr val="F6F6F4"/>
                </a:solidFill>
              </a:rPr>
              <a:t>.</a:t>
            </a:r>
            <a:r>
              <a:rPr b="1" lang="en-US" sz="800">
                <a:solidFill>
                  <a:srgbClr val="BF9EEE"/>
                </a:solidFill>
              </a:rPr>
              <a:t>out</a:t>
            </a:r>
            <a:r>
              <a:rPr b="1" lang="en-US" sz="800">
                <a:solidFill>
                  <a:srgbClr val="F6F6F4"/>
                </a:solidFill>
              </a:rPr>
              <a:t>.</a:t>
            </a:r>
            <a:r>
              <a:rPr b="1" lang="en-US" sz="800">
                <a:solidFill>
                  <a:srgbClr val="62E884"/>
                </a:solidFill>
              </a:rPr>
              <a:t>println</a:t>
            </a:r>
            <a:r>
              <a:rPr b="1" lang="en-US" sz="800">
                <a:solidFill>
                  <a:srgbClr val="F6F6F4"/>
                </a:solidFill>
              </a:rPr>
              <a:t>(</a:t>
            </a:r>
            <a:r>
              <a:rPr b="1" lang="en-US" sz="800">
                <a:solidFill>
                  <a:srgbClr val="DEE492"/>
                </a:solidFill>
              </a:rPr>
              <a:t>"</a:t>
            </a:r>
            <a:r>
              <a:rPr b="1" lang="en-US" sz="800">
                <a:solidFill>
                  <a:srgbClr val="E7EE98"/>
                </a:solidFill>
              </a:rPr>
              <a:t> Gửi: </a:t>
            </a:r>
            <a:r>
              <a:rPr b="1" lang="en-US" sz="800">
                <a:solidFill>
                  <a:srgbClr val="DEE492"/>
                </a:solidFill>
              </a:rPr>
              <a:t>"</a:t>
            </a:r>
            <a:r>
              <a:rPr b="1" lang="en-US" sz="800">
                <a:solidFill>
                  <a:srgbClr val="F6F6F4"/>
                </a:solidFill>
              </a:rPr>
              <a:t> </a:t>
            </a:r>
            <a:r>
              <a:rPr b="1" lang="en-US" sz="800">
                <a:solidFill>
                  <a:srgbClr val="F286C4"/>
                </a:solidFill>
              </a:rPr>
              <a:t>+</a:t>
            </a:r>
            <a:r>
              <a:rPr b="1" lang="en-US" sz="800">
                <a:solidFill>
                  <a:srgbClr val="F6F6F4"/>
                </a:solidFill>
              </a:rPr>
              <a:t> message);</a:t>
            </a:r>
            <a:endParaRPr b="1" sz="800">
              <a:solidFill>
                <a:srgbClr val="F6F6F4"/>
              </a:solidFill>
            </a:endParaRPr>
          </a:p>
          <a:p>
            <a:pPr indent="0" lvl="0" marL="0" rtl="0" algn="l">
              <a:lnSpc>
                <a:spcPct val="135714"/>
              </a:lnSpc>
              <a:spcBef>
                <a:spcPts val="0"/>
              </a:spcBef>
              <a:spcAft>
                <a:spcPts val="0"/>
              </a:spcAft>
              <a:buNone/>
            </a:pPr>
            <a:r>
              <a:rPr b="1" lang="en-US" sz="800">
                <a:solidFill>
                  <a:srgbClr val="F6F6F4"/>
                </a:solidFill>
              </a:rPr>
              <a:t>            out.</a:t>
            </a:r>
            <a:r>
              <a:rPr b="1" lang="en-US" sz="800">
                <a:solidFill>
                  <a:srgbClr val="62E884"/>
                </a:solidFill>
              </a:rPr>
              <a:t>println</a:t>
            </a:r>
            <a:r>
              <a:rPr b="1" lang="en-US" sz="800">
                <a:solidFill>
                  <a:srgbClr val="F6F6F4"/>
                </a:solidFill>
              </a:rPr>
              <a:t>(message);</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F286C4"/>
                </a:solidFill>
              </a:rPr>
              <a:t>try</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r>
              <a:rPr b="1" lang="en-US" sz="800">
                <a:solidFill>
                  <a:srgbClr val="97E1F1"/>
                </a:solidFill>
              </a:rPr>
              <a:t>Thread</a:t>
            </a:r>
            <a:r>
              <a:rPr b="1" lang="en-US" sz="800">
                <a:solidFill>
                  <a:srgbClr val="F6F6F4"/>
                </a:solidFill>
              </a:rPr>
              <a:t>.</a:t>
            </a:r>
            <a:r>
              <a:rPr b="1" lang="en-US" sz="800">
                <a:solidFill>
                  <a:srgbClr val="62E884"/>
                </a:solidFill>
              </a:rPr>
              <a:t>sleep</a:t>
            </a:r>
            <a:r>
              <a:rPr b="1" lang="en-US" sz="800">
                <a:solidFill>
                  <a:srgbClr val="F6F6F4"/>
                </a:solidFill>
              </a:rPr>
              <a:t>(interval);</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 </a:t>
            </a:r>
            <a:r>
              <a:rPr b="1" lang="en-US" sz="800">
                <a:solidFill>
                  <a:srgbClr val="F286C4"/>
                </a:solidFill>
              </a:rPr>
              <a:t>catch</a:t>
            </a:r>
            <a:r>
              <a:rPr b="1" lang="en-US" sz="800">
                <a:solidFill>
                  <a:srgbClr val="F6F6F4"/>
                </a:solidFill>
              </a:rPr>
              <a:t> (</a:t>
            </a:r>
            <a:r>
              <a:rPr b="1" lang="en-US" sz="800">
                <a:solidFill>
                  <a:srgbClr val="97E1F1"/>
                </a:solidFill>
              </a:rPr>
              <a:t>InterruptedException</a:t>
            </a:r>
            <a:r>
              <a:rPr b="1" lang="en-US" sz="800">
                <a:solidFill>
                  <a:srgbClr val="F6F6F4"/>
                </a:solidFill>
              </a:rPr>
              <a:t> </a:t>
            </a:r>
            <a:r>
              <a:rPr b="1" i="1" lang="en-US" sz="800">
                <a:solidFill>
                  <a:srgbClr val="F6F6F4"/>
                </a:solidFill>
              </a:rPr>
              <a:t>e</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e.</a:t>
            </a:r>
            <a:r>
              <a:rPr b="1" lang="en-US" sz="800">
                <a:solidFill>
                  <a:srgbClr val="62E884"/>
                </a:solidFill>
              </a:rPr>
              <a:t>printStackTrace</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   </a:t>
            </a:r>
            <a:r>
              <a:rPr b="1" lang="en-US" sz="800">
                <a:solidFill>
                  <a:srgbClr val="F286C4"/>
                </a:solidFill>
              </a:rPr>
              <a:t>try</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socket.</a:t>
            </a:r>
            <a:r>
              <a:rPr b="1" lang="en-US" sz="800">
                <a:solidFill>
                  <a:srgbClr val="62E884"/>
                </a:solidFill>
              </a:rPr>
              <a:t>close</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 </a:t>
            </a:r>
            <a:r>
              <a:rPr b="1" lang="en-US" sz="800">
                <a:solidFill>
                  <a:srgbClr val="F286C4"/>
                </a:solidFill>
              </a:rPr>
              <a:t>catch</a:t>
            </a:r>
            <a:r>
              <a:rPr b="1" lang="en-US" sz="800">
                <a:solidFill>
                  <a:srgbClr val="F6F6F4"/>
                </a:solidFill>
              </a:rPr>
              <a:t> (</a:t>
            </a:r>
            <a:r>
              <a:rPr b="1" lang="en-US" sz="800">
                <a:solidFill>
                  <a:srgbClr val="97E1F1"/>
                </a:solidFill>
              </a:rPr>
              <a:t>IOException</a:t>
            </a:r>
            <a:r>
              <a:rPr b="1" lang="en-US" sz="800">
                <a:solidFill>
                  <a:srgbClr val="F6F6F4"/>
                </a:solidFill>
              </a:rPr>
              <a:t> </a:t>
            </a:r>
            <a:r>
              <a:rPr b="1" i="1" lang="en-US" sz="800">
                <a:solidFill>
                  <a:srgbClr val="F6F6F4"/>
                </a:solidFill>
              </a:rPr>
              <a:t>e</a:t>
            </a: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e.</a:t>
            </a:r>
            <a:r>
              <a:rPr b="1" lang="en-US" sz="800">
                <a:solidFill>
                  <a:srgbClr val="62E884"/>
                </a:solidFill>
              </a:rPr>
              <a:t>printStackTrace</a:t>
            </a:r>
            <a:r>
              <a:rPr b="1" lang="en-US" sz="800">
                <a:solidFill>
                  <a:srgbClr val="F6F6F4"/>
                </a:solidFill>
              </a:rPr>
              <a:t>();</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    }</a:t>
            </a:r>
            <a:endParaRPr b="1" sz="8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rPr>
              <a:t>}</a:t>
            </a:r>
            <a:endParaRPr b="1" sz="800">
              <a:solidFill>
                <a:srgbClr val="F6F6F4"/>
              </a:solidFill>
            </a:endParaRPr>
          </a:p>
          <a:p>
            <a:pPr indent="0" lvl="0" marL="0" rtl="0" algn="l">
              <a:spcBef>
                <a:spcPts val="0"/>
              </a:spcBef>
              <a:spcAft>
                <a:spcPts val="0"/>
              </a:spcAft>
              <a:buNone/>
            </a:pPr>
            <a:r>
              <a:t/>
            </a:r>
            <a:endParaRPr b="1" sz="2200">
              <a:solidFill>
                <a:schemeClr val="dk1"/>
              </a:solidFill>
            </a:endParaRPr>
          </a:p>
        </p:txBody>
      </p:sp>
      <p:sp>
        <p:nvSpPr>
          <p:cNvPr id="521" name="Google Shape;521;p63"/>
          <p:cNvSpPr txBox="1"/>
          <p:nvPr/>
        </p:nvSpPr>
        <p:spPr>
          <a:xfrm>
            <a:off x="5674150" y="348817"/>
            <a:ext cx="6178200" cy="60894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b="1" lang="en-US" sz="1400">
                <a:solidFill>
                  <a:srgbClr val="F286C4"/>
                </a:solidFill>
              </a:rPr>
              <a:t>public</a:t>
            </a:r>
            <a:r>
              <a:rPr b="1" lang="en-US" sz="1400">
                <a:solidFill>
                  <a:srgbClr val="F6F6F4"/>
                </a:solidFill>
              </a:rPr>
              <a:t> </a:t>
            </a:r>
            <a:r>
              <a:rPr b="1" lang="en-US" sz="1400">
                <a:solidFill>
                  <a:srgbClr val="F286C4"/>
                </a:solidFill>
              </a:rPr>
              <a:t>class</a:t>
            </a:r>
            <a:r>
              <a:rPr b="1" lang="en-US" sz="1400">
                <a:solidFill>
                  <a:srgbClr val="F6F6F4"/>
                </a:solidFill>
              </a:rPr>
              <a:t> </a:t>
            </a:r>
            <a:r>
              <a:rPr b="1" lang="en-US" sz="1400">
                <a:solidFill>
                  <a:srgbClr val="97E1F1"/>
                </a:solidFill>
              </a:rPr>
              <a:t>ClientI</a:t>
            </a:r>
            <a:r>
              <a:rPr b="1" lang="en-US" sz="1400">
                <a:solidFill>
                  <a:srgbClr val="F6F6F4"/>
                </a:solidFill>
              </a:rPr>
              <a:t> {</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lang="en-US" sz="1400">
                <a:solidFill>
                  <a:srgbClr val="F286C4"/>
                </a:solidFill>
              </a:rPr>
              <a:t>public</a:t>
            </a:r>
            <a:r>
              <a:rPr b="1" lang="en-US" sz="1400">
                <a:solidFill>
                  <a:srgbClr val="F6F6F4"/>
                </a:solidFill>
              </a:rPr>
              <a:t> </a:t>
            </a:r>
            <a:r>
              <a:rPr b="1" lang="en-US" sz="1400">
                <a:solidFill>
                  <a:srgbClr val="F286C4"/>
                </a:solidFill>
              </a:rPr>
              <a:t>static</a:t>
            </a:r>
            <a:r>
              <a:rPr b="1" lang="en-US" sz="1400">
                <a:solidFill>
                  <a:srgbClr val="F6F6F4"/>
                </a:solidFill>
              </a:rPr>
              <a:t> </a:t>
            </a:r>
            <a:r>
              <a:rPr b="1" i="1" lang="en-US" sz="1400">
                <a:solidFill>
                  <a:srgbClr val="97E1F1"/>
                </a:solidFill>
              </a:rPr>
              <a:t>void</a:t>
            </a:r>
            <a:r>
              <a:rPr b="1" lang="en-US" sz="1400">
                <a:solidFill>
                  <a:srgbClr val="F6F6F4"/>
                </a:solidFill>
              </a:rPr>
              <a:t> </a:t>
            </a:r>
            <a:r>
              <a:rPr b="1" lang="en-US" sz="1400">
                <a:solidFill>
                  <a:srgbClr val="62E884"/>
                </a:solidFill>
              </a:rPr>
              <a:t>main</a:t>
            </a:r>
            <a:r>
              <a:rPr b="1" lang="en-US" sz="1400">
                <a:solidFill>
                  <a:srgbClr val="F6F6F4"/>
                </a:solidFill>
              </a:rPr>
              <a:t>(</a:t>
            </a:r>
            <a:r>
              <a:rPr b="1" lang="en-US" sz="1400">
                <a:solidFill>
                  <a:srgbClr val="97E1F1"/>
                </a:solidFill>
              </a:rPr>
              <a:t>String</a:t>
            </a:r>
            <a:r>
              <a:rPr b="1" lang="en-US" sz="1400">
                <a:solidFill>
                  <a:srgbClr val="F6F6F4"/>
                </a:solidFill>
              </a:rPr>
              <a:t>[] </a:t>
            </a:r>
            <a:r>
              <a:rPr b="1" i="1" lang="en-US" sz="1400">
                <a:solidFill>
                  <a:srgbClr val="FFB86C"/>
                </a:solidFill>
              </a:rPr>
              <a:t>args</a:t>
            </a:r>
            <a:r>
              <a:rPr b="1" lang="en-US" sz="1400">
                <a:solidFill>
                  <a:srgbClr val="F6F6F4"/>
                </a:solidFill>
              </a:rPr>
              <a:t>) {</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lang="en-US" sz="1400">
                <a:solidFill>
                  <a:srgbClr val="97E1F1"/>
                </a:solidFill>
              </a:rPr>
              <a:t>String</a:t>
            </a:r>
            <a:r>
              <a:rPr b="1" lang="en-US" sz="1400">
                <a:solidFill>
                  <a:srgbClr val="F6F6F4"/>
                </a:solidFill>
              </a:rPr>
              <a:t> host </a:t>
            </a:r>
            <a:r>
              <a:rPr b="1" lang="en-US" sz="1400">
                <a:solidFill>
                  <a:srgbClr val="F286C4"/>
                </a:solidFill>
              </a:rPr>
              <a:t>=</a:t>
            </a:r>
            <a:r>
              <a:rPr b="1" lang="en-US" sz="1400">
                <a:solidFill>
                  <a:srgbClr val="F6F6F4"/>
                </a:solidFill>
              </a:rPr>
              <a:t> </a:t>
            </a:r>
            <a:r>
              <a:rPr b="1" lang="en-US" sz="1400">
                <a:solidFill>
                  <a:srgbClr val="DEE492"/>
                </a:solidFill>
              </a:rPr>
              <a:t>"</a:t>
            </a:r>
            <a:r>
              <a:rPr b="1" lang="en-US" sz="1400">
                <a:solidFill>
                  <a:srgbClr val="E7EE98"/>
                </a:solidFill>
              </a:rPr>
              <a:t>localhost</a:t>
            </a:r>
            <a:r>
              <a:rPr b="1" lang="en-US" sz="1400">
                <a:solidFill>
                  <a:srgbClr val="DEE492"/>
                </a:solidFill>
              </a:rPr>
              <a:t>"</a:t>
            </a:r>
            <a:r>
              <a:rPr b="1" lang="en-US" sz="1400">
                <a:solidFill>
                  <a:srgbClr val="F6F6F4"/>
                </a:solidFill>
              </a:rPr>
              <a:t>;</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i="1" lang="en-US" sz="1400">
                <a:solidFill>
                  <a:srgbClr val="97E1F1"/>
                </a:solidFill>
              </a:rPr>
              <a:t>int</a:t>
            </a:r>
            <a:r>
              <a:rPr b="1" lang="en-US" sz="1400">
                <a:solidFill>
                  <a:srgbClr val="F6F6F4"/>
                </a:solidFill>
              </a:rPr>
              <a:t> port </a:t>
            </a:r>
            <a:r>
              <a:rPr b="1" lang="en-US" sz="1400">
                <a:solidFill>
                  <a:srgbClr val="F286C4"/>
                </a:solidFill>
              </a:rPr>
              <a:t>=</a:t>
            </a:r>
            <a:r>
              <a:rPr b="1" lang="en-US" sz="1400">
                <a:solidFill>
                  <a:srgbClr val="F6F6F4"/>
                </a:solidFill>
              </a:rPr>
              <a:t> </a:t>
            </a:r>
            <a:r>
              <a:rPr b="1" lang="en-US" sz="1400">
                <a:solidFill>
                  <a:srgbClr val="BF9EEE"/>
                </a:solidFill>
              </a:rPr>
              <a:t>12345</a:t>
            </a:r>
            <a:r>
              <a:rPr b="1" lang="en-US" sz="1400">
                <a:solidFill>
                  <a:srgbClr val="F6F6F4"/>
                </a:solidFill>
              </a:rPr>
              <a:t>;</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lang="en-US" sz="1400">
                <a:solidFill>
                  <a:srgbClr val="7B7F8B"/>
                </a:solidFill>
              </a:rPr>
              <a:t>// LM35: 3 thread</a:t>
            </a:r>
            <a:endParaRPr b="1" sz="1400">
              <a:solidFill>
                <a:srgbClr val="7B7F8B"/>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lang="en-US" sz="1400">
                <a:solidFill>
                  <a:srgbClr val="F286C4"/>
                </a:solidFill>
              </a:rPr>
              <a:t>new</a:t>
            </a:r>
            <a:r>
              <a:rPr b="1" lang="en-US" sz="1400">
                <a:solidFill>
                  <a:srgbClr val="F6F6F4"/>
                </a:solidFill>
              </a:rPr>
              <a:t> </a:t>
            </a:r>
            <a:r>
              <a:rPr b="1" lang="en-US" sz="1400">
                <a:solidFill>
                  <a:srgbClr val="62E884"/>
                </a:solidFill>
              </a:rPr>
              <a:t>SensorWorker</a:t>
            </a:r>
            <a:r>
              <a:rPr b="1" lang="en-US" sz="1400">
                <a:solidFill>
                  <a:srgbClr val="F6F6F4"/>
                </a:solidFill>
              </a:rPr>
              <a:t>(</a:t>
            </a:r>
            <a:r>
              <a:rPr b="1" lang="en-US" sz="1400">
                <a:solidFill>
                  <a:srgbClr val="DEE492"/>
                </a:solidFill>
              </a:rPr>
              <a:t>"</a:t>
            </a:r>
            <a:r>
              <a:rPr b="1" lang="en-US" sz="1400">
                <a:solidFill>
                  <a:srgbClr val="E7EE98"/>
                </a:solidFill>
              </a:rPr>
              <a:t>Client-I</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LM35</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1a</a:t>
            </a:r>
            <a:r>
              <a:rPr b="1" lang="en-US" sz="1400">
                <a:solidFill>
                  <a:srgbClr val="DEE492"/>
                </a:solidFill>
              </a:rPr>
              <a:t>"</a:t>
            </a:r>
            <a:r>
              <a:rPr b="1" lang="en-US" sz="1400">
                <a:solidFill>
                  <a:srgbClr val="F6F6F4"/>
                </a:solidFill>
              </a:rPr>
              <a:t>, </a:t>
            </a:r>
            <a:r>
              <a:rPr b="1" lang="en-US" sz="1400">
                <a:solidFill>
                  <a:srgbClr val="BF9EEE"/>
                </a:solidFill>
              </a:rPr>
              <a:t>2000</a:t>
            </a:r>
            <a:r>
              <a:rPr b="1" lang="en-US" sz="1400">
                <a:solidFill>
                  <a:srgbClr val="F6F6F4"/>
                </a:solidFill>
              </a:rPr>
              <a:t>, host, port).</a:t>
            </a:r>
            <a:r>
              <a:rPr b="1" lang="en-US" sz="1400">
                <a:solidFill>
                  <a:srgbClr val="62E884"/>
                </a:solidFill>
              </a:rPr>
              <a:t>start</a:t>
            </a:r>
            <a:r>
              <a:rPr b="1" lang="en-US" sz="1400">
                <a:solidFill>
                  <a:srgbClr val="F6F6F4"/>
                </a:solidFill>
              </a:rPr>
              <a:t>();</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lang="en-US" sz="1400">
                <a:solidFill>
                  <a:srgbClr val="F286C4"/>
                </a:solidFill>
              </a:rPr>
              <a:t>new</a:t>
            </a:r>
            <a:r>
              <a:rPr b="1" lang="en-US" sz="1400">
                <a:solidFill>
                  <a:srgbClr val="F6F6F4"/>
                </a:solidFill>
              </a:rPr>
              <a:t> </a:t>
            </a:r>
            <a:r>
              <a:rPr b="1" lang="en-US" sz="1400">
                <a:solidFill>
                  <a:srgbClr val="62E884"/>
                </a:solidFill>
              </a:rPr>
              <a:t>SensorWorker</a:t>
            </a:r>
            <a:r>
              <a:rPr b="1" lang="en-US" sz="1400">
                <a:solidFill>
                  <a:srgbClr val="F6F6F4"/>
                </a:solidFill>
              </a:rPr>
              <a:t>(</a:t>
            </a:r>
            <a:r>
              <a:rPr b="1" lang="en-US" sz="1400">
                <a:solidFill>
                  <a:srgbClr val="DEE492"/>
                </a:solidFill>
              </a:rPr>
              <a:t>"</a:t>
            </a:r>
            <a:r>
              <a:rPr b="1" lang="en-US" sz="1400">
                <a:solidFill>
                  <a:srgbClr val="E7EE98"/>
                </a:solidFill>
              </a:rPr>
              <a:t>Client-I</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LM35</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1b</a:t>
            </a:r>
            <a:r>
              <a:rPr b="1" lang="en-US" sz="1400">
                <a:solidFill>
                  <a:srgbClr val="DEE492"/>
                </a:solidFill>
              </a:rPr>
              <a:t>"</a:t>
            </a:r>
            <a:r>
              <a:rPr b="1" lang="en-US" sz="1400">
                <a:solidFill>
                  <a:srgbClr val="F6F6F4"/>
                </a:solidFill>
              </a:rPr>
              <a:t>, </a:t>
            </a:r>
            <a:r>
              <a:rPr b="1" lang="en-US" sz="1400">
                <a:solidFill>
                  <a:srgbClr val="BF9EEE"/>
                </a:solidFill>
              </a:rPr>
              <a:t>2000</a:t>
            </a:r>
            <a:r>
              <a:rPr b="1" lang="en-US" sz="1400">
                <a:solidFill>
                  <a:srgbClr val="F6F6F4"/>
                </a:solidFill>
              </a:rPr>
              <a:t>, host, port).</a:t>
            </a:r>
            <a:r>
              <a:rPr b="1" lang="en-US" sz="1400">
                <a:solidFill>
                  <a:srgbClr val="62E884"/>
                </a:solidFill>
              </a:rPr>
              <a:t>start</a:t>
            </a:r>
            <a:r>
              <a:rPr b="1" lang="en-US" sz="1400">
                <a:solidFill>
                  <a:srgbClr val="F6F6F4"/>
                </a:solidFill>
              </a:rPr>
              <a:t>();</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lang="en-US" sz="1400">
                <a:solidFill>
                  <a:srgbClr val="F286C4"/>
                </a:solidFill>
              </a:rPr>
              <a:t>new</a:t>
            </a:r>
            <a:r>
              <a:rPr b="1" lang="en-US" sz="1400">
                <a:solidFill>
                  <a:srgbClr val="F6F6F4"/>
                </a:solidFill>
              </a:rPr>
              <a:t> </a:t>
            </a:r>
            <a:r>
              <a:rPr b="1" lang="en-US" sz="1400">
                <a:solidFill>
                  <a:srgbClr val="62E884"/>
                </a:solidFill>
              </a:rPr>
              <a:t>SensorWorker</a:t>
            </a:r>
            <a:r>
              <a:rPr b="1" lang="en-US" sz="1400">
                <a:solidFill>
                  <a:srgbClr val="F6F6F4"/>
                </a:solidFill>
              </a:rPr>
              <a:t>(</a:t>
            </a:r>
            <a:r>
              <a:rPr b="1" lang="en-US" sz="1400">
                <a:solidFill>
                  <a:srgbClr val="DEE492"/>
                </a:solidFill>
              </a:rPr>
              <a:t>"</a:t>
            </a:r>
            <a:r>
              <a:rPr b="1" lang="en-US" sz="1400">
                <a:solidFill>
                  <a:srgbClr val="E7EE98"/>
                </a:solidFill>
              </a:rPr>
              <a:t>Client-I</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LM35</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1c</a:t>
            </a:r>
            <a:r>
              <a:rPr b="1" lang="en-US" sz="1400">
                <a:solidFill>
                  <a:srgbClr val="DEE492"/>
                </a:solidFill>
              </a:rPr>
              <a:t>"</a:t>
            </a:r>
            <a:r>
              <a:rPr b="1" lang="en-US" sz="1400">
                <a:solidFill>
                  <a:srgbClr val="F6F6F4"/>
                </a:solidFill>
              </a:rPr>
              <a:t>, </a:t>
            </a:r>
            <a:r>
              <a:rPr b="1" lang="en-US" sz="1400">
                <a:solidFill>
                  <a:srgbClr val="BF9EEE"/>
                </a:solidFill>
              </a:rPr>
              <a:t>2000</a:t>
            </a:r>
            <a:r>
              <a:rPr b="1" lang="en-US" sz="1400">
                <a:solidFill>
                  <a:srgbClr val="F6F6F4"/>
                </a:solidFill>
              </a:rPr>
              <a:t>, host, port).</a:t>
            </a:r>
            <a:r>
              <a:rPr b="1" lang="en-US" sz="1400">
                <a:solidFill>
                  <a:srgbClr val="62E884"/>
                </a:solidFill>
              </a:rPr>
              <a:t>start</a:t>
            </a:r>
            <a:r>
              <a:rPr b="1" lang="en-US" sz="1400">
                <a:solidFill>
                  <a:srgbClr val="F6F6F4"/>
                </a:solidFill>
              </a:rPr>
              <a:t>();</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lang="en-US" sz="1400">
                <a:solidFill>
                  <a:srgbClr val="7B7F8B"/>
                </a:solidFill>
              </a:rPr>
              <a:t>// BH170: 2 thread</a:t>
            </a:r>
            <a:endParaRPr b="1" sz="1400">
              <a:solidFill>
                <a:srgbClr val="7B7F8B"/>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lang="en-US" sz="1400">
                <a:solidFill>
                  <a:srgbClr val="F286C4"/>
                </a:solidFill>
              </a:rPr>
              <a:t>new</a:t>
            </a:r>
            <a:r>
              <a:rPr b="1" lang="en-US" sz="1400">
                <a:solidFill>
                  <a:srgbClr val="F6F6F4"/>
                </a:solidFill>
              </a:rPr>
              <a:t> </a:t>
            </a:r>
            <a:r>
              <a:rPr b="1" lang="en-US" sz="1400">
                <a:solidFill>
                  <a:srgbClr val="62E884"/>
                </a:solidFill>
              </a:rPr>
              <a:t>SensorWorker</a:t>
            </a:r>
            <a:r>
              <a:rPr b="1" lang="en-US" sz="1400">
                <a:solidFill>
                  <a:srgbClr val="F6F6F4"/>
                </a:solidFill>
              </a:rPr>
              <a:t>(</a:t>
            </a:r>
            <a:r>
              <a:rPr b="1" lang="en-US" sz="1400">
                <a:solidFill>
                  <a:srgbClr val="DEE492"/>
                </a:solidFill>
              </a:rPr>
              <a:t>"</a:t>
            </a:r>
            <a:r>
              <a:rPr b="1" lang="en-US" sz="1400">
                <a:solidFill>
                  <a:srgbClr val="E7EE98"/>
                </a:solidFill>
              </a:rPr>
              <a:t>Client-I</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BH170</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2a</a:t>
            </a:r>
            <a:r>
              <a:rPr b="1" lang="en-US" sz="1400">
                <a:solidFill>
                  <a:srgbClr val="DEE492"/>
                </a:solidFill>
              </a:rPr>
              <a:t>"</a:t>
            </a:r>
            <a:r>
              <a:rPr b="1" lang="en-US" sz="1400">
                <a:solidFill>
                  <a:srgbClr val="F6F6F4"/>
                </a:solidFill>
              </a:rPr>
              <a:t>, </a:t>
            </a:r>
            <a:r>
              <a:rPr b="1" lang="en-US" sz="1400">
                <a:solidFill>
                  <a:srgbClr val="BF9EEE"/>
                </a:solidFill>
              </a:rPr>
              <a:t>3000</a:t>
            </a:r>
            <a:r>
              <a:rPr b="1" lang="en-US" sz="1400">
                <a:solidFill>
                  <a:srgbClr val="F6F6F4"/>
                </a:solidFill>
              </a:rPr>
              <a:t>, host, port).</a:t>
            </a:r>
            <a:r>
              <a:rPr b="1" lang="en-US" sz="1400">
                <a:solidFill>
                  <a:srgbClr val="62E884"/>
                </a:solidFill>
              </a:rPr>
              <a:t>start</a:t>
            </a:r>
            <a:r>
              <a:rPr b="1" lang="en-US" sz="1400">
                <a:solidFill>
                  <a:srgbClr val="F6F6F4"/>
                </a:solidFill>
              </a:rPr>
              <a:t>();</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r>
              <a:rPr b="1" lang="en-US" sz="1400">
                <a:solidFill>
                  <a:srgbClr val="F286C4"/>
                </a:solidFill>
              </a:rPr>
              <a:t>new</a:t>
            </a:r>
            <a:r>
              <a:rPr b="1" lang="en-US" sz="1400">
                <a:solidFill>
                  <a:srgbClr val="F6F6F4"/>
                </a:solidFill>
              </a:rPr>
              <a:t> </a:t>
            </a:r>
            <a:r>
              <a:rPr b="1" lang="en-US" sz="1400">
                <a:solidFill>
                  <a:srgbClr val="62E884"/>
                </a:solidFill>
              </a:rPr>
              <a:t>SensorWorker</a:t>
            </a:r>
            <a:r>
              <a:rPr b="1" lang="en-US" sz="1400">
                <a:solidFill>
                  <a:srgbClr val="F6F6F4"/>
                </a:solidFill>
              </a:rPr>
              <a:t>(</a:t>
            </a:r>
            <a:r>
              <a:rPr b="1" lang="en-US" sz="1400">
                <a:solidFill>
                  <a:srgbClr val="DEE492"/>
                </a:solidFill>
              </a:rPr>
              <a:t>"</a:t>
            </a:r>
            <a:r>
              <a:rPr b="1" lang="en-US" sz="1400">
                <a:solidFill>
                  <a:srgbClr val="E7EE98"/>
                </a:solidFill>
              </a:rPr>
              <a:t>Client-I</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BH170</a:t>
            </a:r>
            <a:r>
              <a:rPr b="1" lang="en-US" sz="1400">
                <a:solidFill>
                  <a:srgbClr val="DEE492"/>
                </a:solidFill>
              </a:rPr>
              <a:t>"</a:t>
            </a:r>
            <a:r>
              <a:rPr b="1" lang="en-US" sz="1400">
                <a:solidFill>
                  <a:srgbClr val="F6F6F4"/>
                </a:solidFill>
              </a:rPr>
              <a:t>, </a:t>
            </a:r>
            <a:r>
              <a:rPr b="1" lang="en-US" sz="1400">
                <a:solidFill>
                  <a:srgbClr val="DEE492"/>
                </a:solidFill>
              </a:rPr>
              <a:t>"</a:t>
            </a:r>
            <a:r>
              <a:rPr b="1" lang="en-US" sz="1400">
                <a:solidFill>
                  <a:srgbClr val="E7EE98"/>
                </a:solidFill>
              </a:rPr>
              <a:t>2b</a:t>
            </a:r>
            <a:r>
              <a:rPr b="1" lang="en-US" sz="1400">
                <a:solidFill>
                  <a:srgbClr val="DEE492"/>
                </a:solidFill>
              </a:rPr>
              <a:t>"</a:t>
            </a:r>
            <a:r>
              <a:rPr b="1" lang="en-US" sz="1400">
                <a:solidFill>
                  <a:srgbClr val="F6F6F4"/>
                </a:solidFill>
              </a:rPr>
              <a:t>, </a:t>
            </a:r>
            <a:r>
              <a:rPr b="1" lang="en-US" sz="1400">
                <a:solidFill>
                  <a:srgbClr val="BF9EEE"/>
                </a:solidFill>
              </a:rPr>
              <a:t>3000</a:t>
            </a:r>
            <a:r>
              <a:rPr b="1" lang="en-US" sz="1400">
                <a:solidFill>
                  <a:srgbClr val="F6F6F4"/>
                </a:solidFill>
              </a:rPr>
              <a:t>, host, port).</a:t>
            </a:r>
            <a:r>
              <a:rPr b="1" lang="en-US" sz="1400">
                <a:solidFill>
                  <a:srgbClr val="62E884"/>
                </a:solidFill>
              </a:rPr>
              <a:t>start</a:t>
            </a:r>
            <a:r>
              <a:rPr b="1" lang="en-US" sz="1400">
                <a:solidFill>
                  <a:srgbClr val="F6F6F4"/>
                </a:solidFill>
              </a:rPr>
              <a:t>();</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    }</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rPr>
              <a:t>}</a:t>
            </a:r>
            <a:endParaRPr b="1" sz="1400">
              <a:solidFill>
                <a:srgbClr val="F6F6F4"/>
              </a:solidFill>
            </a:endParaRPr>
          </a:p>
          <a:p>
            <a:pPr indent="0" lvl="0" marL="0" rtl="0" algn="l">
              <a:lnSpc>
                <a:spcPct val="135714"/>
              </a:lnSpc>
              <a:spcBef>
                <a:spcPts val="0"/>
              </a:spcBef>
              <a:spcAft>
                <a:spcPts val="0"/>
              </a:spcAft>
              <a:buClr>
                <a:schemeClr val="dk1"/>
              </a:buClr>
              <a:buSzPts val="700"/>
              <a:buFont typeface="Arial"/>
              <a:buNone/>
            </a:pPr>
            <a:r>
              <a:t/>
            </a:r>
            <a:endParaRPr b="1" sz="1400">
              <a:solidFill>
                <a:srgbClr val="F6F6F4"/>
              </a:solidFill>
            </a:endParaRPr>
          </a:p>
          <a:p>
            <a:pPr indent="0" lvl="0" marL="0" rtl="0" algn="l">
              <a:spcBef>
                <a:spcPts val="0"/>
              </a:spcBef>
              <a:spcAft>
                <a:spcPts val="0"/>
              </a:spcAft>
              <a:buNone/>
            </a:pPr>
            <a:r>
              <a:t/>
            </a:r>
            <a:endParaRPr b="1" sz="2900">
              <a:solidFill>
                <a:schemeClr val="dk1"/>
              </a:solidFill>
            </a:endParaRPr>
          </a:p>
        </p:txBody>
      </p:sp>
      <p:sp>
        <p:nvSpPr>
          <p:cNvPr id="522" name="Google Shape;522;p6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26" name="Shape 526"/>
        <p:cNvGrpSpPr/>
        <p:nvPr/>
      </p:nvGrpSpPr>
      <p:grpSpPr>
        <a:xfrm>
          <a:off x="0" y="0"/>
          <a:ext cx="0" cy="0"/>
          <a:chOff x="0" y="0"/>
          <a:chExt cx="0" cy="0"/>
        </a:xfrm>
      </p:grpSpPr>
      <p:sp>
        <p:nvSpPr>
          <p:cNvPr id="527" name="Google Shape;527;p64"/>
          <p:cNvSpPr txBox="1"/>
          <p:nvPr/>
        </p:nvSpPr>
        <p:spPr>
          <a:xfrm>
            <a:off x="10275050" y="108550"/>
            <a:ext cx="1526700" cy="384900"/>
          </a:xfrm>
          <a:prstGeom prst="rect">
            <a:avLst/>
          </a:prstGeom>
          <a:noFill/>
          <a:ln>
            <a:noFill/>
          </a:ln>
        </p:spPr>
        <p:txBody>
          <a:bodyPr anchorCtr="0" anchor="t" bIns="30475" lIns="60950" spcFirstLastPara="1" rIns="60950" wrap="square" tIns="30475">
            <a:spAutoFit/>
          </a:bodyPr>
          <a:lstStyle/>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528" name="Google Shape;528;p64"/>
          <p:cNvSpPr txBox="1"/>
          <p:nvPr/>
        </p:nvSpPr>
        <p:spPr>
          <a:xfrm>
            <a:off x="0" y="0"/>
            <a:ext cx="6294900" cy="68580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latin typeface="Courier New"/>
                <a:ea typeface="Courier New"/>
                <a:cs typeface="Courier New"/>
                <a:sym typeface="Courier New"/>
              </a:rPr>
              <a:t>import</a:t>
            </a:r>
            <a:r>
              <a:rPr b="1" lang="en-US" sz="800">
                <a:solidFill>
                  <a:srgbClr val="F6F6F4"/>
                </a:solidFill>
                <a:latin typeface="Courier New"/>
                <a:ea typeface="Courier New"/>
                <a:cs typeface="Courier New"/>
                <a:sym typeface="Courier New"/>
              </a:rPr>
              <a:t> java.io.</a:t>
            </a:r>
            <a:r>
              <a:rPr b="1" i="1" lang="en-US" sz="800">
                <a:solidFill>
                  <a:srgbClr val="BF9EEE"/>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latin typeface="Courier New"/>
                <a:ea typeface="Courier New"/>
                <a:cs typeface="Courier New"/>
                <a:sym typeface="Courier New"/>
              </a:rPr>
              <a:t>import</a:t>
            </a:r>
            <a:r>
              <a:rPr b="1" lang="en-US" sz="800">
                <a:solidFill>
                  <a:srgbClr val="F6F6F4"/>
                </a:solidFill>
                <a:latin typeface="Courier New"/>
                <a:ea typeface="Courier New"/>
                <a:cs typeface="Courier New"/>
                <a:sym typeface="Courier New"/>
              </a:rPr>
              <a:t> java.net.</a:t>
            </a:r>
            <a:r>
              <a:rPr b="1" i="1" lang="en-US" sz="800">
                <a:solidFill>
                  <a:srgbClr val="BF9EEE"/>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latin typeface="Courier New"/>
                <a:ea typeface="Courier New"/>
                <a:cs typeface="Courier New"/>
                <a:sym typeface="Courier New"/>
              </a:rPr>
              <a:t>import</a:t>
            </a:r>
            <a:r>
              <a:rPr b="1" lang="en-US" sz="800">
                <a:solidFill>
                  <a:srgbClr val="F6F6F4"/>
                </a:solidFill>
                <a:latin typeface="Courier New"/>
                <a:ea typeface="Courier New"/>
                <a:cs typeface="Courier New"/>
                <a:sym typeface="Courier New"/>
              </a:rPr>
              <a:t> java.util.</a:t>
            </a:r>
            <a:r>
              <a:rPr b="1" i="1" lang="en-US" sz="800">
                <a:solidFill>
                  <a:srgbClr val="BF9EEE"/>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latin typeface="Courier New"/>
                <a:ea typeface="Courier New"/>
                <a:cs typeface="Courier New"/>
                <a:sym typeface="Courier New"/>
              </a:rPr>
              <a:t>class</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SensorWorkerII</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extends</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Thread</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private</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String</a:t>
            </a:r>
            <a:r>
              <a:rPr b="1" lang="en-US" sz="800">
                <a:solidFill>
                  <a:srgbClr val="F6F6F4"/>
                </a:solidFill>
                <a:latin typeface="Courier New"/>
                <a:ea typeface="Courier New"/>
                <a:cs typeface="Courier New"/>
                <a:sym typeface="Courier New"/>
              </a:rPr>
              <a:t> clientID;</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private</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String</a:t>
            </a:r>
            <a:r>
              <a:rPr b="1" lang="en-US" sz="800">
                <a:solidFill>
                  <a:srgbClr val="F6F6F4"/>
                </a:solidFill>
                <a:latin typeface="Courier New"/>
                <a:ea typeface="Courier New"/>
                <a:cs typeface="Courier New"/>
                <a:sym typeface="Courier New"/>
              </a:rPr>
              <a:t> sensorType;</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private</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String</a:t>
            </a:r>
            <a:r>
              <a:rPr b="1" lang="en-US" sz="800">
                <a:solidFill>
                  <a:srgbClr val="F6F6F4"/>
                </a:solidFill>
                <a:latin typeface="Courier New"/>
                <a:ea typeface="Courier New"/>
                <a:cs typeface="Courier New"/>
                <a:sym typeface="Courier New"/>
              </a:rPr>
              <a:t> sensorID;</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private</a:t>
            </a:r>
            <a:r>
              <a:rPr b="1" lang="en-US" sz="800">
                <a:solidFill>
                  <a:srgbClr val="F6F6F4"/>
                </a:solidFill>
                <a:latin typeface="Courier New"/>
                <a:ea typeface="Courier New"/>
                <a:cs typeface="Courier New"/>
                <a:sym typeface="Courier New"/>
              </a:rPr>
              <a:t> </a:t>
            </a:r>
            <a:r>
              <a:rPr b="1" i="1" lang="en-US" sz="800">
                <a:solidFill>
                  <a:srgbClr val="97E1F1"/>
                </a:solidFill>
                <a:latin typeface="Courier New"/>
                <a:ea typeface="Courier New"/>
                <a:cs typeface="Courier New"/>
                <a:sym typeface="Courier New"/>
              </a:rPr>
              <a:t>int</a:t>
            </a:r>
            <a:r>
              <a:rPr b="1" lang="en-US" sz="800">
                <a:solidFill>
                  <a:srgbClr val="F6F6F4"/>
                </a:solidFill>
                <a:latin typeface="Courier New"/>
                <a:ea typeface="Courier New"/>
                <a:cs typeface="Courier New"/>
                <a:sym typeface="Courier New"/>
              </a:rPr>
              <a:t> interval;</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private</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Socket</a:t>
            </a:r>
            <a:r>
              <a:rPr b="1" lang="en-US" sz="800">
                <a:solidFill>
                  <a:srgbClr val="F6F6F4"/>
                </a:solidFill>
                <a:latin typeface="Courier New"/>
                <a:ea typeface="Courier New"/>
                <a:cs typeface="Courier New"/>
                <a:sym typeface="Courier New"/>
              </a:rPr>
              <a:t> socket;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private</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PrintWriter</a:t>
            </a:r>
            <a:r>
              <a:rPr b="1" lang="en-US" sz="800">
                <a:solidFill>
                  <a:srgbClr val="F6F6F4"/>
                </a:solidFill>
                <a:latin typeface="Courier New"/>
                <a:ea typeface="Courier New"/>
                <a:cs typeface="Courier New"/>
                <a:sym typeface="Courier New"/>
              </a:rPr>
              <a:t> out;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private</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Random</a:t>
            </a:r>
            <a:r>
              <a:rPr b="1" lang="en-US" sz="800">
                <a:solidFill>
                  <a:srgbClr val="F6F6F4"/>
                </a:solidFill>
                <a:latin typeface="Courier New"/>
                <a:ea typeface="Courier New"/>
                <a:cs typeface="Courier New"/>
                <a:sym typeface="Courier New"/>
              </a:rPr>
              <a:t> rand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new</a:t>
            </a:r>
            <a:r>
              <a:rPr b="1" lang="en-US" sz="800">
                <a:solidFill>
                  <a:srgbClr val="F6F6F4"/>
                </a:solidFill>
                <a:latin typeface="Courier New"/>
                <a:ea typeface="Courier New"/>
                <a:cs typeface="Courier New"/>
                <a:sym typeface="Courier New"/>
              </a:rPr>
              <a:t> </a:t>
            </a:r>
            <a:r>
              <a:rPr b="1" lang="en-US" sz="800">
                <a:solidFill>
                  <a:srgbClr val="62E884"/>
                </a:solidFill>
                <a:latin typeface="Courier New"/>
                <a:ea typeface="Courier New"/>
                <a:cs typeface="Courier New"/>
                <a:sym typeface="Courier New"/>
              </a:rPr>
              <a:t>Random</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286C4"/>
                </a:solidFill>
                <a:latin typeface="Courier New"/>
                <a:ea typeface="Courier New"/>
                <a:cs typeface="Courier New"/>
                <a:sym typeface="Courier New"/>
              </a:rPr>
              <a:t>public</a:t>
            </a:r>
            <a:r>
              <a:rPr b="1" lang="en-US" sz="800">
                <a:solidFill>
                  <a:srgbClr val="F6F6F4"/>
                </a:solidFill>
                <a:latin typeface="Courier New"/>
                <a:ea typeface="Courier New"/>
                <a:cs typeface="Courier New"/>
                <a:sym typeface="Courier New"/>
              </a:rPr>
              <a:t> </a:t>
            </a:r>
            <a:r>
              <a:rPr b="1" lang="en-US" sz="800">
                <a:solidFill>
                  <a:srgbClr val="62E884"/>
                </a:solidFill>
                <a:latin typeface="Courier New"/>
                <a:ea typeface="Courier New"/>
                <a:cs typeface="Courier New"/>
                <a:sym typeface="Courier New"/>
              </a:rPr>
              <a:t>SensorWorkerII</a:t>
            </a:r>
            <a:r>
              <a:rPr b="1" lang="en-US" sz="800">
                <a:solidFill>
                  <a:srgbClr val="F6F6F4"/>
                </a:solidFill>
                <a:latin typeface="Courier New"/>
                <a:ea typeface="Courier New"/>
                <a:cs typeface="Courier New"/>
                <a:sym typeface="Courier New"/>
              </a:rPr>
              <a:t>(</a:t>
            </a:r>
            <a:r>
              <a:rPr b="1" lang="en-US" sz="800">
                <a:solidFill>
                  <a:srgbClr val="97E1F1"/>
                </a:solidFill>
                <a:latin typeface="Courier New"/>
                <a:ea typeface="Courier New"/>
                <a:cs typeface="Courier New"/>
                <a:sym typeface="Courier New"/>
              </a:rPr>
              <a:t>String</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clientID</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String</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sensorType</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String</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sensorID</a:t>
            </a:r>
            <a:r>
              <a:rPr b="1" lang="en-US" sz="800">
                <a:solidFill>
                  <a:srgbClr val="F6F6F4"/>
                </a:solidFill>
                <a:latin typeface="Courier New"/>
                <a:ea typeface="Courier New"/>
                <a:cs typeface="Courier New"/>
                <a:sym typeface="Courier New"/>
              </a:rPr>
              <a:t>, </a:t>
            </a:r>
            <a:r>
              <a:rPr b="1" i="1" lang="en-US" sz="800">
                <a:solidFill>
                  <a:srgbClr val="97E1F1"/>
                </a:solidFill>
                <a:latin typeface="Courier New"/>
                <a:ea typeface="Courier New"/>
                <a:cs typeface="Courier New"/>
                <a:sym typeface="Courier New"/>
              </a:rPr>
              <a:t>int</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interval</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String</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host</a:t>
            </a:r>
            <a:r>
              <a:rPr b="1" lang="en-US" sz="800">
                <a:solidFill>
                  <a:srgbClr val="F6F6F4"/>
                </a:solidFill>
                <a:latin typeface="Courier New"/>
                <a:ea typeface="Courier New"/>
                <a:cs typeface="Courier New"/>
                <a:sym typeface="Courier New"/>
              </a:rPr>
              <a:t>, </a:t>
            </a:r>
            <a:r>
              <a:rPr b="1" i="1" lang="en-US" sz="800">
                <a:solidFill>
                  <a:srgbClr val="97E1F1"/>
                </a:solidFill>
                <a:latin typeface="Courier New"/>
                <a:ea typeface="Courier New"/>
                <a:cs typeface="Courier New"/>
                <a:sym typeface="Courier New"/>
              </a:rPr>
              <a:t>int</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port</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i="1" lang="en-US" sz="800">
                <a:solidFill>
                  <a:srgbClr val="BF9EEE"/>
                </a:solidFill>
                <a:latin typeface="Courier New"/>
                <a:ea typeface="Courier New"/>
                <a:cs typeface="Courier New"/>
                <a:sym typeface="Courier New"/>
              </a:rPr>
              <a:t>this</a:t>
            </a:r>
            <a:r>
              <a:rPr b="1" lang="en-US" sz="800">
                <a:solidFill>
                  <a:srgbClr val="F6F6F4"/>
                </a:solidFill>
                <a:latin typeface="Courier New"/>
                <a:ea typeface="Courier New"/>
                <a:cs typeface="Courier New"/>
                <a:sym typeface="Courier New"/>
              </a:rPr>
              <a:t>.clientID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clientID</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i="1" lang="en-US" sz="800">
                <a:solidFill>
                  <a:srgbClr val="BF9EEE"/>
                </a:solidFill>
                <a:latin typeface="Courier New"/>
                <a:ea typeface="Courier New"/>
                <a:cs typeface="Courier New"/>
                <a:sym typeface="Courier New"/>
              </a:rPr>
              <a:t>this</a:t>
            </a:r>
            <a:r>
              <a:rPr b="1" lang="en-US" sz="800">
                <a:solidFill>
                  <a:srgbClr val="F6F6F4"/>
                </a:solidFill>
                <a:latin typeface="Courier New"/>
                <a:ea typeface="Courier New"/>
                <a:cs typeface="Courier New"/>
                <a:sym typeface="Courier New"/>
              </a:rPr>
              <a:t>.sensorType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sensorType</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i="1" lang="en-US" sz="800">
                <a:solidFill>
                  <a:srgbClr val="BF9EEE"/>
                </a:solidFill>
                <a:latin typeface="Courier New"/>
                <a:ea typeface="Courier New"/>
                <a:cs typeface="Courier New"/>
                <a:sym typeface="Courier New"/>
              </a:rPr>
              <a:t>this</a:t>
            </a:r>
            <a:r>
              <a:rPr b="1" lang="en-US" sz="800">
                <a:solidFill>
                  <a:srgbClr val="F6F6F4"/>
                </a:solidFill>
                <a:latin typeface="Courier New"/>
                <a:ea typeface="Courier New"/>
                <a:cs typeface="Courier New"/>
                <a:sym typeface="Courier New"/>
              </a:rPr>
              <a:t>.sensorID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sensorID</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i="1" lang="en-US" sz="800">
                <a:solidFill>
                  <a:srgbClr val="BF9EEE"/>
                </a:solidFill>
                <a:latin typeface="Courier New"/>
                <a:ea typeface="Courier New"/>
                <a:cs typeface="Courier New"/>
                <a:sym typeface="Courier New"/>
              </a:rPr>
              <a:t>this</a:t>
            </a:r>
            <a:r>
              <a:rPr b="1" lang="en-US" sz="800">
                <a:solidFill>
                  <a:srgbClr val="F6F6F4"/>
                </a:solidFill>
                <a:latin typeface="Courier New"/>
                <a:ea typeface="Courier New"/>
                <a:cs typeface="Courier New"/>
                <a:sym typeface="Courier New"/>
              </a:rPr>
              <a:t>.interval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interval</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try</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socket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new</a:t>
            </a:r>
            <a:r>
              <a:rPr b="1" lang="en-US" sz="800">
                <a:solidFill>
                  <a:srgbClr val="F6F6F4"/>
                </a:solidFill>
                <a:latin typeface="Courier New"/>
                <a:ea typeface="Courier New"/>
                <a:cs typeface="Courier New"/>
                <a:sym typeface="Courier New"/>
              </a:rPr>
              <a:t> </a:t>
            </a:r>
            <a:r>
              <a:rPr b="1" lang="en-US" sz="800">
                <a:solidFill>
                  <a:srgbClr val="62E884"/>
                </a:solidFill>
                <a:latin typeface="Courier New"/>
                <a:ea typeface="Courier New"/>
                <a:cs typeface="Courier New"/>
                <a:sym typeface="Courier New"/>
              </a:rPr>
              <a:t>Socket</a:t>
            </a:r>
            <a:r>
              <a:rPr b="1" lang="en-US" sz="800">
                <a:solidFill>
                  <a:srgbClr val="F6F6F4"/>
                </a:solidFill>
                <a:latin typeface="Courier New"/>
                <a:ea typeface="Courier New"/>
                <a:cs typeface="Courier New"/>
                <a:sym typeface="Courier New"/>
              </a:rPr>
              <a:t>(</a:t>
            </a:r>
            <a:r>
              <a:rPr b="1" i="1" lang="en-US" sz="800">
                <a:solidFill>
                  <a:srgbClr val="FFB86C"/>
                </a:solidFill>
                <a:latin typeface="Courier New"/>
                <a:ea typeface="Courier New"/>
                <a:cs typeface="Courier New"/>
                <a:sym typeface="Courier New"/>
              </a:rPr>
              <a:t>host</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port</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out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new</a:t>
            </a:r>
            <a:r>
              <a:rPr b="1" lang="en-US" sz="800">
                <a:solidFill>
                  <a:srgbClr val="F6F6F4"/>
                </a:solidFill>
                <a:latin typeface="Courier New"/>
                <a:ea typeface="Courier New"/>
                <a:cs typeface="Courier New"/>
                <a:sym typeface="Courier New"/>
              </a:rPr>
              <a:t> </a:t>
            </a:r>
            <a:r>
              <a:rPr b="1" lang="en-US" sz="800">
                <a:solidFill>
                  <a:srgbClr val="62E884"/>
                </a:solidFill>
                <a:latin typeface="Courier New"/>
                <a:ea typeface="Courier New"/>
                <a:cs typeface="Courier New"/>
                <a:sym typeface="Courier New"/>
              </a:rPr>
              <a:t>PrintWriter</a:t>
            </a:r>
            <a:r>
              <a:rPr b="1" lang="en-US" sz="800">
                <a:solidFill>
                  <a:srgbClr val="F6F6F4"/>
                </a:solidFill>
                <a:latin typeface="Courier New"/>
                <a:ea typeface="Courier New"/>
                <a:cs typeface="Courier New"/>
                <a:sym typeface="Courier New"/>
              </a:rPr>
              <a:t>(socket.</a:t>
            </a:r>
            <a:r>
              <a:rPr b="1" lang="en-US" sz="800">
                <a:solidFill>
                  <a:srgbClr val="62E884"/>
                </a:solidFill>
                <a:latin typeface="Courier New"/>
                <a:ea typeface="Courier New"/>
                <a:cs typeface="Courier New"/>
                <a:sym typeface="Courier New"/>
              </a:rPr>
              <a:t>getOutputStream</a:t>
            </a:r>
            <a:r>
              <a:rPr b="1" lang="en-US" sz="800">
                <a:solidFill>
                  <a:srgbClr val="F6F6F4"/>
                </a:solidFill>
                <a:latin typeface="Courier New"/>
                <a:ea typeface="Courier New"/>
                <a:cs typeface="Courier New"/>
                <a:sym typeface="Courier New"/>
              </a:rPr>
              <a:t>(), </a:t>
            </a:r>
            <a:r>
              <a:rPr b="1" lang="en-US" sz="800">
                <a:solidFill>
                  <a:srgbClr val="BF9EEE"/>
                </a:solidFill>
                <a:latin typeface="Courier New"/>
                <a:ea typeface="Courier New"/>
                <a:cs typeface="Courier New"/>
                <a:sym typeface="Courier New"/>
              </a:rPr>
              <a:t>true</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 </a:t>
            </a:r>
            <a:r>
              <a:rPr b="1" lang="en-US" sz="800">
                <a:solidFill>
                  <a:srgbClr val="F286C4"/>
                </a:solidFill>
                <a:latin typeface="Courier New"/>
                <a:ea typeface="Courier New"/>
                <a:cs typeface="Courier New"/>
                <a:sym typeface="Courier New"/>
              </a:rPr>
              <a:t>catch</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IOException</a:t>
            </a:r>
            <a:r>
              <a:rPr b="1" lang="en-US" sz="800">
                <a:solidFill>
                  <a:srgbClr val="F6F6F4"/>
                </a:solidFill>
                <a:latin typeface="Courier New"/>
                <a:ea typeface="Courier New"/>
                <a:cs typeface="Courier New"/>
                <a:sym typeface="Courier New"/>
              </a:rPr>
              <a:t> </a:t>
            </a:r>
            <a:r>
              <a:rPr b="1" i="1" lang="en-US" sz="800">
                <a:solidFill>
                  <a:srgbClr val="F6F6F4"/>
                </a:solidFill>
                <a:latin typeface="Courier New"/>
                <a:ea typeface="Courier New"/>
                <a:cs typeface="Courier New"/>
                <a:sym typeface="Courier New"/>
              </a:rPr>
              <a:t>e</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System</a:t>
            </a:r>
            <a:r>
              <a:rPr b="1" lang="en-US" sz="800">
                <a:solidFill>
                  <a:srgbClr val="F6F6F4"/>
                </a:solidFill>
                <a:latin typeface="Courier New"/>
                <a:ea typeface="Courier New"/>
                <a:cs typeface="Courier New"/>
                <a:sym typeface="Courier New"/>
              </a:rPr>
              <a:t>.</a:t>
            </a:r>
            <a:r>
              <a:rPr b="1" lang="en-US" sz="800">
                <a:solidFill>
                  <a:srgbClr val="BF9EEE"/>
                </a:solidFill>
                <a:latin typeface="Courier New"/>
                <a:ea typeface="Courier New"/>
                <a:cs typeface="Courier New"/>
                <a:sym typeface="Courier New"/>
              </a:rPr>
              <a:t>err</a:t>
            </a:r>
            <a:r>
              <a:rPr b="1" lang="en-US" sz="800">
                <a:solidFill>
                  <a:srgbClr val="F6F6F4"/>
                </a:solidFill>
                <a:latin typeface="Courier New"/>
                <a:ea typeface="Courier New"/>
                <a:cs typeface="Courier New"/>
                <a:sym typeface="Courier New"/>
              </a:rPr>
              <a:t>.</a:t>
            </a:r>
            <a:r>
              <a:rPr b="1" lang="en-US" sz="800">
                <a:solidFill>
                  <a:srgbClr val="62E884"/>
                </a:solidFill>
                <a:latin typeface="Courier New"/>
                <a:ea typeface="Courier New"/>
                <a:cs typeface="Courier New"/>
                <a:sym typeface="Courier New"/>
              </a:rPr>
              <a:t>println</a:t>
            </a:r>
            <a:r>
              <a:rPr b="1" lang="en-US" sz="800">
                <a:solidFill>
                  <a:srgbClr val="F6F6F4"/>
                </a:solidFill>
                <a:latin typeface="Courier New"/>
                <a:ea typeface="Courier New"/>
                <a:cs typeface="Courier New"/>
                <a:sym typeface="Courier New"/>
              </a:rPr>
              <a:t>(</a:t>
            </a:r>
            <a:r>
              <a:rPr b="1" lang="en-US" sz="800">
                <a:solidFill>
                  <a:srgbClr val="DEE492"/>
                </a:solidFill>
                <a:latin typeface="Courier New"/>
                <a:ea typeface="Courier New"/>
                <a:cs typeface="Courier New"/>
                <a:sym typeface="Courier New"/>
              </a:rPr>
              <a:t>"</a:t>
            </a:r>
            <a:r>
              <a:rPr b="1" lang="en-US" sz="800">
                <a:solidFill>
                  <a:srgbClr val="E7EE98"/>
                </a:solidFill>
                <a:latin typeface="Courier New"/>
                <a:ea typeface="Courier New"/>
                <a:cs typeface="Courier New"/>
                <a:sym typeface="Courier New"/>
              </a:rPr>
              <a:t> Không kết nối được đến server từ </a:t>
            </a:r>
            <a:r>
              <a:rPr b="1" lang="en-US" sz="800">
                <a:solidFill>
                  <a:srgbClr val="DEE492"/>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sensorType</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i="1" lang="en-US" sz="800">
                <a:solidFill>
                  <a:srgbClr val="FFB86C"/>
                </a:solidFill>
                <a:latin typeface="Courier New"/>
                <a:ea typeface="Courier New"/>
                <a:cs typeface="Courier New"/>
                <a:sym typeface="Courier New"/>
              </a:rPr>
              <a:t>sensorID</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 </a:t>
            </a:r>
            <a:r>
              <a:rPr b="1" lang="en-US" sz="800">
                <a:solidFill>
                  <a:srgbClr val="F286C4"/>
                </a:solidFill>
                <a:latin typeface="Courier New"/>
                <a:ea typeface="Courier New"/>
                <a:cs typeface="Courier New"/>
                <a:sym typeface="Courier New"/>
              </a:rPr>
              <a:t>private</a:t>
            </a:r>
            <a:r>
              <a:rPr b="1" lang="en-US" sz="800">
                <a:solidFill>
                  <a:srgbClr val="F6F6F4"/>
                </a:solidFill>
                <a:latin typeface="Courier New"/>
                <a:ea typeface="Courier New"/>
                <a:cs typeface="Courier New"/>
                <a:sym typeface="Courier New"/>
              </a:rPr>
              <a:t> </a:t>
            </a:r>
            <a:r>
              <a:rPr b="1" i="1" lang="en-US" sz="800">
                <a:solidFill>
                  <a:srgbClr val="97E1F1"/>
                </a:solidFill>
                <a:latin typeface="Courier New"/>
                <a:ea typeface="Courier New"/>
                <a:cs typeface="Courier New"/>
                <a:sym typeface="Courier New"/>
              </a:rPr>
              <a:t>int</a:t>
            </a:r>
            <a:r>
              <a:rPr b="1" lang="en-US" sz="800">
                <a:solidFill>
                  <a:srgbClr val="F6F6F4"/>
                </a:solidFill>
                <a:latin typeface="Courier New"/>
                <a:ea typeface="Courier New"/>
                <a:cs typeface="Courier New"/>
                <a:sym typeface="Courier New"/>
              </a:rPr>
              <a:t> </a:t>
            </a:r>
            <a:r>
              <a:rPr b="1" lang="en-US" sz="800">
                <a:solidFill>
                  <a:srgbClr val="62E884"/>
                </a:solidFill>
                <a:latin typeface="Courier New"/>
                <a:ea typeface="Courier New"/>
                <a:cs typeface="Courier New"/>
                <a:sym typeface="Courier New"/>
              </a:rPr>
              <a:t>getValue</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switch</a:t>
            </a:r>
            <a:r>
              <a:rPr b="1" lang="en-US" sz="800">
                <a:solidFill>
                  <a:srgbClr val="F6F6F4"/>
                </a:solidFill>
                <a:latin typeface="Courier New"/>
                <a:ea typeface="Courier New"/>
                <a:cs typeface="Courier New"/>
                <a:sym typeface="Courier New"/>
              </a:rPr>
              <a:t> (sensorType)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case</a:t>
            </a:r>
            <a:r>
              <a:rPr b="1" lang="en-US" sz="800">
                <a:solidFill>
                  <a:srgbClr val="F6F6F4"/>
                </a:solidFill>
                <a:latin typeface="Courier New"/>
                <a:ea typeface="Courier New"/>
                <a:cs typeface="Courier New"/>
                <a:sym typeface="Courier New"/>
              </a:rPr>
              <a:t> </a:t>
            </a:r>
            <a:r>
              <a:rPr b="1" lang="en-US" sz="800">
                <a:solidFill>
                  <a:srgbClr val="DEE492"/>
                </a:solidFill>
                <a:latin typeface="Courier New"/>
                <a:ea typeface="Courier New"/>
                <a:cs typeface="Courier New"/>
                <a:sym typeface="Courier New"/>
              </a:rPr>
              <a:t>"</a:t>
            </a:r>
            <a:r>
              <a:rPr b="1" lang="en-US" sz="800">
                <a:solidFill>
                  <a:srgbClr val="E7EE98"/>
                </a:solidFill>
                <a:latin typeface="Courier New"/>
                <a:ea typeface="Courier New"/>
                <a:cs typeface="Courier New"/>
                <a:sym typeface="Courier New"/>
              </a:rPr>
              <a:t>MQ2</a:t>
            </a:r>
            <a:r>
              <a:rPr b="1" lang="en-US" sz="800">
                <a:solidFill>
                  <a:srgbClr val="DEE492"/>
                </a:solidFill>
                <a:latin typeface="Courier New"/>
                <a:ea typeface="Courier New"/>
                <a:cs typeface="Courier New"/>
                <a:sym typeface="Courier New"/>
              </a:rPr>
              <a:t>"</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return</a:t>
            </a:r>
            <a:r>
              <a:rPr b="1" lang="en-US" sz="800">
                <a:solidFill>
                  <a:srgbClr val="F6F6F4"/>
                </a:solidFill>
                <a:latin typeface="Courier New"/>
                <a:ea typeface="Courier New"/>
                <a:cs typeface="Courier New"/>
                <a:sym typeface="Courier New"/>
              </a:rPr>
              <a:t> rand.</a:t>
            </a:r>
            <a:r>
              <a:rPr b="1" lang="en-US" sz="800">
                <a:solidFill>
                  <a:srgbClr val="62E884"/>
                </a:solidFill>
                <a:latin typeface="Courier New"/>
                <a:ea typeface="Courier New"/>
                <a:cs typeface="Courier New"/>
                <a:sym typeface="Courier New"/>
              </a:rPr>
              <a:t>nextInt</a:t>
            </a:r>
            <a:r>
              <a:rPr b="1" lang="en-US" sz="800">
                <a:solidFill>
                  <a:srgbClr val="F6F6F4"/>
                </a:solidFill>
                <a:latin typeface="Courier New"/>
                <a:ea typeface="Courier New"/>
                <a:cs typeface="Courier New"/>
                <a:sym typeface="Courier New"/>
              </a:rPr>
              <a:t>(</a:t>
            </a:r>
            <a:r>
              <a:rPr b="1" lang="en-US" sz="800">
                <a:solidFill>
                  <a:srgbClr val="BF9EEE"/>
                </a:solidFill>
                <a:latin typeface="Courier New"/>
                <a:ea typeface="Courier New"/>
                <a:cs typeface="Courier New"/>
                <a:sym typeface="Courier New"/>
              </a:rPr>
              <a:t>101</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case</a:t>
            </a:r>
            <a:r>
              <a:rPr b="1" lang="en-US" sz="800">
                <a:solidFill>
                  <a:srgbClr val="F6F6F4"/>
                </a:solidFill>
                <a:latin typeface="Courier New"/>
                <a:ea typeface="Courier New"/>
                <a:cs typeface="Courier New"/>
                <a:sym typeface="Courier New"/>
              </a:rPr>
              <a:t> </a:t>
            </a:r>
            <a:r>
              <a:rPr b="1" lang="en-US" sz="800">
                <a:solidFill>
                  <a:srgbClr val="DEE492"/>
                </a:solidFill>
                <a:latin typeface="Courier New"/>
                <a:ea typeface="Courier New"/>
                <a:cs typeface="Courier New"/>
                <a:sym typeface="Courier New"/>
              </a:rPr>
              <a:t>"</a:t>
            </a:r>
            <a:r>
              <a:rPr b="1" lang="en-US" sz="800">
                <a:solidFill>
                  <a:srgbClr val="E7EE98"/>
                </a:solidFill>
                <a:latin typeface="Courier New"/>
                <a:ea typeface="Courier New"/>
                <a:cs typeface="Courier New"/>
                <a:sym typeface="Courier New"/>
              </a:rPr>
              <a:t>MQ135</a:t>
            </a:r>
            <a:r>
              <a:rPr b="1" lang="en-US" sz="800">
                <a:solidFill>
                  <a:srgbClr val="DEE492"/>
                </a:solidFill>
                <a:latin typeface="Courier New"/>
                <a:ea typeface="Courier New"/>
                <a:cs typeface="Courier New"/>
                <a:sym typeface="Courier New"/>
              </a:rPr>
              <a:t>"</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return</a:t>
            </a:r>
            <a:r>
              <a:rPr b="1" lang="en-US" sz="800">
                <a:solidFill>
                  <a:srgbClr val="F6F6F4"/>
                </a:solidFill>
                <a:latin typeface="Courier New"/>
                <a:ea typeface="Courier New"/>
                <a:cs typeface="Courier New"/>
                <a:sym typeface="Courier New"/>
              </a:rPr>
              <a:t> rand.</a:t>
            </a:r>
            <a:r>
              <a:rPr b="1" lang="en-US" sz="800">
                <a:solidFill>
                  <a:srgbClr val="62E884"/>
                </a:solidFill>
                <a:latin typeface="Courier New"/>
                <a:ea typeface="Courier New"/>
                <a:cs typeface="Courier New"/>
                <a:sym typeface="Courier New"/>
              </a:rPr>
              <a:t>nextInt</a:t>
            </a:r>
            <a:r>
              <a:rPr b="1" lang="en-US" sz="800">
                <a:solidFill>
                  <a:srgbClr val="F6F6F4"/>
                </a:solidFill>
                <a:latin typeface="Courier New"/>
                <a:ea typeface="Courier New"/>
                <a:cs typeface="Courier New"/>
                <a:sym typeface="Courier New"/>
              </a:rPr>
              <a:t>(</a:t>
            </a:r>
            <a:r>
              <a:rPr b="1" lang="en-US" sz="800">
                <a:solidFill>
                  <a:srgbClr val="BF9EEE"/>
                </a:solidFill>
                <a:latin typeface="Courier New"/>
                <a:ea typeface="Courier New"/>
                <a:cs typeface="Courier New"/>
                <a:sym typeface="Courier New"/>
              </a:rPr>
              <a:t>501</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default: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return</a:t>
            </a:r>
            <a:r>
              <a:rPr b="1" lang="en-US" sz="800">
                <a:solidFill>
                  <a:srgbClr val="F6F6F4"/>
                </a:solidFill>
                <a:latin typeface="Courier New"/>
                <a:ea typeface="Courier New"/>
                <a:cs typeface="Courier New"/>
                <a:sym typeface="Courier New"/>
              </a:rPr>
              <a:t> </a:t>
            </a:r>
            <a:r>
              <a:rPr b="1" lang="en-US" sz="800">
                <a:solidFill>
                  <a:srgbClr val="BF9EEE"/>
                </a:solidFill>
                <a:latin typeface="Courier New"/>
                <a:ea typeface="Courier New"/>
                <a:cs typeface="Courier New"/>
                <a:sym typeface="Courier New"/>
              </a:rPr>
              <a:t>0</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  </a:t>
            </a:r>
            <a:r>
              <a:rPr b="1" lang="en-US" sz="800">
                <a:solidFill>
                  <a:srgbClr val="F286C4"/>
                </a:solidFill>
                <a:latin typeface="Courier New"/>
                <a:ea typeface="Courier New"/>
                <a:cs typeface="Courier New"/>
                <a:sym typeface="Courier New"/>
              </a:rPr>
              <a:t>public</a:t>
            </a:r>
            <a:r>
              <a:rPr b="1" lang="en-US" sz="800">
                <a:solidFill>
                  <a:srgbClr val="F6F6F4"/>
                </a:solidFill>
                <a:latin typeface="Courier New"/>
                <a:ea typeface="Courier New"/>
                <a:cs typeface="Courier New"/>
                <a:sym typeface="Courier New"/>
              </a:rPr>
              <a:t> </a:t>
            </a:r>
            <a:r>
              <a:rPr b="1" i="1" lang="en-US" sz="800">
                <a:solidFill>
                  <a:srgbClr val="97E1F1"/>
                </a:solidFill>
                <a:latin typeface="Courier New"/>
                <a:ea typeface="Courier New"/>
                <a:cs typeface="Courier New"/>
                <a:sym typeface="Courier New"/>
              </a:rPr>
              <a:t>void</a:t>
            </a:r>
            <a:r>
              <a:rPr b="1" lang="en-US" sz="800">
                <a:solidFill>
                  <a:srgbClr val="F6F6F4"/>
                </a:solidFill>
                <a:latin typeface="Courier New"/>
                <a:ea typeface="Courier New"/>
                <a:cs typeface="Courier New"/>
                <a:sym typeface="Courier New"/>
              </a:rPr>
              <a:t> </a:t>
            </a:r>
            <a:r>
              <a:rPr b="1" lang="en-US" sz="800">
                <a:solidFill>
                  <a:srgbClr val="62E884"/>
                </a:solidFill>
                <a:latin typeface="Courier New"/>
                <a:ea typeface="Courier New"/>
                <a:cs typeface="Courier New"/>
                <a:sym typeface="Courier New"/>
              </a:rPr>
              <a:t>run</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if</a:t>
            </a:r>
            <a:r>
              <a:rPr b="1" lang="en-US" sz="800">
                <a:solidFill>
                  <a:srgbClr val="F6F6F4"/>
                </a:solidFill>
                <a:latin typeface="Courier New"/>
                <a:ea typeface="Courier New"/>
                <a:cs typeface="Courier New"/>
                <a:sym typeface="Courier New"/>
              </a:rPr>
              <a:t> (out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BF9EEE"/>
                </a:solidFill>
                <a:latin typeface="Courier New"/>
                <a:ea typeface="Courier New"/>
                <a:cs typeface="Courier New"/>
                <a:sym typeface="Courier New"/>
              </a:rPr>
              <a:t>null</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return</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for</a:t>
            </a:r>
            <a:r>
              <a:rPr b="1" lang="en-US" sz="800">
                <a:solidFill>
                  <a:srgbClr val="F6F6F4"/>
                </a:solidFill>
                <a:latin typeface="Courier New"/>
                <a:ea typeface="Courier New"/>
                <a:cs typeface="Courier New"/>
                <a:sym typeface="Courier New"/>
              </a:rPr>
              <a:t> (</a:t>
            </a:r>
            <a:r>
              <a:rPr b="1" i="1" lang="en-US" sz="800">
                <a:solidFill>
                  <a:srgbClr val="97E1F1"/>
                </a:solidFill>
                <a:latin typeface="Courier New"/>
                <a:ea typeface="Courier New"/>
                <a:cs typeface="Courier New"/>
                <a:sym typeface="Courier New"/>
              </a:rPr>
              <a:t>int</a:t>
            </a:r>
            <a:r>
              <a:rPr b="1" lang="en-US" sz="800">
                <a:solidFill>
                  <a:srgbClr val="F6F6F4"/>
                </a:solidFill>
                <a:latin typeface="Courier New"/>
                <a:ea typeface="Courier New"/>
                <a:cs typeface="Courier New"/>
                <a:sym typeface="Courier New"/>
              </a:rPr>
              <a:t> i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BF9EEE"/>
                </a:solidFill>
                <a:latin typeface="Courier New"/>
                <a:ea typeface="Courier New"/>
                <a:cs typeface="Courier New"/>
                <a:sym typeface="Courier New"/>
              </a:rPr>
              <a:t>0</a:t>
            </a:r>
            <a:r>
              <a:rPr b="1" lang="en-US" sz="800">
                <a:solidFill>
                  <a:srgbClr val="F6F6F4"/>
                </a:solidFill>
                <a:latin typeface="Courier New"/>
                <a:ea typeface="Courier New"/>
                <a:cs typeface="Courier New"/>
                <a:sym typeface="Courier New"/>
              </a:rPr>
              <a:t>; i </a:t>
            </a:r>
            <a:r>
              <a:rPr b="1" lang="en-US" sz="800">
                <a:solidFill>
                  <a:srgbClr val="F286C4"/>
                </a:solidFill>
                <a:latin typeface="Courier New"/>
                <a:ea typeface="Courier New"/>
                <a:cs typeface="Courier New"/>
                <a:sym typeface="Courier New"/>
              </a:rPr>
              <a:t>&lt;</a:t>
            </a:r>
            <a:r>
              <a:rPr b="1" lang="en-US" sz="800">
                <a:solidFill>
                  <a:srgbClr val="F6F6F4"/>
                </a:solidFill>
                <a:latin typeface="Courier New"/>
                <a:ea typeface="Courier New"/>
                <a:cs typeface="Courier New"/>
                <a:sym typeface="Courier New"/>
              </a:rPr>
              <a:t> </a:t>
            </a:r>
            <a:r>
              <a:rPr b="1" lang="en-US" sz="800">
                <a:solidFill>
                  <a:srgbClr val="BF9EEE"/>
                </a:solidFill>
                <a:latin typeface="Courier New"/>
                <a:ea typeface="Courier New"/>
                <a:cs typeface="Courier New"/>
                <a:sym typeface="Courier New"/>
              </a:rPr>
              <a:t>10</a:t>
            </a:r>
            <a:r>
              <a:rPr b="1" lang="en-US" sz="800">
                <a:solidFill>
                  <a:srgbClr val="F6F6F4"/>
                </a:solidFill>
                <a:latin typeface="Courier New"/>
                <a:ea typeface="Courier New"/>
                <a:cs typeface="Courier New"/>
                <a:sym typeface="Courier New"/>
              </a:rPr>
              <a:t>; i</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i="1" lang="en-US" sz="800">
                <a:solidFill>
                  <a:srgbClr val="97E1F1"/>
                </a:solidFill>
                <a:latin typeface="Courier New"/>
                <a:ea typeface="Courier New"/>
                <a:cs typeface="Courier New"/>
                <a:sym typeface="Courier New"/>
              </a:rPr>
              <a:t>int</a:t>
            </a:r>
            <a:r>
              <a:rPr b="1" lang="en-US" sz="800">
                <a:solidFill>
                  <a:srgbClr val="F6F6F4"/>
                </a:solidFill>
                <a:latin typeface="Courier New"/>
                <a:ea typeface="Courier New"/>
                <a:cs typeface="Courier New"/>
                <a:sym typeface="Courier New"/>
              </a:rPr>
              <a:t> value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62E884"/>
                </a:solidFill>
                <a:latin typeface="Courier New"/>
                <a:ea typeface="Courier New"/>
                <a:cs typeface="Courier New"/>
                <a:sym typeface="Courier New"/>
              </a:rPr>
              <a:t>getValue</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String</a:t>
            </a:r>
            <a:r>
              <a:rPr b="1" lang="en-US" sz="800">
                <a:solidFill>
                  <a:srgbClr val="F6F6F4"/>
                </a:solidFill>
                <a:latin typeface="Courier New"/>
                <a:ea typeface="Courier New"/>
                <a:cs typeface="Courier New"/>
                <a:sym typeface="Courier New"/>
              </a:rPr>
              <a:t> message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DEE492"/>
                </a:solidFill>
                <a:latin typeface="Courier New"/>
                <a:ea typeface="Courier New"/>
                <a:cs typeface="Courier New"/>
                <a:sym typeface="Courier New"/>
              </a:rPr>
              <a:t>"</a:t>
            </a:r>
            <a:r>
              <a:rPr b="1" lang="en-US" sz="800">
                <a:solidFill>
                  <a:srgbClr val="E7EE98"/>
                </a:solidFill>
                <a:latin typeface="Courier New"/>
                <a:ea typeface="Courier New"/>
                <a:cs typeface="Courier New"/>
                <a:sym typeface="Courier New"/>
              </a:rPr>
              <a:t>[</a:t>
            </a:r>
            <a:r>
              <a:rPr b="1" lang="en-US" sz="800">
                <a:solidFill>
                  <a:srgbClr val="DEE492"/>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clientID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DEE492"/>
                </a:solidFill>
                <a:latin typeface="Courier New"/>
                <a:ea typeface="Courier New"/>
                <a:cs typeface="Courier New"/>
                <a:sym typeface="Courier New"/>
              </a:rPr>
              <a:t>"</a:t>
            </a:r>
            <a:r>
              <a:rPr b="1" lang="en-US" sz="800">
                <a:solidFill>
                  <a:srgbClr val="E7EE98"/>
                </a:solidFill>
                <a:latin typeface="Courier New"/>
                <a:ea typeface="Courier New"/>
                <a:cs typeface="Courier New"/>
                <a:sym typeface="Courier New"/>
              </a:rPr>
              <a:t>][</a:t>
            </a:r>
            <a:r>
              <a:rPr b="1" lang="en-US" sz="800">
                <a:solidFill>
                  <a:srgbClr val="DEE492"/>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sensorType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DEE492"/>
                </a:solidFill>
                <a:latin typeface="Courier New"/>
                <a:ea typeface="Courier New"/>
                <a:cs typeface="Courier New"/>
                <a:sym typeface="Courier New"/>
              </a:rPr>
              <a:t>"</a:t>
            </a:r>
            <a:r>
              <a:rPr b="1" lang="en-US" sz="800">
                <a:solidFill>
                  <a:srgbClr val="E7EE98"/>
                </a:solidFill>
                <a:latin typeface="Courier New"/>
                <a:ea typeface="Courier New"/>
                <a:cs typeface="Courier New"/>
                <a:sym typeface="Courier New"/>
              </a:rPr>
              <a:t>][</a:t>
            </a:r>
            <a:r>
              <a:rPr b="1" lang="en-US" sz="800">
                <a:solidFill>
                  <a:srgbClr val="DEE492"/>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sensorID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DEE492"/>
                </a:solidFill>
                <a:latin typeface="Courier New"/>
                <a:ea typeface="Courier New"/>
                <a:cs typeface="Courier New"/>
                <a:sym typeface="Courier New"/>
              </a:rPr>
              <a:t>"</a:t>
            </a:r>
            <a:r>
              <a:rPr b="1" lang="en-US" sz="800">
                <a:solidFill>
                  <a:srgbClr val="E7EE98"/>
                </a:solidFill>
                <a:latin typeface="Courier New"/>
                <a:ea typeface="Courier New"/>
                <a:cs typeface="Courier New"/>
                <a:sym typeface="Courier New"/>
              </a:rPr>
              <a:t>] = </a:t>
            </a:r>
            <a:r>
              <a:rPr b="1" lang="en-US" sz="800">
                <a:solidFill>
                  <a:srgbClr val="DEE492"/>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value;</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System</a:t>
            </a:r>
            <a:r>
              <a:rPr b="1" lang="en-US" sz="800">
                <a:solidFill>
                  <a:srgbClr val="F6F6F4"/>
                </a:solidFill>
                <a:latin typeface="Courier New"/>
                <a:ea typeface="Courier New"/>
                <a:cs typeface="Courier New"/>
                <a:sym typeface="Courier New"/>
              </a:rPr>
              <a:t>.</a:t>
            </a:r>
            <a:r>
              <a:rPr b="1" lang="en-US" sz="800">
                <a:solidFill>
                  <a:srgbClr val="BF9EEE"/>
                </a:solidFill>
                <a:latin typeface="Courier New"/>
                <a:ea typeface="Courier New"/>
                <a:cs typeface="Courier New"/>
                <a:sym typeface="Courier New"/>
              </a:rPr>
              <a:t>out</a:t>
            </a:r>
            <a:r>
              <a:rPr b="1" lang="en-US" sz="800">
                <a:solidFill>
                  <a:srgbClr val="F6F6F4"/>
                </a:solidFill>
                <a:latin typeface="Courier New"/>
                <a:ea typeface="Courier New"/>
                <a:cs typeface="Courier New"/>
                <a:sym typeface="Courier New"/>
              </a:rPr>
              <a:t>.</a:t>
            </a:r>
            <a:r>
              <a:rPr b="1" lang="en-US" sz="800">
                <a:solidFill>
                  <a:srgbClr val="62E884"/>
                </a:solidFill>
                <a:latin typeface="Courier New"/>
                <a:ea typeface="Courier New"/>
                <a:cs typeface="Courier New"/>
                <a:sym typeface="Courier New"/>
              </a:rPr>
              <a:t>println</a:t>
            </a:r>
            <a:r>
              <a:rPr b="1" lang="en-US" sz="800">
                <a:solidFill>
                  <a:srgbClr val="F6F6F4"/>
                </a:solidFill>
                <a:latin typeface="Courier New"/>
                <a:ea typeface="Courier New"/>
                <a:cs typeface="Courier New"/>
                <a:sym typeface="Courier New"/>
              </a:rPr>
              <a:t>(</a:t>
            </a:r>
            <a:r>
              <a:rPr b="1" lang="en-US" sz="800">
                <a:solidFill>
                  <a:srgbClr val="DEE492"/>
                </a:solidFill>
                <a:latin typeface="Courier New"/>
                <a:ea typeface="Courier New"/>
                <a:cs typeface="Courier New"/>
                <a:sym typeface="Courier New"/>
              </a:rPr>
              <a:t>"</a:t>
            </a:r>
            <a:r>
              <a:rPr b="1" lang="en-US" sz="800">
                <a:solidFill>
                  <a:srgbClr val="E7EE98"/>
                </a:solidFill>
                <a:latin typeface="Courier New"/>
                <a:ea typeface="Courier New"/>
                <a:cs typeface="Courier New"/>
                <a:sym typeface="Courier New"/>
              </a:rPr>
              <a:t>Gửi: </a:t>
            </a:r>
            <a:r>
              <a:rPr b="1" lang="en-US" sz="800">
                <a:solidFill>
                  <a:srgbClr val="DEE492"/>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a:t>
            </a:r>
            <a:r>
              <a:rPr b="1" lang="en-US" sz="800">
                <a:solidFill>
                  <a:srgbClr val="F6F6F4"/>
                </a:solidFill>
                <a:latin typeface="Courier New"/>
                <a:ea typeface="Courier New"/>
                <a:cs typeface="Courier New"/>
                <a:sym typeface="Courier New"/>
              </a:rPr>
              <a:t> message);</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out.</a:t>
            </a:r>
            <a:r>
              <a:rPr b="1" lang="en-US" sz="800">
                <a:solidFill>
                  <a:srgbClr val="62E884"/>
                </a:solidFill>
                <a:latin typeface="Courier New"/>
                <a:ea typeface="Courier New"/>
                <a:cs typeface="Courier New"/>
                <a:sym typeface="Courier New"/>
              </a:rPr>
              <a:t>println</a:t>
            </a:r>
            <a:r>
              <a:rPr b="1" lang="en-US" sz="800">
                <a:solidFill>
                  <a:srgbClr val="F6F6F4"/>
                </a:solidFill>
                <a:latin typeface="Courier New"/>
                <a:ea typeface="Courier New"/>
                <a:cs typeface="Courier New"/>
                <a:sym typeface="Courier New"/>
              </a:rPr>
              <a:t>(message);</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F286C4"/>
                </a:solidFill>
                <a:latin typeface="Courier New"/>
                <a:ea typeface="Courier New"/>
                <a:cs typeface="Courier New"/>
                <a:sym typeface="Courier New"/>
              </a:rPr>
              <a:t>try</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Thread</a:t>
            </a:r>
            <a:r>
              <a:rPr b="1" lang="en-US" sz="800">
                <a:solidFill>
                  <a:srgbClr val="F6F6F4"/>
                </a:solidFill>
                <a:latin typeface="Courier New"/>
                <a:ea typeface="Courier New"/>
                <a:cs typeface="Courier New"/>
                <a:sym typeface="Courier New"/>
              </a:rPr>
              <a:t>.</a:t>
            </a:r>
            <a:r>
              <a:rPr b="1" lang="en-US" sz="800">
                <a:solidFill>
                  <a:srgbClr val="62E884"/>
                </a:solidFill>
                <a:latin typeface="Courier New"/>
                <a:ea typeface="Courier New"/>
                <a:cs typeface="Courier New"/>
                <a:sym typeface="Courier New"/>
              </a:rPr>
              <a:t>sleep</a:t>
            </a:r>
            <a:r>
              <a:rPr b="1" lang="en-US" sz="800">
                <a:solidFill>
                  <a:srgbClr val="F6F6F4"/>
                </a:solidFill>
                <a:latin typeface="Courier New"/>
                <a:ea typeface="Courier New"/>
                <a:cs typeface="Courier New"/>
                <a:sym typeface="Courier New"/>
              </a:rPr>
              <a:t>(interval);</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 </a:t>
            </a:r>
            <a:r>
              <a:rPr b="1" lang="en-US" sz="800">
                <a:solidFill>
                  <a:srgbClr val="F286C4"/>
                </a:solidFill>
                <a:latin typeface="Courier New"/>
                <a:ea typeface="Courier New"/>
                <a:cs typeface="Courier New"/>
                <a:sym typeface="Courier New"/>
              </a:rPr>
              <a:t>catch</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InterruptedException</a:t>
            </a:r>
            <a:r>
              <a:rPr b="1" lang="en-US" sz="800">
                <a:solidFill>
                  <a:srgbClr val="F6F6F4"/>
                </a:solidFill>
                <a:latin typeface="Courier New"/>
                <a:ea typeface="Courier New"/>
                <a:cs typeface="Courier New"/>
                <a:sym typeface="Courier New"/>
              </a:rPr>
              <a:t> </a:t>
            </a:r>
            <a:r>
              <a:rPr b="1" i="1" lang="en-US" sz="800">
                <a:solidFill>
                  <a:srgbClr val="F6F6F4"/>
                </a:solidFill>
                <a:latin typeface="Courier New"/>
                <a:ea typeface="Courier New"/>
                <a:cs typeface="Courier New"/>
                <a:sym typeface="Courier New"/>
              </a:rPr>
              <a:t>e</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e.</a:t>
            </a:r>
            <a:r>
              <a:rPr b="1" lang="en-US" sz="800">
                <a:solidFill>
                  <a:srgbClr val="62E884"/>
                </a:solidFill>
                <a:latin typeface="Courier New"/>
                <a:ea typeface="Courier New"/>
                <a:cs typeface="Courier New"/>
                <a:sym typeface="Courier New"/>
              </a:rPr>
              <a:t>printStackTrace</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  </a:t>
            </a:r>
            <a:r>
              <a:rPr b="1" lang="en-US" sz="800">
                <a:solidFill>
                  <a:srgbClr val="F286C4"/>
                </a:solidFill>
                <a:latin typeface="Courier New"/>
                <a:ea typeface="Courier New"/>
                <a:cs typeface="Courier New"/>
                <a:sym typeface="Courier New"/>
              </a:rPr>
              <a:t>try</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socket.</a:t>
            </a:r>
            <a:r>
              <a:rPr b="1" lang="en-US" sz="800">
                <a:solidFill>
                  <a:srgbClr val="62E884"/>
                </a:solidFill>
                <a:latin typeface="Courier New"/>
                <a:ea typeface="Courier New"/>
                <a:cs typeface="Courier New"/>
                <a:sym typeface="Courier New"/>
              </a:rPr>
              <a:t>close</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 </a:t>
            </a:r>
            <a:r>
              <a:rPr b="1" lang="en-US" sz="800">
                <a:solidFill>
                  <a:srgbClr val="F286C4"/>
                </a:solidFill>
                <a:latin typeface="Courier New"/>
                <a:ea typeface="Courier New"/>
                <a:cs typeface="Courier New"/>
                <a:sym typeface="Courier New"/>
              </a:rPr>
              <a:t>catch</a:t>
            </a:r>
            <a:r>
              <a:rPr b="1" lang="en-US" sz="800">
                <a:solidFill>
                  <a:srgbClr val="F6F6F4"/>
                </a:solidFill>
                <a:latin typeface="Courier New"/>
                <a:ea typeface="Courier New"/>
                <a:cs typeface="Courier New"/>
                <a:sym typeface="Courier New"/>
              </a:rPr>
              <a:t> (</a:t>
            </a:r>
            <a:r>
              <a:rPr b="1" lang="en-US" sz="800">
                <a:solidFill>
                  <a:srgbClr val="97E1F1"/>
                </a:solidFill>
                <a:latin typeface="Courier New"/>
                <a:ea typeface="Courier New"/>
                <a:cs typeface="Courier New"/>
                <a:sym typeface="Courier New"/>
              </a:rPr>
              <a:t>IOException</a:t>
            </a:r>
            <a:r>
              <a:rPr b="1" lang="en-US" sz="800">
                <a:solidFill>
                  <a:srgbClr val="F6F6F4"/>
                </a:solidFill>
                <a:latin typeface="Courier New"/>
                <a:ea typeface="Courier New"/>
                <a:cs typeface="Courier New"/>
                <a:sym typeface="Courier New"/>
              </a:rPr>
              <a:t> </a:t>
            </a:r>
            <a:r>
              <a:rPr b="1" i="1" lang="en-US" sz="800">
                <a:solidFill>
                  <a:srgbClr val="F6F6F4"/>
                </a:solidFill>
                <a:latin typeface="Courier New"/>
                <a:ea typeface="Courier New"/>
                <a:cs typeface="Courier New"/>
                <a:sym typeface="Courier New"/>
              </a:rPr>
              <a:t>e</a:t>
            </a: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e.</a:t>
            </a:r>
            <a:r>
              <a:rPr b="1" lang="en-US" sz="800">
                <a:solidFill>
                  <a:srgbClr val="62E884"/>
                </a:solidFill>
                <a:latin typeface="Courier New"/>
                <a:ea typeface="Courier New"/>
                <a:cs typeface="Courier New"/>
                <a:sym typeface="Courier New"/>
              </a:rPr>
              <a:t>printStackTrace</a:t>
            </a: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    }</a:t>
            </a:r>
            <a:endParaRPr b="1" sz="8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800">
                <a:solidFill>
                  <a:srgbClr val="F6F6F4"/>
                </a:solidFill>
                <a:latin typeface="Courier New"/>
                <a:ea typeface="Courier New"/>
                <a:cs typeface="Courier New"/>
                <a:sym typeface="Courier New"/>
              </a:rPr>
              <a:t>}</a:t>
            </a:r>
            <a:endParaRPr b="1" sz="800">
              <a:solidFill>
                <a:srgbClr val="F6F6F4"/>
              </a:solidFill>
              <a:latin typeface="Courier New"/>
              <a:ea typeface="Courier New"/>
              <a:cs typeface="Courier New"/>
              <a:sym typeface="Courier New"/>
            </a:endParaRPr>
          </a:p>
          <a:p>
            <a:pPr indent="0" lvl="0" marL="0" rtl="0" algn="l">
              <a:spcBef>
                <a:spcPts val="0"/>
              </a:spcBef>
              <a:spcAft>
                <a:spcPts val="0"/>
              </a:spcAft>
              <a:buNone/>
            </a:pPr>
            <a:r>
              <a:t/>
            </a:r>
            <a:endParaRPr b="1" sz="800">
              <a:solidFill>
                <a:srgbClr val="7B7F8B"/>
              </a:solidFill>
            </a:endParaRPr>
          </a:p>
        </p:txBody>
      </p:sp>
      <p:sp>
        <p:nvSpPr>
          <p:cNvPr id="529" name="Google Shape;529;p64"/>
          <p:cNvSpPr txBox="1"/>
          <p:nvPr/>
        </p:nvSpPr>
        <p:spPr>
          <a:xfrm>
            <a:off x="5674150" y="348817"/>
            <a:ext cx="6178200" cy="6089400"/>
          </a:xfrm>
          <a:prstGeom prst="rect">
            <a:avLst/>
          </a:prstGeom>
          <a:noFill/>
          <a:ln>
            <a:noFill/>
          </a:ln>
        </p:spPr>
        <p:txBody>
          <a:bodyPr anchorCtr="0" anchor="t" bIns="60950" lIns="60950" spcFirstLastPara="1" rIns="60950" wrap="square" tIns="60950">
            <a:noAutofit/>
          </a:bodyPr>
          <a:lstStyle/>
          <a:p>
            <a:pPr indent="0" lvl="0" marL="0" rtl="0" algn="l">
              <a:lnSpc>
                <a:spcPct val="135714"/>
              </a:lnSpc>
              <a:spcBef>
                <a:spcPts val="0"/>
              </a:spcBef>
              <a:spcAft>
                <a:spcPts val="0"/>
              </a:spcAft>
              <a:buClr>
                <a:schemeClr val="dk1"/>
              </a:buClr>
              <a:buSzPts val="700"/>
              <a:buFont typeface="Arial"/>
              <a:buNone/>
            </a:pPr>
            <a:r>
              <a:rPr b="1" lang="en-US" sz="1400">
                <a:solidFill>
                  <a:srgbClr val="F286C4"/>
                </a:solidFill>
                <a:latin typeface="Courier New"/>
                <a:ea typeface="Courier New"/>
                <a:cs typeface="Courier New"/>
                <a:sym typeface="Courier New"/>
              </a:rPr>
              <a:t>public</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class</a:t>
            </a: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ClientII</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public</a:t>
            </a: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static</a:t>
            </a:r>
            <a:r>
              <a:rPr b="1" lang="en-US" sz="1400">
                <a:solidFill>
                  <a:srgbClr val="F6F6F4"/>
                </a:solidFill>
                <a:latin typeface="Courier New"/>
                <a:ea typeface="Courier New"/>
                <a:cs typeface="Courier New"/>
                <a:sym typeface="Courier New"/>
              </a:rPr>
              <a:t> </a:t>
            </a:r>
            <a:r>
              <a:rPr b="1" i="1" lang="en-US" sz="1400">
                <a:solidFill>
                  <a:srgbClr val="97E1F1"/>
                </a:solidFill>
                <a:latin typeface="Courier New"/>
                <a:ea typeface="Courier New"/>
                <a:cs typeface="Courier New"/>
                <a:sym typeface="Courier New"/>
              </a:rPr>
              <a:t>void</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main</a:t>
            </a:r>
            <a:r>
              <a:rPr b="1" lang="en-US" sz="1400">
                <a:solidFill>
                  <a:srgbClr val="F6F6F4"/>
                </a:solidFill>
                <a:latin typeface="Courier New"/>
                <a:ea typeface="Courier New"/>
                <a:cs typeface="Courier New"/>
                <a:sym typeface="Courier New"/>
              </a:rPr>
              <a:t>(</a:t>
            </a:r>
            <a:r>
              <a:rPr b="1" lang="en-US" sz="1400">
                <a:solidFill>
                  <a:srgbClr val="97E1F1"/>
                </a:solidFill>
                <a:latin typeface="Courier New"/>
                <a:ea typeface="Courier New"/>
                <a:cs typeface="Courier New"/>
                <a:sym typeface="Courier New"/>
              </a:rPr>
              <a:t>String</a:t>
            </a:r>
            <a:r>
              <a:rPr b="1" lang="en-US" sz="1400">
                <a:solidFill>
                  <a:srgbClr val="F6F6F4"/>
                </a:solidFill>
                <a:latin typeface="Courier New"/>
                <a:ea typeface="Courier New"/>
                <a:cs typeface="Courier New"/>
                <a:sym typeface="Courier New"/>
              </a:rPr>
              <a:t>[] </a:t>
            </a:r>
            <a:r>
              <a:rPr b="1" i="1" lang="en-US" sz="1400">
                <a:solidFill>
                  <a:srgbClr val="FFB86C"/>
                </a:solidFill>
                <a:latin typeface="Courier New"/>
                <a:ea typeface="Courier New"/>
                <a:cs typeface="Courier New"/>
                <a:sym typeface="Courier New"/>
              </a:rPr>
              <a:t>args</a:t>
            </a: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97E1F1"/>
                </a:solidFill>
                <a:latin typeface="Courier New"/>
                <a:ea typeface="Courier New"/>
                <a:cs typeface="Courier New"/>
                <a:sym typeface="Courier New"/>
              </a:rPr>
              <a:t>String</a:t>
            </a:r>
            <a:r>
              <a:rPr b="1" lang="en-US" sz="1400">
                <a:solidFill>
                  <a:srgbClr val="F6F6F4"/>
                </a:solidFill>
                <a:latin typeface="Courier New"/>
                <a:ea typeface="Courier New"/>
                <a:cs typeface="Courier New"/>
                <a:sym typeface="Courier New"/>
              </a:rPr>
              <a:t> host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localhost</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i="1" lang="en-US" sz="1400">
                <a:solidFill>
                  <a:srgbClr val="97E1F1"/>
                </a:solidFill>
                <a:latin typeface="Courier New"/>
                <a:ea typeface="Courier New"/>
                <a:cs typeface="Courier New"/>
                <a:sym typeface="Courier New"/>
              </a:rPr>
              <a:t>int</a:t>
            </a:r>
            <a:r>
              <a:rPr b="1" lang="en-US" sz="1400">
                <a:solidFill>
                  <a:srgbClr val="F6F6F4"/>
                </a:solidFill>
                <a:latin typeface="Courier New"/>
                <a:ea typeface="Courier New"/>
                <a:cs typeface="Courier New"/>
                <a:sym typeface="Courier New"/>
              </a:rPr>
              <a:t> port </a:t>
            </a:r>
            <a:r>
              <a:rPr b="1" lang="en-US" sz="1400">
                <a:solidFill>
                  <a:srgbClr val="F286C4"/>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12345</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7B7F8B"/>
                </a:solidFill>
                <a:latin typeface="Courier New"/>
                <a:ea typeface="Courier New"/>
                <a:cs typeface="Courier New"/>
                <a:sym typeface="Courier New"/>
              </a:rPr>
              <a:t>// MQ2</a:t>
            </a:r>
            <a:endParaRPr b="1" sz="1400">
              <a:solidFill>
                <a:srgbClr val="7B7F8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SensorWorkerII</a:t>
            </a:r>
            <a:r>
              <a:rPr b="1" lang="en-US" sz="1400">
                <a:solidFill>
                  <a:srgbClr val="F6F6F4"/>
                </a:solidFill>
                <a:latin typeface="Courier New"/>
                <a:ea typeface="Courier New"/>
                <a:cs typeface="Courier New"/>
                <a:sym typeface="Courier New"/>
              </a:rPr>
              <a:t>(</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Client-II</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MQ2</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1a</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4000</a:t>
            </a:r>
            <a:r>
              <a:rPr b="1" lang="en-US" sz="1400">
                <a:solidFill>
                  <a:srgbClr val="F6F6F4"/>
                </a:solidFill>
                <a:latin typeface="Courier New"/>
                <a:ea typeface="Courier New"/>
                <a:cs typeface="Courier New"/>
                <a:sym typeface="Courier New"/>
              </a:rPr>
              <a:t>, host, port).</a:t>
            </a:r>
            <a:r>
              <a:rPr b="1" lang="en-US" sz="1400">
                <a:solidFill>
                  <a:srgbClr val="62E884"/>
                </a:solidFill>
                <a:latin typeface="Courier New"/>
                <a:ea typeface="Courier New"/>
                <a:cs typeface="Courier New"/>
                <a:sym typeface="Courier New"/>
              </a:rPr>
              <a:t>start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SensorWorkerII</a:t>
            </a:r>
            <a:r>
              <a:rPr b="1" lang="en-US" sz="1400">
                <a:solidFill>
                  <a:srgbClr val="F6F6F4"/>
                </a:solidFill>
                <a:latin typeface="Courier New"/>
                <a:ea typeface="Courier New"/>
                <a:cs typeface="Courier New"/>
                <a:sym typeface="Courier New"/>
              </a:rPr>
              <a:t>(</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Client-II</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MQ2</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1b</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4000</a:t>
            </a:r>
            <a:r>
              <a:rPr b="1" lang="en-US" sz="1400">
                <a:solidFill>
                  <a:srgbClr val="F6F6F4"/>
                </a:solidFill>
                <a:latin typeface="Courier New"/>
                <a:ea typeface="Courier New"/>
                <a:cs typeface="Courier New"/>
                <a:sym typeface="Courier New"/>
              </a:rPr>
              <a:t>, host, port).</a:t>
            </a:r>
            <a:r>
              <a:rPr b="1" lang="en-US" sz="1400">
                <a:solidFill>
                  <a:srgbClr val="62E884"/>
                </a:solidFill>
                <a:latin typeface="Courier New"/>
                <a:ea typeface="Courier New"/>
                <a:cs typeface="Courier New"/>
                <a:sym typeface="Courier New"/>
              </a:rPr>
              <a:t>start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7B7F8B"/>
                </a:solidFill>
                <a:latin typeface="Courier New"/>
                <a:ea typeface="Courier New"/>
                <a:cs typeface="Courier New"/>
                <a:sym typeface="Courier New"/>
              </a:rPr>
              <a:t>// MQ135</a:t>
            </a:r>
            <a:endParaRPr b="1" sz="1400">
              <a:solidFill>
                <a:srgbClr val="7B7F8B"/>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SensorWorkerII</a:t>
            </a:r>
            <a:r>
              <a:rPr b="1" lang="en-US" sz="1400">
                <a:solidFill>
                  <a:srgbClr val="F6F6F4"/>
                </a:solidFill>
                <a:latin typeface="Courier New"/>
                <a:ea typeface="Courier New"/>
                <a:cs typeface="Courier New"/>
                <a:sym typeface="Courier New"/>
              </a:rPr>
              <a:t>(</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Client-II</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MQ135</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2a</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5000</a:t>
            </a:r>
            <a:r>
              <a:rPr b="1" lang="en-US" sz="1400">
                <a:solidFill>
                  <a:srgbClr val="F6F6F4"/>
                </a:solidFill>
                <a:latin typeface="Courier New"/>
                <a:ea typeface="Courier New"/>
                <a:cs typeface="Courier New"/>
                <a:sym typeface="Courier New"/>
              </a:rPr>
              <a:t>, host, port).</a:t>
            </a:r>
            <a:r>
              <a:rPr b="1" lang="en-US" sz="1400">
                <a:solidFill>
                  <a:srgbClr val="62E884"/>
                </a:solidFill>
                <a:latin typeface="Courier New"/>
                <a:ea typeface="Courier New"/>
                <a:cs typeface="Courier New"/>
                <a:sym typeface="Courier New"/>
              </a:rPr>
              <a:t>start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r>
              <a:rPr b="1" lang="en-US" sz="1400">
                <a:solidFill>
                  <a:srgbClr val="F286C4"/>
                </a:solidFill>
                <a:latin typeface="Courier New"/>
                <a:ea typeface="Courier New"/>
                <a:cs typeface="Courier New"/>
                <a:sym typeface="Courier New"/>
              </a:rPr>
              <a:t>new</a:t>
            </a:r>
            <a:r>
              <a:rPr b="1" lang="en-US" sz="1400">
                <a:solidFill>
                  <a:srgbClr val="F6F6F4"/>
                </a:solidFill>
                <a:latin typeface="Courier New"/>
                <a:ea typeface="Courier New"/>
                <a:cs typeface="Courier New"/>
                <a:sym typeface="Courier New"/>
              </a:rPr>
              <a:t> </a:t>
            </a:r>
            <a:r>
              <a:rPr b="1" lang="en-US" sz="1400">
                <a:solidFill>
                  <a:srgbClr val="62E884"/>
                </a:solidFill>
                <a:latin typeface="Courier New"/>
                <a:ea typeface="Courier New"/>
                <a:cs typeface="Courier New"/>
                <a:sym typeface="Courier New"/>
              </a:rPr>
              <a:t>SensorWorkerII</a:t>
            </a:r>
            <a:r>
              <a:rPr b="1" lang="en-US" sz="1400">
                <a:solidFill>
                  <a:srgbClr val="F6F6F4"/>
                </a:solidFill>
                <a:latin typeface="Courier New"/>
                <a:ea typeface="Courier New"/>
                <a:cs typeface="Courier New"/>
                <a:sym typeface="Courier New"/>
              </a:rPr>
              <a:t>(</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Client-II</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MQ135</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DEE492"/>
                </a:solidFill>
                <a:latin typeface="Courier New"/>
                <a:ea typeface="Courier New"/>
                <a:cs typeface="Courier New"/>
                <a:sym typeface="Courier New"/>
              </a:rPr>
              <a:t>"</a:t>
            </a:r>
            <a:r>
              <a:rPr b="1" lang="en-US" sz="1400">
                <a:solidFill>
                  <a:srgbClr val="E7EE98"/>
                </a:solidFill>
                <a:latin typeface="Courier New"/>
                <a:ea typeface="Courier New"/>
                <a:cs typeface="Courier New"/>
                <a:sym typeface="Courier New"/>
              </a:rPr>
              <a:t>2b</a:t>
            </a:r>
            <a:r>
              <a:rPr b="1" lang="en-US" sz="1400">
                <a:solidFill>
                  <a:srgbClr val="DEE492"/>
                </a:solidFill>
                <a:latin typeface="Courier New"/>
                <a:ea typeface="Courier New"/>
                <a:cs typeface="Courier New"/>
                <a:sym typeface="Courier New"/>
              </a:rPr>
              <a:t>"</a:t>
            </a:r>
            <a:r>
              <a:rPr b="1" lang="en-US" sz="1400">
                <a:solidFill>
                  <a:srgbClr val="F6F6F4"/>
                </a:solidFill>
                <a:latin typeface="Courier New"/>
                <a:ea typeface="Courier New"/>
                <a:cs typeface="Courier New"/>
                <a:sym typeface="Courier New"/>
              </a:rPr>
              <a:t>, </a:t>
            </a:r>
            <a:r>
              <a:rPr b="1" lang="en-US" sz="1400">
                <a:solidFill>
                  <a:srgbClr val="BF9EEE"/>
                </a:solidFill>
                <a:latin typeface="Courier New"/>
                <a:ea typeface="Courier New"/>
                <a:cs typeface="Courier New"/>
                <a:sym typeface="Courier New"/>
              </a:rPr>
              <a:t>5000</a:t>
            </a:r>
            <a:r>
              <a:rPr b="1" lang="en-US" sz="1400">
                <a:solidFill>
                  <a:srgbClr val="F6F6F4"/>
                </a:solidFill>
                <a:latin typeface="Courier New"/>
                <a:ea typeface="Courier New"/>
                <a:cs typeface="Courier New"/>
                <a:sym typeface="Courier New"/>
              </a:rPr>
              <a:t>, host, port).</a:t>
            </a:r>
            <a:r>
              <a:rPr b="1" lang="en-US" sz="1400">
                <a:solidFill>
                  <a:srgbClr val="62E884"/>
                </a:solidFill>
                <a:latin typeface="Courier New"/>
                <a:ea typeface="Courier New"/>
                <a:cs typeface="Courier New"/>
                <a:sym typeface="Courier New"/>
              </a:rPr>
              <a:t>start</a:t>
            </a: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    }</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rPr b="1" lang="en-US" sz="1400">
                <a:solidFill>
                  <a:srgbClr val="F6F6F4"/>
                </a:solidFill>
                <a:latin typeface="Courier New"/>
                <a:ea typeface="Courier New"/>
                <a:cs typeface="Courier New"/>
                <a:sym typeface="Courier New"/>
              </a:rPr>
              <a:t>}</a:t>
            </a:r>
            <a:endParaRPr b="1" sz="1400">
              <a:solidFill>
                <a:srgbClr val="F6F6F4"/>
              </a:solidFill>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700"/>
              <a:buFont typeface="Arial"/>
              <a:buNone/>
            </a:pPr>
            <a:r>
              <a:t/>
            </a:r>
            <a:endParaRPr b="1" sz="1400">
              <a:solidFill>
                <a:srgbClr val="F6F6F4"/>
              </a:solidFill>
              <a:latin typeface="Courier New"/>
              <a:ea typeface="Courier New"/>
              <a:cs typeface="Courier New"/>
              <a:sym typeface="Courier New"/>
            </a:endParaRPr>
          </a:p>
          <a:p>
            <a:pPr indent="0" lvl="0" marL="0" rtl="0" algn="l">
              <a:spcBef>
                <a:spcPts val="0"/>
              </a:spcBef>
              <a:spcAft>
                <a:spcPts val="0"/>
              </a:spcAft>
              <a:buNone/>
            </a:pPr>
            <a:r>
              <a:t/>
            </a:r>
            <a:endParaRPr b="1" sz="2200">
              <a:solidFill>
                <a:srgbClr val="F286C4"/>
              </a:solidFill>
            </a:endParaRPr>
          </a:p>
        </p:txBody>
      </p:sp>
      <p:sp>
        <p:nvSpPr>
          <p:cNvPr id="530" name="Google Shape;530;p64"/>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35" name="Shape 535"/>
        <p:cNvGrpSpPr/>
        <p:nvPr/>
      </p:nvGrpSpPr>
      <p:grpSpPr>
        <a:xfrm>
          <a:off x="0" y="0"/>
          <a:ext cx="0" cy="0"/>
          <a:chOff x="0" y="0"/>
          <a:chExt cx="0" cy="0"/>
        </a:xfrm>
      </p:grpSpPr>
      <p:sp>
        <p:nvSpPr>
          <p:cNvPr id="536" name="Google Shape;536;p65"/>
          <p:cNvSpPr txBox="1"/>
          <p:nvPr/>
        </p:nvSpPr>
        <p:spPr>
          <a:xfrm>
            <a:off x="1291650" y="192567"/>
            <a:ext cx="9608700" cy="6774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4400">
                <a:solidFill>
                  <a:srgbClr val="343434"/>
                </a:solidFill>
                <a:latin typeface="Calibri"/>
                <a:ea typeface="Calibri"/>
                <a:cs typeface="Calibri"/>
                <a:sym typeface="Calibri"/>
              </a:rPr>
              <a:t>SEMAPHORE, SYNCHRONIZE LÀ GÌ ?</a:t>
            </a:r>
            <a:endParaRPr sz="900"/>
          </a:p>
        </p:txBody>
      </p:sp>
      <p:sp>
        <p:nvSpPr>
          <p:cNvPr id="537" name="Google Shape;537;p65"/>
          <p:cNvSpPr txBox="1"/>
          <p:nvPr/>
        </p:nvSpPr>
        <p:spPr>
          <a:xfrm>
            <a:off x="294175" y="1184175"/>
            <a:ext cx="7401600" cy="5535300"/>
          </a:xfrm>
          <a:prstGeom prst="rect">
            <a:avLst/>
          </a:prstGeom>
          <a:noFill/>
          <a:ln>
            <a:noFill/>
          </a:ln>
        </p:spPr>
        <p:txBody>
          <a:bodyPr anchorCtr="0" anchor="t" bIns="30475" lIns="60950" spcFirstLastPara="1" rIns="60950" wrap="square" tIns="30475">
            <a:spAutoFit/>
          </a:bodyPr>
          <a:lstStyle/>
          <a:p>
            <a:pPr indent="-285750" lvl="0" marL="304800" rtl="0" algn="l">
              <a:lnSpc>
                <a:spcPct val="115000"/>
              </a:lnSpc>
              <a:spcBef>
                <a:spcPts val="800"/>
              </a:spcBef>
              <a:spcAft>
                <a:spcPts val="0"/>
              </a:spcAft>
              <a:buClr>
                <a:schemeClr val="dk1"/>
              </a:buClr>
              <a:buSzPts val="2100"/>
              <a:buChar char="❖"/>
            </a:pPr>
            <a:r>
              <a:rPr lang="en-US" sz="2100">
                <a:solidFill>
                  <a:schemeClr val="dk1"/>
                </a:solidFill>
              </a:rPr>
              <a:t> </a:t>
            </a:r>
            <a:r>
              <a:rPr b="1" lang="en-US" sz="2100">
                <a:solidFill>
                  <a:schemeClr val="dk1"/>
                </a:solidFill>
              </a:rPr>
              <a:t>Semaphore</a:t>
            </a:r>
            <a:r>
              <a:rPr lang="en-US" sz="2100">
                <a:solidFill>
                  <a:schemeClr val="dk1"/>
                </a:solidFill>
              </a:rPr>
              <a:t> là một biến hoặc đối tượng được sử dụng để </a:t>
            </a:r>
            <a:r>
              <a:rPr b="1" lang="en-US" sz="2100">
                <a:solidFill>
                  <a:schemeClr val="dk1"/>
                </a:solidFill>
              </a:rPr>
              <a:t>đồng bộ hóa truy cập tài nguyên</a:t>
            </a:r>
            <a:r>
              <a:rPr lang="en-US" sz="2100">
                <a:solidFill>
                  <a:schemeClr val="dk1"/>
                </a:solidFill>
              </a:rPr>
              <a:t> giữa các tiến trình (process) hoặc luồng (thread).</a:t>
            </a:r>
            <a:endParaRPr sz="2100">
              <a:solidFill>
                <a:schemeClr val="dk1"/>
              </a:solidFill>
            </a:endParaRPr>
          </a:p>
          <a:p>
            <a:pPr indent="-285750" lvl="0" marL="304800" rtl="0" algn="l">
              <a:lnSpc>
                <a:spcPct val="115000"/>
              </a:lnSpc>
              <a:spcBef>
                <a:spcPts val="0"/>
              </a:spcBef>
              <a:spcAft>
                <a:spcPts val="0"/>
              </a:spcAft>
              <a:buClr>
                <a:schemeClr val="dk1"/>
              </a:buClr>
              <a:buSzPts val="2100"/>
              <a:buChar char="❖"/>
            </a:pPr>
            <a:r>
              <a:rPr lang="en-US" sz="2100">
                <a:solidFill>
                  <a:schemeClr val="dk1"/>
                </a:solidFill>
              </a:rPr>
              <a:t>Được dùng để tránh tình trạng </a:t>
            </a:r>
            <a:r>
              <a:rPr b="1" lang="en-US" sz="2100">
                <a:solidFill>
                  <a:schemeClr val="dk1"/>
                </a:solidFill>
              </a:rPr>
              <a:t>race condition</a:t>
            </a:r>
            <a:r>
              <a:rPr lang="en-US" sz="2100">
                <a:solidFill>
                  <a:schemeClr val="dk1"/>
                </a:solidFill>
              </a:rPr>
              <a:t> (nhiều tiến trình cùng truy cập/ghi dữ liệu dẫn đến lỗi).  </a:t>
            </a:r>
            <a:endParaRPr sz="2100">
              <a:solidFill>
                <a:schemeClr val="dk1"/>
              </a:solidFill>
            </a:endParaRPr>
          </a:p>
          <a:p>
            <a:pPr indent="-285750" lvl="0" marL="304800" rtl="0" algn="l">
              <a:lnSpc>
                <a:spcPct val="115000"/>
              </a:lnSpc>
              <a:spcBef>
                <a:spcPts val="0"/>
              </a:spcBef>
              <a:spcAft>
                <a:spcPts val="0"/>
              </a:spcAft>
              <a:buClr>
                <a:schemeClr val="dk1"/>
              </a:buClr>
              <a:buSzPts val="2100"/>
              <a:buChar char="❖"/>
            </a:pPr>
            <a:r>
              <a:rPr lang="en-US" sz="2100">
                <a:solidFill>
                  <a:schemeClr val="dk1"/>
                </a:solidFill>
              </a:rPr>
              <a:t>Semaphore có 2 loại:</a:t>
            </a:r>
            <a:endParaRPr sz="2100">
              <a:solidFill>
                <a:schemeClr val="dk1"/>
              </a:solidFill>
            </a:endParaRPr>
          </a:p>
          <a:p>
            <a:pPr indent="-285750" lvl="0" marL="304800" rtl="0" algn="l">
              <a:lnSpc>
                <a:spcPct val="115000"/>
              </a:lnSpc>
              <a:spcBef>
                <a:spcPts val="0"/>
              </a:spcBef>
              <a:spcAft>
                <a:spcPts val="0"/>
              </a:spcAft>
              <a:buClr>
                <a:schemeClr val="dk1"/>
              </a:buClr>
              <a:buSzPts val="2100"/>
              <a:buChar char="●"/>
            </a:pPr>
            <a:r>
              <a:rPr b="1" lang="en-US" sz="2100">
                <a:solidFill>
                  <a:schemeClr val="dk1"/>
                </a:solidFill>
              </a:rPr>
              <a:t>Counting Semaphore</a:t>
            </a:r>
            <a:r>
              <a:rPr lang="en-US" sz="2100">
                <a:solidFill>
                  <a:schemeClr val="dk1"/>
                </a:solidFill>
              </a:rPr>
              <a:t>: Cho phép nhiều tiến trình truy cập tài nguyên giới hạn.</a:t>
            </a:r>
            <a:endParaRPr sz="2100">
              <a:solidFill>
                <a:schemeClr val="dk1"/>
              </a:solidFill>
            </a:endParaRPr>
          </a:p>
          <a:p>
            <a:pPr indent="-285750" lvl="0" marL="304800" rtl="0" algn="l">
              <a:lnSpc>
                <a:spcPct val="115000"/>
              </a:lnSpc>
              <a:spcBef>
                <a:spcPts val="0"/>
              </a:spcBef>
              <a:spcAft>
                <a:spcPts val="0"/>
              </a:spcAft>
              <a:buClr>
                <a:schemeClr val="dk1"/>
              </a:buClr>
              <a:buSzPts val="2100"/>
              <a:buChar char="●"/>
            </a:pPr>
            <a:r>
              <a:rPr b="1" lang="en-US" sz="2100">
                <a:solidFill>
                  <a:schemeClr val="dk1"/>
                </a:solidFill>
              </a:rPr>
              <a:t>Binary Semaphore (Mutex)</a:t>
            </a:r>
            <a:r>
              <a:rPr lang="en-US" sz="2100">
                <a:solidFill>
                  <a:schemeClr val="dk1"/>
                </a:solidFill>
              </a:rPr>
              <a:t>: Chỉ cho phép 1 tiến trình tại một thời điểm (0 hoặc 1).</a:t>
            </a:r>
            <a:endParaRPr sz="2100">
              <a:solidFill>
                <a:schemeClr val="dk1"/>
              </a:solidFill>
            </a:endParaRPr>
          </a:p>
          <a:p>
            <a:pPr indent="-285750" lvl="0" marL="304800" rtl="0" algn="l">
              <a:lnSpc>
                <a:spcPct val="115000"/>
              </a:lnSpc>
              <a:spcBef>
                <a:spcPts val="0"/>
              </a:spcBef>
              <a:spcAft>
                <a:spcPts val="0"/>
              </a:spcAft>
              <a:buClr>
                <a:schemeClr val="dk1"/>
              </a:buClr>
              <a:buSzPts val="2100"/>
              <a:buChar char="❖"/>
            </a:pPr>
            <a:r>
              <a:rPr b="1" lang="en-US" sz="2100">
                <a:solidFill>
                  <a:schemeClr val="dk1"/>
                </a:solidFill>
              </a:rPr>
              <a:t>Synchronize (đồng bộ hóa)</a:t>
            </a:r>
            <a:r>
              <a:rPr lang="en-US" sz="2100">
                <a:solidFill>
                  <a:schemeClr val="dk1"/>
                </a:solidFill>
              </a:rPr>
              <a:t> là cơ chế đảm bảo rằng các luồng (threads) truy cập tài nguyên dùng chung một cách có trật tự và an toàn, tránh xung đột và lỗi dữ liệu.</a:t>
            </a:r>
            <a:endParaRPr sz="2100">
              <a:solidFill>
                <a:schemeClr val="dk1"/>
              </a:solidFill>
            </a:endParaRPr>
          </a:p>
          <a:p>
            <a:pPr indent="0" lvl="0" marL="304800" marR="0" rtl="0" algn="l">
              <a:spcBef>
                <a:spcPts val="800"/>
              </a:spcBef>
              <a:spcAft>
                <a:spcPts val="0"/>
              </a:spcAft>
              <a:buNone/>
            </a:pPr>
            <a:r>
              <a:t/>
            </a:r>
            <a:endParaRPr sz="3500">
              <a:solidFill>
                <a:srgbClr val="242424"/>
              </a:solidFill>
            </a:endParaRPr>
          </a:p>
        </p:txBody>
      </p:sp>
      <p:sp>
        <p:nvSpPr>
          <p:cNvPr id="538" name="Google Shape;538;p6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539" name="Google Shape;539;p65"/>
          <p:cNvPicPr preferRelativeResize="0"/>
          <p:nvPr/>
        </p:nvPicPr>
        <p:blipFill>
          <a:blip r:embed="rId3">
            <a:alphaModFix/>
          </a:blip>
          <a:stretch>
            <a:fillRect/>
          </a:stretch>
        </p:blipFill>
        <p:spPr>
          <a:xfrm>
            <a:off x="8098800" y="1455800"/>
            <a:ext cx="4093200" cy="37379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44" name="Shape 544"/>
        <p:cNvGrpSpPr/>
        <p:nvPr/>
      </p:nvGrpSpPr>
      <p:grpSpPr>
        <a:xfrm>
          <a:off x="0" y="0"/>
          <a:ext cx="0" cy="0"/>
          <a:chOff x="0" y="0"/>
          <a:chExt cx="0" cy="0"/>
        </a:xfrm>
      </p:grpSpPr>
      <p:sp>
        <p:nvSpPr>
          <p:cNvPr id="545" name="Google Shape;545;p66"/>
          <p:cNvSpPr txBox="1"/>
          <p:nvPr/>
        </p:nvSpPr>
        <p:spPr>
          <a:xfrm>
            <a:off x="2299033" y="74333"/>
            <a:ext cx="9608700" cy="4773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3100">
                <a:solidFill>
                  <a:srgbClr val="343434"/>
                </a:solidFill>
                <a:latin typeface="Calibri"/>
                <a:ea typeface="Calibri"/>
                <a:cs typeface="Calibri"/>
                <a:sym typeface="Calibri"/>
              </a:rPr>
              <a:t>ƯU VÀ NHƯỢC ĐIỂM CỦA SEMAPHORE</a:t>
            </a:r>
            <a:endParaRPr sz="100"/>
          </a:p>
        </p:txBody>
      </p:sp>
      <p:sp>
        <p:nvSpPr>
          <p:cNvPr id="546" name="Google Shape;546;p66"/>
          <p:cNvSpPr txBox="1"/>
          <p:nvPr/>
        </p:nvSpPr>
        <p:spPr>
          <a:xfrm>
            <a:off x="294167" y="1184167"/>
            <a:ext cx="10431600" cy="4577100"/>
          </a:xfrm>
          <a:prstGeom prst="rect">
            <a:avLst/>
          </a:prstGeom>
          <a:noFill/>
          <a:ln>
            <a:noFill/>
          </a:ln>
        </p:spPr>
        <p:txBody>
          <a:bodyPr anchorCtr="0" anchor="t" bIns="30475" lIns="60950" spcFirstLastPara="1" rIns="60950" wrap="square" tIns="30475">
            <a:spAutoFit/>
          </a:bodyPr>
          <a:lstStyle/>
          <a:p>
            <a:pPr indent="0" lvl="0" marL="254000" marR="254000" rtl="0" algn="l">
              <a:lnSpc>
                <a:spcPct val="115000"/>
              </a:lnSpc>
              <a:spcBef>
                <a:spcPts val="800"/>
              </a:spcBef>
              <a:spcAft>
                <a:spcPts val="0"/>
              </a:spcAft>
              <a:buClr>
                <a:schemeClr val="dk1"/>
              </a:buClr>
              <a:buSzPts val="700"/>
              <a:buFont typeface="Arial"/>
              <a:buNone/>
            </a:pPr>
            <a:r>
              <a:rPr b="1" lang="en-US" sz="2200">
                <a:solidFill>
                  <a:schemeClr val="dk1"/>
                </a:solidFill>
              </a:rPr>
              <a:t>Ưu điểm:</a:t>
            </a:r>
            <a:endParaRPr b="1" sz="2200">
              <a:solidFill>
                <a:schemeClr val="dk1"/>
              </a:solidFill>
            </a:endParaRPr>
          </a:p>
          <a:p>
            <a:pPr indent="0" lvl="0" marL="0" marR="254000" rtl="0" algn="l">
              <a:lnSpc>
                <a:spcPct val="115000"/>
              </a:lnSpc>
              <a:spcBef>
                <a:spcPts val="800"/>
              </a:spcBef>
              <a:spcAft>
                <a:spcPts val="0"/>
              </a:spcAft>
              <a:buNone/>
            </a:pPr>
            <a:r>
              <a:rPr lang="en-US" sz="2200">
                <a:solidFill>
                  <a:schemeClr val="dk1"/>
                </a:solidFill>
              </a:rPr>
              <a:t>      </a:t>
            </a:r>
            <a:r>
              <a:rPr lang="en-US" sz="2200">
                <a:solidFill>
                  <a:schemeClr val="dk1"/>
                </a:solidFill>
              </a:rPr>
              <a:t>Đơn giản, hiệu quả.</a:t>
            </a:r>
            <a:br>
              <a:rPr lang="en-US" sz="2200">
                <a:solidFill>
                  <a:schemeClr val="dk1"/>
                </a:solidFill>
              </a:rPr>
            </a:br>
            <a:r>
              <a:rPr lang="en-US" sz="2200">
                <a:solidFill>
                  <a:schemeClr val="dk1"/>
                </a:solidFill>
              </a:rPr>
              <a:t>	Giảm thiểu xung đột tài nguyên.</a:t>
            </a:r>
            <a:br>
              <a:rPr lang="en-US" sz="2200">
                <a:solidFill>
                  <a:schemeClr val="dk1"/>
                </a:solidFill>
              </a:rPr>
            </a:br>
            <a:r>
              <a:rPr lang="en-US" sz="2200">
                <a:solidFill>
                  <a:schemeClr val="dk1"/>
                </a:solidFill>
              </a:rPr>
              <a:t>	Hỗ trợ đồng bộ hóa trong hệ thống đa tiến trình.</a:t>
            </a:r>
            <a:br>
              <a:rPr lang="en-US" sz="2200">
                <a:solidFill>
                  <a:schemeClr val="dk1"/>
                </a:solidFill>
              </a:rPr>
            </a:br>
            <a:endParaRPr sz="2200">
              <a:solidFill>
                <a:schemeClr val="dk1"/>
              </a:solidFill>
            </a:endParaRPr>
          </a:p>
          <a:p>
            <a:pPr indent="0" lvl="0" marL="254000" marR="254000" rtl="0" algn="l">
              <a:lnSpc>
                <a:spcPct val="115000"/>
              </a:lnSpc>
              <a:spcBef>
                <a:spcPts val="800"/>
              </a:spcBef>
              <a:spcAft>
                <a:spcPts val="0"/>
              </a:spcAft>
              <a:buClr>
                <a:schemeClr val="dk1"/>
              </a:buClr>
              <a:buSzPts val="700"/>
              <a:buFont typeface="Arial"/>
              <a:buNone/>
            </a:pPr>
            <a:r>
              <a:rPr b="1" lang="en-US" sz="2200">
                <a:solidFill>
                  <a:schemeClr val="dk1"/>
                </a:solidFill>
              </a:rPr>
              <a:t>Nhược điểm:</a:t>
            </a:r>
            <a:endParaRPr b="1" sz="2200">
              <a:solidFill>
                <a:schemeClr val="dk1"/>
              </a:solidFill>
            </a:endParaRPr>
          </a:p>
          <a:p>
            <a:pPr indent="152400" lvl="0" marL="304800" marR="254000" rtl="0" algn="l">
              <a:lnSpc>
                <a:spcPct val="115000"/>
              </a:lnSpc>
              <a:spcBef>
                <a:spcPts val="800"/>
              </a:spcBef>
              <a:spcAft>
                <a:spcPts val="0"/>
              </a:spcAft>
              <a:buNone/>
            </a:pPr>
            <a:r>
              <a:rPr lang="en-US" sz="2200">
                <a:solidFill>
                  <a:schemeClr val="dk1"/>
                </a:solidFill>
              </a:rPr>
              <a:t>Cần lập trình cẩn thận → tránh </a:t>
            </a:r>
            <a:r>
              <a:rPr lang="en-US" sz="2200">
                <a:solidFill>
                  <a:schemeClr val="dk1"/>
                </a:solidFill>
              </a:rPr>
              <a:t>deadlock và starvation.</a:t>
            </a:r>
            <a:br>
              <a:rPr lang="en-US" sz="2200">
                <a:solidFill>
                  <a:schemeClr val="dk1"/>
                </a:solidFill>
              </a:rPr>
            </a:br>
            <a:r>
              <a:rPr lang="en-US" sz="2200">
                <a:solidFill>
                  <a:schemeClr val="dk1"/>
                </a:solidFill>
              </a:rPr>
              <a:t>	Khó bảo trì nếu hệ thống phức tạp.</a:t>
            </a:r>
            <a:br>
              <a:rPr lang="en-US" sz="2200">
                <a:solidFill>
                  <a:schemeClr val="dk1"/>
                </a:solidFill>
              </a:rPr>
            </a:br>
            <a:endParaRPr sz="2200">
              <a:solidFill>
                <a:schemeClr val="dk1"/>
              </a:solidFill>
            </a:endParaRPr>
          </a:p>
          <a:p>
            <a:pPr indent="0" lvl="0" marL="304800" marR="0" rtl="0" algn="l">
              <a:spcBef>
                <a:spcPts val="800"/>
              </a:spcBef>
              <a:spcAft>
                <a:spcPts val="0"/>
              </a:spcAft>
              <a:buNone/>
            </a:pPr>
            <a:r>
              <a:t/>
            </a:r>
            <a:endParaRPr sz="3900">
              <a:solidFill>
                <a:schemeClr val="dk1"/>
              </a:solidFill>
            </a:endParaRPr>
          </a:p>
        </p:txBody>
      </p:sp>
      <p:sp>
        <p:nvSpPr>
          <p:cNvPr id="547" name="Google Shape;547;p6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52" name="Shape 552"/>
        <p:cNvGrpSpPr/>
        <p:nvPr/>
      </p:nvGrpSpPr>
      <p:grpSpPr>
        <a:xfrm>
          <a:off x="0" y="0"/>
          <a:ext cx="0" cy="0"/>
          <a:chOff x="0" y="0"/>
          <a:chExt cx="0" cy="0"/>
        </a:xfrm>
      </p:grpSpPr>
      <p:sp>
        <p:nvSpPr>
          <p:cNvPr id="553" name="Google Shape;553;p67"/>
          <p:cNvSpPr txBox="1"/>
          <p:nvPr/>
        </p:nvSpPr>
        <p:spPr>
          <a:xfrm>
            <a:off x="2299033" y="74333"/>
            <a:ext cx="9608700" cy="477300"/>
          </a:xfrm>
          <a:prstGeom prst="rect">
            <a:avLst/>
          </a:prstGeom>
          <a:noFill/>
          <a:ln>
            <a:noFill/>
          </a:ln>
        </p:spPr>
        <p:txBody>
          <a:bodyPr anchorCtr="0" anchor="t" bIns="0" lIns="0" spcFirstLastPara="1" rIns="0" wrap="square" tIns="0">
            <a:spAutoFit/>
          </a:bodyPr>
          <a:lstStyle/>
          <a:p>
            <a:pPr indent="0" lvl="0" marL="0" marR="0" rtl="0" algn="l">
              <a:lnSpc>
                <a:spcPct val="127272"/>
              </a:lnSpc>
              <a:spcBef>
                <a:spcPts val="0"/>
              </a:spcBef>
              <a:spcAft>
                <a:spcPts val="0"/>
              </a:spcAft>
              <a:buNone/>
            </a:pPr>
            <a:r>
              <a:rPr b="1" lang="en-US" sz="3100">
                <a:solidFill>
                  <a:srgbClr val="343434"/>
                </a:solidFill>
                <a:latin typeface="Calibri"/>
                <a:ea typeface="Calibri"/>
                <a:cs typeface="Calibri"/>
                <a:sym typeface="Calibri"/>
              </a:rPr>
              <a:t>ƯU VÀ NHƯỢC ĐIỂM CỦA SYNCHRONIZE</a:t>
            </a:r>
            <a:endParaRPr sz="100"/>
          </a:p>
        </p:txBody>
      </p:sp>
      <p:sp>
        <p:nvSpPr>
          <p:cNvPr id="554" name="Google Shape;554;p67"/>
          <p:cNvSpPr txBox="1"/>
          <p:nvPr/>
        </p:nvSpPr>
        <p:spPr>
          <a:xfrm>
            <a:off x="102033" y="740767"/>
            <a:ext cx="10431600" cy="4476000"/>
          </a:xfrm>
          <a:prstGeom prst="rect">
            <a:avLst/>
          </a:prstGeom>
          <a:noFill/>
          <a:ln>
            <a:noFill/>
          </a:ln>
        </p:spPr>
        <p:txBody>
          <a:bodyPr anchorCtr="0" anchor="t" bIns="30475" lIns="60950" spcFirstLastPara="1" rIns="60950" wrap="square" tIns="30475">
            <a:spAutoFit/>
          </a:bodyPr>
          <a:lstStyle/>
          <a:p>
            <a:pPr indent="0" lvl="0" marL="0" rtl="0" algn="l">
              <a:lnSpc>
                <a:spcPct val="115000"/>
              </a:lnSpc>
              <a:spcBef>
                <a:spcPts val="900"/>
              </a:spcBef>
              <a:spcAft>
                <a:spcPts val="0"/>
              </a:spcAft>
              <a:buClr>
                <a:schemeClr val="dk1"/>
              </a:buClr>
              <a:buSzPts val="700"/>
              <a:buFont typeface="Arial"/>
              <a:buNone/>
            </a:pPr>
            <a:r>
              <a:rPr b="1" lang="en-US" sz="2200">
                <a:solidFill>
                  <a:schemeClr val="dk1"/>
                </a:solidFill>
              </a:rPr>
              <a:t>Ưu điểm của </a:t>
            </a:r>
            <a:r>
              <a:rPr b="1" lang="en-US" sz="2200">
                <a:solidFill>
                  <a:srgbClr val="188038"/>
                </a:solidFill>
                <a:latin typeface="Roboto Mono"/>
                <a:ea typeface="Roboto Mono"/>
                <a:cs typeface="Roboto Mono"/>
                <a:sym typeface="Roboto Mono"/>
              </a:rPr>
              <a:t>synchronize</a:t>
            </a:r>
            <a:endParaRPr b="1" sz="2200">
              <a:solidFill>
                <a:srgbClr val="188038"/>
              </a:solidFill>
              <a:latin typeface="Roboto Mono"/>
              <a:ea typeface="Roboto Mono"/>
              <a:cs typeface="Roboto Mono"/>
              <a:sym typeface="Roboto Mono"/>
            </a:endParaRPr>
          </a:p>
          <a:p>
            <a:pPr indent="457200" lvl="0" marL="0" rtl="0" algn="l">
              <a:lnSpc>
                <a:spcPct val="115000"/>
              </a:lnSpc>
              <a:spcBef>
                <a:spcPts val="900"/>
              </a:spcBef>
              <a:spcAft>
                <a:spcPts val="0"/>
              </a:spcAft>
              <a:buClr>
                <a:schemeClr val="dk1"/>
              </a:buClr>
              <a:buSzPts val="700"/>
              <a:buFont typeface="Arial"/>
              <a:buNone/>
            </a:pPr>
            <a:r>
              <a:rPr b="1" lang="en-US" sz="2200">
                <a:solidFill>
                  <a:srgbClr val="188038"/>
                </a:solidFill>
                <a:latin typeface="Roboto Mono"/>
                <a:ea typeface="Roboto Mono"/>
                <a:cs typeface="Roboto Mono"/>
                <a:sym typeface="Roboto Mono"/>
              </a:rPr>
              <a:t>_</a:t>
            </a:r>
            <a:r>
              <a:rPr lang="en-US" sz="1700">
                <a:solidFill>
                  <a:schemeClr val="dk1"/>
                </a:solidFill>
              </a:rPr>
              <a:t> </a:t>
            </a:r>
            <a:r>
              <a:rPr b="1" lang="en-US" sz="1700">
                <a:solidFill>
                  <a:schemeClr val="dk1"/>
                </a:solidFill>
              </a:rPr>
              <a:t>Đảm bảo an toàn dữ liệu</a:t>
            </a:r>
            <a:r>
              <a:rPr lang="en-US" sz="1700">
                <a:solidFill>
                  <a:schemeClr val="dk1"/>
                </a:solidFill>
              </a:rPr>
              <a:t>: Tránh xung đột khi nhiều thread truy cập.</a:t>
            </a:r>
            <a:br>
              <a:rPr lang="en-US" sz="1700">
                <a:solidFill>
                  <a:schemeClr val="dk1"/>
                </a:solidFill>
              </a:rPr>
            </a:br>
            <a:r>
              <a:rPr lang="en-US" sz="1700">
                <a:solidFill>
                  <a:schemeClr val="dk1"/>
                </a:solidFill>
              </a:rPr>
              <a:t>	_</a:t>
            </a:r>
            <a:r>
              <a:rPr b="1" lang="en-US" sz="1700">
                <a:solidFill>
                  <a:schemeClr val="dk1"/>
                </a:solidFill>
              </a:rPr>
              <a:t>Dễ sử dụng</a:t>
            </a:r>
            <a:r>
              <a:rPr lang="en-US" sz="1700">
                <a:solidFill>
                  <a:schemeClr val="dk1"/>
                </a:solidFill>
              </a:rPr>
              <a:t>: Gắn trực tiếp vào method hoặc block.</a:t>
            </a:r>
            <a:br>
              <a:rPr lang="en-US" sz="1700">
                <a:solidFill>
                  <a:schemeClr val="dk1"/>
                </a:solidFill>
              </a:rPr>
            </a:br>
            <a:r>
              <a:rPr lang="en-US" sz="1700">
                <a:solidFill>
                  <a:schemeClr val="dk1"/>
                </a:solidFill>
              </a:rPr>
              <a:t> 	_</a:t>
            </a:r>
            <a:r>
              <a:rPr b="1" lang="en-US" sz="1700">
                <a:solidFill>
                  <a:schemeClr val="dk1"/>
                </a:solidFill>
              </a:rPr>
              <a:t>Tích hợp sẵn trong Java</a:t>
            </a:r>
            <a:r>
              <a:rPr lang="en-US" sz="1700">
                <a:solidFill>
                  <a:schemeClr val="dk1"/>
                </a:solidFill>
              </a:rPr>
              <a:t>: Không cần thư viện ngoài.</a:t>
            </a:r>
            <a:br>
              <a:rPr lang="en-US" sz="1700">
                <a:solidFill>
                  <a:schemeClr val="dk1"/>
                </a:solidFill>
              </a:rPr>
            </a:br>
            <a:r>
              <a:rPr lang="en-US" sz="1700">
                <a:solidFill>
                  <a:schemeClr val="dk1"/>
                </a:solidFill>
              </a:rPr>
              <a:t> 	_</a:t>
            </a:r>
            <a:r>
              <a:rPr b="1" lang="en-US" sz="1700">
                <a:solidFill>
                  <a:schemeClr val="dk1"/>
                </a:solidFill>
              </a:rPr>
              <a:t>Hiệu quả trong các bài toán đồng bộ đơn giản</a:t>
            </a:r>
            <a:r>
              <a:rPr lang="en-US" sz="1700">
                <a:solidFill>
                  <a:schemeClr val="dk1"/>
                </a:solidFill>
              </a:rPr>
              <a:t>.</a:t>
            </a:r>
            <a:br>
              <a:rPr lang="en-US" sz="1700">
                <a:solidFill>
                  <a:schemeClr val="dk1"/>
                </a:solidFill>
              </a:rPr>
            </a:br>
            <a:endParaRPr sz="1700">
              <a:solidFill>
                <a:schemeClr val="dk1"/>
              </a:solidFill>
            </a:endParaRPr>
          </a:p>
          <a:p>
            <a:pPr indent="0" lvl="0" marL="0" rtl="0" algn="l">
              <a:lnSpc>
                <a:spcPct val="115000"/>
              </a:lnSpc>
              <a:spcBef>
                <a:spcPts val="800"/>
              </a:spcBef>
              <a:spcAft>
                <a:spcPts val="0"/>
              </a:spcAft>
              <a:buNone/>
            </a:pPr>
            <a:r>
              <a:rPr b="1" lang="en-US" sz="2200">
                <a:solidFill>
                  <a:schemeClr val="dk1"/>
                </a:solidFill>
              </a:rPr>
              <a:t>Nhược điểm của </a:t>
            </a:r>
            <a:r>
              <a:rPr b="1" lang="en-US" sz="2200">
                <a:solidFill>
                  <a:srgbClr val="188038"/>
                </a:solidFill>
                <a:latin typeface="Roboto Mono"/>
                <a:ea typeface="Roboto Mono"/>
                <a:cs typeface="Roboto Mono"/>
                <a:sym typeface="Roboto Mono"/>
              </a:rPr>
              <a:t>synchronize</a:t>
            </a:r>
            <a:endParaRPr b="1" sz="2200">
              <a:solidFill>
                <a:srgbClr val="188038"/>
              </a:solidFill>
              <a:latin typeface="Roboto Mono"/>
              <a:ea typeface="Roboto Mono"/>
              <a:cs typeface="Roboto Mono"/>
              <a:sym typeface="Roboto Mono"/>
            </a:endParaRPr>
          </a:p>
          <a:p>
            <a:pPr indent="0" lvl="0" marL="304800" rtl="0" algn="l">
              <a:lnSpc>
                <a:spcPct val="115000"/>
              </a:lnSpc>
              <a:spcBef>
                <a:spcPts val="800"/>
              </a:spcBef>
              <a:spcAft>
                <a:spcPts val="0"/>
              </a:spcAft>
              <a:buNone/>
            </a:pPr>
            <a:r>
              <a:rPr lang="en-US" sz="1700">
                <a:solidFill>
                  <a:schemeClr val="dk1"/>
                </a:solidFill>
              </a:rPr>
              <a:t>  </a:t>
            </a:r>
            <a:r>
              <a:rPr lang="en-US" sz="1700">
                <a:solidFill>
                  <a:schemeClr val="dk1"/>
                </a:solidFill>
              </a:rPr>
              <a:t>_</a:t>
            </a:r>
            <a:r>
              <a:rPr b="1" lang="en-US" sz="1700">
                <a:solidFill>
                  <a:schemeClr val="dk1"/>
                </a:solidFill>
              </a:rPr>
              <a:t>Giảm hiệu năng</a:t>
            </a:r>
            <a:r>
              <a:rPr lang="en-US" sz="1700">
                <a:solidFill>
                  <a:schemeClr val="dk1"/>
                </a:solidFill>
              </a:rPr>
              <a:t>: Vì chỉ 1 thread được thực thi → các thread khác chờ.</a:t>
            </a:r>
            <a:br>
              <a:rPr lang="en-US" sz="1700">
                <a:solidFill>
                  <a:schemeClr val="dk1"/>
                </a:solidFill>
              </a:rPr>
            </a:br>
            <a:r>
              <a:rPr lang="en-US" sz="1700">
                <a:solidFill>
                  <a:schemeClr val="dk1"/>
                </a:solidFill>
              </a:rPr>
              <a:t>  _ </a:t>
            </a:r>
            <a:r>
              <a:rPr b="1" lang="en-US" sz="1700">
                <a:solidFill>
                  <a:schemeClr val="dk1"/>
                </a:solidFill>
              </a:rPr>
              <a:t>Nguy cơ Deadlock</a:t>
            </a:r>
            <a:r>
              <a:rPr lang="en-US" sz="1700">
                <a:solidFill>
                  <a:schemeClr val="dk1"/>
                </a:solidFill>
              </a:rPr>
              <a:t>: Nếu sử dụng sai thứ tự khóa.</a:t>
            </a:r>
            <a:br>
              <a:rPr lang="en-US" sz="1700">
                <a:solidFill>
                  <a:schemeClr val="dk1"/>
                </a:solidFill>
              </a:rPr>
            </a:br>
            <a:r>
              <a:rPr lang="en-US" sz="1700">
                <a:solidFill>
                  <a:schemeClr val="dk1"/>
                </a:solidFill>
              </a:rPr>
              <a:t>  _ </a:t>
            </a:r>
            <a:r>
              <a:rPr b="1" lang="en-US" sz="1700">
                <a:solidFill>
                  <a:schemeClr val="dk1"/>
                </a:solidFill>
              </a:rPr>
              <a:t>Thiếu linh hoạt</a:t>
            </a:r>
            <a:r>
              <a:rPr lang="en-US" sz="1700">
                <a:solidFill>
                  <a:schemeClr val="dk1"/>
                </a:solidFill>
              </a:rPr>
              <a:t>: Không hỗ trợ timeout, không đếm số quyền như semaphore.</a:t>
            </a:r>
            <a:br>
              <a:rPr lang="en-US" sz="1700">
                <a:solidFill>
                  <a:schemeClr val="dk1"/>
                </a:solidFill>
              </a:rPr>
            </a:br>
            <a:r>
              <a:rPr lang="en-US" sz="1700">
                <a:solidFill>
                  <a:schemeClr val="dk1"/>
                </a:solidFill>
              </a:rPr>
              <a:t>  _ </a:t>
            </a:r>
            <a:r>
              <a:rPr b="1" lang="en-US" sz="1700">
                <a:solidFill>
                  <a:schemeClr val="dk1"/>
                </a:solidFill>
              </a:rPr>
              <a:t>Khó mở rộng cho hệ thống lớn, đa tài nguyên</a:t>
            </a:r>
            <a:r>
              <a:rPr lang="en-US" sz="1700">
                <a:solidFill>
                  <a:schemeClr val="dk1"/>
                </a:solidFill>
              </a:rPr>
              <a:t>.</a:t>
            </a:r>
            <a:endParaRPr sz="1700">
              <a:solidFill>
                <a:schemeClr val="dk1"/>
              </a:solidFill>
            </a:endParaRPr>
          </a:p>
          <a:p>
            <a:pPr indent="0" lvl="0" marL="304800" marR="0" rtl="0" algn="l">
              <a:lnSpc>
                <a:spcPct val="115000"/>
              </a:lnSpc>
              <a:spcBef>
                <a:spcPts val="800"/>
              </a:spcBef>
              <a:spcAft>
                <a:spcPts val="0"/>
              </a:spcAft>
              <a:buNone/>
            </a:pPr>
            <a:r>
              <a:t/>
            </a:r>
            <a:endParaRPr b="1" sz="2700">
              <a:solidFill>
                <a:schemeClr val="dk1"/>
              </a:solidFill>
            </a:endParaRPr>
          </a:p>
        </p:txBody>
      </p:sp>
      <p:sp>
        <p:nvSpPr>
          <p:cNvPr id="555" name="Google Shape;555;p6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60" name="Shape 560"/>
        <p:cNvGrpSpPr/>
        <p:nvPr/>
      </p:nvGrpSpPr>
      <p:grpSpPr>
        <a:xfrm>
          <a:off x="0" y="0"/>
          <a:ext cx="0" cy="0"/>
          <a:chOff x="0" y="0"/>
          <a:chExt cx="0" cy="0"/>
        </a:xfrm>
      </p:grpSpPr>
      <p:sp>
        <p:nvSpPr>
          <p:cNvPr id="561" name="Google Shape;561;p68"/>
          <p:cNvSpPr txBox="1"/>
          <p:nvPr/>
        </p:nvSpPr>
        <p:spPr>
          <a:xfrm>
            <a:off x="2350750" y="133025"/>
            <a:ext cx="10431600" cy="477300"/>
          </a:xfrm>
          <a:prstGeom prst="rect">
            <a:avLst/>
          </a:prstGeom>
          <a:noFill/>
          <a:ln>
            <a:noFill/>
          </a:ln>
        </p:spPr>
        <p:txBody>
          <a:bodyPr anchorCtr="0" anchor="t" bIns="30475" lIns="60950" spcFirstLastPara="1" rIns="60950" wrap="square" tIns="30475">
            <a:spAutoFit/>
          </a:bodyPr>
          <a:lstStyle/>
          <a:p>
            <a:pPr indent="0" lvl="0" marL="304800" marR="0" rtl="0" algn="l">
              <a:spcBef>
                <a:spcPts val="0"/>
              </a:spcBef>
              <a:spcAft>
                <a:spcPts val="0"/>
              </a:spcAft>
              <a:buNone/>
            </a:pPr>
            <a:r>
              <a:rPr b="1" lang="en-US" sz="2700">
                <a:solidFill>
                  <a:schemeClr val="dk1"/>
                </a:solidFill>
              </a:rPr>
              <a:t>ỨNG DỤNG SEMAPHORE TRONG DỰ ÁN</a:t>
            </a:r>
            <a:endParaRPr sz="4300">
              <a:solidFill>
                <a:schemeClr val="dk1"/>
              </a:solidFill>
            </a:endParaRPr>
          </a:p>
        </p:txBody>
      </p:sp>
      <p:sp>
        <p:nvSpPr>
          <p:cNvPr id="562" name="Google Shape;562;p68"/>
          <p:cNvSpPr txBox="1"/>
          <p:nvPr/>
        </p:nvSpPr>
        <p:spPr>
          <a:xfrm>
            <a:off x="360908" y="921250"/>
            <a:ext cx="11247000" cy="5609700"/>
          </a:xfrm>
          <a:prstGeom prst="rect">
            <a:avLst/>
          </a:prstGeom>
          <a:noFill/>
          <a:ln>
            <a:noFill/>
          </a:ln>
        </p:spPr>
        <p:txBody>
          <a:bodyPr anchorCtr="0" anchor="t" bIns="60950" lIns="60950" spcFirstLastPara="1" rIns="60950" wrap="square" tIns="60950">
            <a:noAutofit/>
          </a:bodyPr>
          <a:lstStyle/>
          <a:p>
            <a:pPr indent="0" lvl="0" marL="0" rtl="0" algn="l">
              <a:lnSpc>
                <a:spcPct val="115000"/>
              </a:lnSpc>
              <a:spcBef>
                <a:spcPts val="800"/>
              </a:spcBef>
              <a:spcAft>
                <a:spcPts val="0"/>
              </a:spcAft>
              <a:buClr>
                <a:schemeClr val="dk1"/>
              </a:buClr>
              <a:buSzPts val="700"/>
              <a:buFont typeface="Arial"/>
              <a:buNone/>
            </a:pPr>
            <a:r>
              <a:rPr lang="en-US" sz="1700">
                <a:solidFill>
                  <a:srgbClr val="188038"/>
                </a:solidFill>
                <a:latin typeface="Roboto Mono"/>
                <a:ea typeface="Roboto Mono"/>
                <a:cs typeface="Roboto Mono"/>
                <a:sym typeface="Roboto Mono"/>
              </a:rPr>
              <a:t>Semaphore</a:t>
            </a:r>
            <a:r>
              <a:rPr lang="en-US" sz="1700">
                <a:solidFill>
                  <a:schemeClr val="dk1"/>
                </a:solidFill>
              </a:rPr>
              <a:t> là biến đếm đặc biệt giúp </a:t>
            </a:r>
            <a:r>
              <a:rPr b="1" lang="en-US" sz="1700">
                <a:solidFill>
                  <a:schemeClr val="dk1"/>
                </a:solidFill>
              </a:rPr>
              <a:t>kiểm soát số lượng thread được phép truy cập vào một tài nguyên nào đó cùng lúc</a:t>
            </a:r>
            <a:r>
              <a:rPr lang="en-US" sz="1700">
                <a:solidFill>
                  <a:schemeClr val="dk1"/>
                </a:solidFill>
              </a:rPr>
              <a:t>.</a:t>
            </a:r>
            <a:endParaRPr sz="1700">
              <a:solidFill>
                <a:schemeClr val="dk1"/>
              </a:solidFill>
            </a:endParaRPr>
          </a:p>
          <a:p>
            <a:pPr indent="0" lvl="0" marL="0" rtl="0" algn="l">
              <a:lnSpc>
                <a:spcPct val="115000"/>
              </a:lnSpc>
              <a:spcBef>
                <a:spcPts val="900"/>
              </a:spcBef>
              <a:spcAft>
                <a:spcPts val="0"/>
              </a:spcAft>
              <a:buClr>
                <a:schemeClr val="dk1"/>
              </a:buClr>
              <a:buSzPts val="700"/>
              <a:buFont typeface="Arial"/>
              <a:buNone/>
            </a:pPr>
            <a:r>
              <a:rPr b="1" lang="en-US" sz="1800">
                <a:solidFill>
                  <a:schemeClr val="dk1"/>
                </a:solidFill>
              </a:rPr>
              <a:t> Trong mô hình Client - Server xây dựng:</a:t>
            </a:r>
            <a:endParaRPr b="1" sz="1800">
              <a:solidFill>
                <a:schemeClr val="dk1"/>
              </a:solidFill>
            </a:endParaRPr>
          </a:p>
          <a:p>
            <a:pPr indent="457200" lvl="0" marL="0" rtl="0" algn="l">
              <a:lnSpc>
                <a:spcPct val="100000"/>
              </a:lnSpc>
              <a:spcBef>
                <a:spcPts val="800"/>
              </a:spcBef>
              <a:spcAft>
                <a:spcPts val="0"/>
              </a:spcAft>
              <a:buNone/>
            </a:pPr>
            <a:r>
              <a:rPr b="1" lang="en-US" sz="1700">
                <a:solidFill>
                  <a:schemeClr val="dk1"/>
                </a:solidFill>
              </a:rPr>
              <a:t>Phía Server</a:t>
            </a:r>
            <a:r>
              <a:rPr lang="en-US" sz="1700">
                <a:solidFill>
                  <a:schemeClr val="dk1"/>
                </a:solidFill>
              </a:rPr>
              <a:t>: </a:t>
            </a:r>
            <a:endParaRPr sz="1700">
              <a:solidFill>
                <a:schemeClr val="dk1"/>
              </a:solidFill>
            </a:endParaRPr>
          </a:p>
          <a:p>
            <a:pPr indent="-336550" lvl="0" marL="914400" rtl="0" algn="l">
              <a:spcBef>
                <a:spcPts val="800"/>
              </a:spcBef>
              <a:spcAft>
                <a:spcPts val="0"/>
              </a:spcAft>
              <a:buClr>
                <a:schemeClr val="dk1"/>
              </a:buClr>
              <a:buSzPts val="1700"/>
              <a:buChar char="●"/>
            </a:pPr>
            <a:r>
              <a:rPr lang="en-US" sz="1700">
                <a:solidFill>
                  <a:schemeClr val="dk1"/>
                </a:solidFill>
              </a:rPr>
              <a:t>Có rất nhiều thread (mỗi client kết nối đều tạo 1 thread).</a:t>
            </a:r>
            <a:endParaRPr sz="1700">
              <a:solidFill>
                <a:schemeClr val="dk1"/>
              </a:solidFill>
            </a:endParaRPr>
          </a:p>
          <a:p>
            <a:pPr indent="-336550" lvl="0" marL="914400" rtl="0" algn="l">
              <a:spcBef>
                <a:spcPts val="0"/>
              </a:spcBef>
              <a:spcAft>
                <a:spcPts val="0"/>
              </a:spcAft>
              <a:buClr>
                <a:schemeClr val="dk1"/>
              </a:buClr>
              <a:buSzPts val="1700"/>
              <a:buChar char="●"/>
            </a:pPr>
            <a:r>
              <a:rPr lang="en-US" sz="1700">
                <a:solidFill>
                  <a:schemeClr val="dk1"/>
                </a:solidFill>
              </a:rPr>
              <a:t>Nếu muốn giới hạn số lượng client được xử lý đồng thời (VD: chỉ 3 client xử lý cùng lúc), thì </a:t>
            </a:r>
            <a:r>
              <a:rPr lang="en-US" sz="1700">
                <a:solidFill>
                  <a:srgbClr val="188038"/>
                </a:solidFill>
                <a:latin typeface="Roboto Mono"/>
                <a:ea typeface="Roboto Mono"/>
                <a:cs typeface="Roboto Mono"/>
                <a:sym typeface="Roboto Mono"/>
              </a:rPr>
              <a:t>Semaphore</a:t>
            </a:r>
            <a:r>
              <a:rPr lang="en-US" sz="1700">
                <a:solidFill>
                  <a:schemeClr val="dk1"/>
                </a:solidFill>
              </a:rPr>
              <a:t> có thể ứng dụng tại server.</a:t>
            </a:r>
            <a:br>
              <a:rPr lang="en-US" sz="1700">
                <a:solidFill>
                  <a:schemeClr val="dk1"/>
                </a:solidFill>
              </a:rPr>
            </a:br>
            <a:endParaRPr sz="1700">
              <a:solidFill>
                <a:schemeClr val="dk1"/>
              </a:solidFill>
            </a:endParaRPr>
          </a:p>
          <a:p>
            <a:pPr indent="457200" lvl="0" marL="0" rtl="0" algn="l">
              <a:lnSpc>
                <a:spcPct val="100000"/>
              </a:lnSpc>
              <a:spcBef>
                <a:spcPts val="800"/>
              </a:spcBef>
              <a:spcAft>
                <a:spcPts val="0"/>
              </a:spcAft>
              <a:buNone/>
            </a:pPr>
            <a:r>
              <a:rPr b="1" lang="en-US" sz="1700">
                <a:solidFill>
                  <a:schemeClr val="dk1"/>
                </a:solidFill>
              </a:rPr>
              <a:t>Phía Client</a:t>
            </a:r>
            <a:r>
              <a:rPr lang="en-US" sz="1700">
                <a:solidFill>
                  <a:schemeClr val="dk1"/>
                </a:solidFill>
              </a:rPr>
              <a:t>: Trong từng </a:t>
            </a:r>
            <a:r>
              <a:rPr lang="en-US" sz="1700">
                <a:solidFill>
                  <a:srgbClr val="188038"/>
                </a:solidFill>
                <a:latin typeface="Roboto Mono"/>
                <a:ea typeface="Roboto Mono"/>
                <a:cs typeface="Roboto Mono"/>
                <a:sym typeface="Roboto Mono"/>
              </a:rPr>
              <a:t>Client I</a:t>
            </a:r>
            <a:r>
              <a:rPr lang="en-US" sz="1700">
                <a:solidFill>
                  <a:schemeClr val="dk1"/>
                </a:solidFill>
              </a:rPr>
              <a:t> hoặc </a:t>
            </a:r>
            <a:r>
              <a:rPr lang="en-US" sz="1700">
                <a:solidFill>
                  <a:srgbClr val="188038"/>
                </a:solidFill>
                <a:latin typeface="Roboto Mono"/>
                <a:ea typeface="Roboto Mono"/>
                <a:cs typeface="Roboto Mono"/>
                <a:sym typeface="Roboto Mono"/>
              </a:rPr>
              <a:t>Client II</a:t>
            </a:r>
            <a:r>
              <a:rPr lang="en-US" sz="1700">
                <a:solidFill>
                  <a:schemeClr val="dk1"/>
                </a:solidFill>
              </a:rPr>
              <a:t>, tạo nhiều thread (ví dụ LM35 có 1a, 1b, 1c...).</a:t>
            </a:r>
            <a:endParaRPr sz="1700">
              <a:solidFill>
                <a:schemeClr val="dk1"/>
              </a:solidFill>
            </a:endParaRPr>
          </a:p>
          <a:p>
            <a:pPr indent="457200" lvl="0" marL="0" rtl="0" algn="l">
              <a:lnSpc>
                <a:spcPct val="100000"/>
              </a:lnSpc>
              <a:spcBef>
                <a:spcPts val="800"/>
              </a:spcBef>
              <a:spcAft>
                <a:spcPts val="0"/>
              </a:spcAft>
              <a:buNone/>
            </a:pPr>
            <a:br>
              <a:rPr lang="en-US" sz="1700">
                <a:solidFill>
                  <a:schemeClr val="dk1"/>
                </a:solidFill>
              </a:rPr>
            </a:br>
            <a:r>
              <a:rPr lang="en-US" sz="1700">
                <a:solidFill>
                  <a:schemeClr val="dk1"/>
                </a:solidFill>
              </a:rPr>
              <a:t> 		Nếu muốn:</a:t>
            </a:r>
            <a:endParaRPr sz="1700">
              <a:solidFill>
                <a:schemeClr val="dk1"/>
              </a:solidFill>
            </a:endParaRPr>
          </a:p>
          <a:p>
            <a:pPr indent="-336550" lvl="0" marL="914400" rtl="0" algn="l">
              <a:spcBef>
                <a:spcPts val="800"/>
              </a:spcBef>
              <a:spcAft>
                <a:spcPts val="0"/>
              </a:spcAft>
              <a:buClr>
                <a:schemeClr val="dk1"/>
              </a:buClr>
              <a:buSzPts val="1700"/>
              <a:buChar char="●"/>
            </a:pPr>
            <a:r>
              <a:rPr lang="en-US" sz="1700">
                <a:solidFill>
                  <a:schemeClr val="dk1"/>
                </a:solidFill>
              </a:rPr>
              <a:t>Mỗi lần chỉ 1 thread gửi dữ liệu</a:t>
            </a:r>
            <a:endParaRPr sz="1700">
              <a:solidFill>
                <a:schemeClr val="dk1"/>
              </a:solidFill>
            </a:endParaRPr>
          </a:p>
          <a:p>
            <a:pPr indent="-336550" lvl="0" marL="914400" rtl="0" algn="l">
              <a:spcBef>
                <a:spcPts val="0"/>
              </a:spcBef>
              <a:spcAft>
                <a:spcPts val="0"/>
              </a:spcAft>
              <a:buClr>
                <a:schemeClr val="dk1"/>
              </a:buClr>
              <a:buSzPts val="1700"/>
              <a:buChar char="●"/>
            </a:pPr>
            <a:r>
              <a:rPr lang="en-US" sz="1700">
                <a:solidFill>
                  <a:schemeClr val="dk1"/>
                </a:solidFill>
              </a:rPr>
              <a:t>Hoặc giới hạn chỉ 2 thread được gửi trong 1 chu kỳ → thì có thể áp dụng </a:t>
            </a:r>
            <a:r>
              <a:rPr lang="en-US" sz="1700">
                <a:solidFill>
                  <a:srgbClr val="188038"/>
                </a:solidFill>
                <a:latin typeface="Roboto Mono"/>
                <a:ea typeface="Roboto Mono"/>
                <a:cs typeface="Roboto Mono"/>
                <a:sym typeface="Roboto Mono"/>
              </a:rPr>
              <a:t>Semaphore</a:t>
            </a:r>
            <a:r>
              <a:rPr lang="en-US" sz="1700">
                <a:solidFill>
                  <a:schemeClr val="dk1"/>
                </a:solidFill>
              </a:rPr>
              <a:t> tại </a:t>
            </a:r>
            <a:r>
              <a:rPr lang="en-US" sz="1700">
                <a:solidFill>
                  <a:srgbClr val="188038"/>
                </a:solidFill>
                <a:latin typeface="Roboto Mono"/>
                <a:ea typeface="Roboto Mono"/>
                <a:cs typeface="Roboto Mono"/>
                <a:sym typeface="Roboto Mono"/>
              </a:rPr>
              <a:t>Client</a:t>
            </a:r>
            <a:r>
              <a:rPr lang="en-US" sz="1700">
                <a:solidFill>
                  <a:schemeClr val="dk1"/>
                </a:solidFill>
              </a:rPr>
              <a:t>.</a:t>
            </a:r>
            <a:endParaRPr sz="1700">
              <a:solidFill>
                <a:schemeClr val="dk1"/>
              </a:solidFill>
            </a:endParaRPr>
          </a:p>
          <a:p>
            <a:pPr indent="0" lvl="0" marL="914400" rtl="0" algn="l">
              <a:lnSpc>
                <a:spcPct val="100000"/>
              </a:lnSpc>
              <a:spcBef>
                <a:spcPts val="800"/>
              </a:spcBef>
              <a:spcAft>
                <a:spcPts val="0"/>
              </a:spcAft>
              <a:buNone/>
            </a:pPr>
            <a:br>
              <a:rPr lang="en-US" sz="1700">
                <a:solidFill>
                  <a:schemeClr val="dk1"/>
                </a:solidFill>
              </a:rPr>
            </a:br>
            <a:endParaRPr b="1" sz="1700">
              <a:solidFill>
                <a:schemeClr val="dk1"/>
              </a:solidFill>
            </a:endParaRPr>
          </a:p>
          <a:p>
            <a:pPr indent="0" lvl="0" marL="0" rtl="0" algn="l">
              <a:lnSpc>
                <a:spcPct val="100000"/>
              </a:lnSpc>
              <a:spcBef>
                <a:spcPts val="800"/>
              </a:spcBef>
              <a:spcAft>
                <a:spcPts val="0"/>
              </a:spcAft>
              <a:buNone/>
            </a:pPr>
            <a:br>
              <a:rPr b="1" lang="en-US" sz="1700">
                <a:solidFill>
                  <a:schemeClr val="dk1"/>
                </a:solidFill>
              </a:rPr>
            </a:br>
            <a:endParaRPr sz="2100">
              <a:solidFill>
                <a:schemeClr val="dk1"/>
              </a:solidFill>
              <a:latin typeface="Calibri"/>
              <a:ea typeface="Calibri"/>
              <a:cs typeface="Calibri"/>
              <a:sym typeface="Calibri"/>
            </a:endParaRPr>
          </a:p>
          <a:p>
            <a:pPr indent="0" lvl="0" marL="457200" rtl="0" algn="l">
              <a:lnSpc>
                <a:spcPct val="100000"/>
              </a:lnSpc>
              <a:spcBef>
                <a:spcPts val="800"/>
              </a:spcBef>
              <a:spcAft>
                <a:spcPts val="0"/>
              </a:spcAft>
              <a:buNone/>
            </a:pPr>
            <a:r>
              <a:t/>
            </a:r>
            <a:endParaRPr b="1" sz="1700">
              <a:solidFill>
                <a:schemeClr val="dk1"/>
              </a:solidFill>
            </a:endParaRPr>
          </a:p>
        </p:txBody>
      </p:sp>
      <p:sp>
        <p:nvSpPr>
          <p:cNvPr id="563" name="Google Shape;563;p68"/>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68" name="Shape 568"/>
        <p:cNvGrpSpPr/>
        <p:nvPr/>
      </p:nvGrpSpPr>
      <p:grpSpPr>
        <a:xfrm>
          <a:off x="0" y="0"/>
          <a:ext cx="0" cy="0"/>
          <a:chOff x="0" y="0"/>
          <a:chExt cx="0" cy="0"/>
        </a:xfrm>
      </p:grpSpPr>
      <p:sp>
        <p:nvSpPr>
          <p:cNvPr id="569" name="Google Shape;569;p69"/>
          <p:cNvSpPr txBox="1"/>
          <p:nvPr/>
        </p:nvSpPr>
        <p:spPr>
          <a:xfrm>
            <a:off x="2379600" y="142650"/>
            <a:ext cx="10431600" cy="477300"/>
          </a:xfrm>
          <a:prstGeom prst="rect">
            <a:avLst/>
          </a:prstGeom>
          <a:noFill/>
          <a:ln>
            <a:noFill/>
          </a:ln>
        </p:spPr>
        <p:txBody>
          <a:bodyPr anchorCtr="0" anchor="t" bIns="30475" lIns="60950" spcFirstLastPara="1" rIns="60950" wrap="square" tIns="30475">
            <a:spAutoFit/>
          </a:bodyPr>
          <a:lstStyle/>
          <a:p>
            <a:pPr indent="0" lvl="0" marL="304800" marR="0" rtl="0" algn="l">
              <a:spcBef>
                <a:spcPts val="0"/>
              </a:spcBef>
              <a:spcAft>
                <a:spcPts val="0"/>
              </a:spcAft>
              <a:buNone/>
            </a:pPr>
            <a:r>
              <a:rPr b="1" lang="en-US" sz="2700">
                <a:solidFill>
                  <a:schemeClr val="dk1"/>
                </a:solidFill>
              </a:rPr>
              <a:t>ỨNG DỤNG SEMAPHORE TRONG DỰ ÁN</a:t>
            </a:r>
            <a:endParaRPr sz="4300">
              <a:solidFill>
                <a:schemeClr val="dk1"/>
              </a:solidFill>
            </a:endParaRPr>
          </a:p>
        </p:txBody>
      </p:sp>
      <p:sp>
        <p:nvSpPr>
          <p:cNvPr id="570" name="Google Shape;570;p69"/>
          <p:cNvSpPr txBox="1"/>
          <p:nvPr/>
        </p:nvSpPr>
        <p:spPr>
          <a:xfrm>
            <a:off x="132200" y="784033"/>
            <a:ext cx="11247000" cy="939300"/>
          </a:xfrm>
          <a:prstGeom prst="rect">
            <a:avLst/>
          </a:prstGeom>
          <a:noFill/>
          <a:ln>
            <a:noFill/>
          </a:ln>
        </p:spPr>
        <p:txBody>
          <a:bodyPr anchorCtr="0" anchor="t" bIns="60950" lIns="60950" spcFirstLastPara="1" rIns="60950" wrap="square" tIns="60950">
            <a:noAutofit/>
          </a:bodyPr>
          <a:lstStyle/>
          <a:p>
            <a:pPr indent="0" lvl="0" marL="0" rtl="0" algn="l">
              <a:spcBef>
                <a:spcPts val="0"/>
              </a:spcBef>
              <a:spcAft>
                <a:spcPts val="0"/>
              </a:spcAft>
              <a:buNone/>
            </a:pPr>
            <a:r>
              <a:rPr lang="en-US" sz="2100">
                <a:solidFill>
                  <a:schemeClr val="dk1"/>
                </a:solidFill>
              </a:rPr>
              <a:t> Ứng dụng tại </a:t>
            </a:r>
            <a:r>
              <a:rPr lang="en-US" sz="2100">
                <a:solidFill>
                  <a:srgbClr val="188038"/>
                </a:solidFill>
                <a:latin typeface="Roboto Mono"/>
                <a:ea typeface="Roboto Mono"/>
                <a:cs typeface="Roboto Mono"/>
                <a:sym typeface="Roboto Mono"/>
              </a:rPr>
              <a:t>Server</a:t>
            </a:r>
            <a:r>
              <a:rPr lang="en-US" sz="2100">
                <a:solidFill>
                  <a:schemeClr val="dk1"/>
                </a:solidFill>
              </a:rPr>
              <a:t> – Giới hạn số lượng Client xử lý đồng thời</a:t>
            </a:r>
            <a:endParaRPr sz="2100">
              <a:solidFill>
                <a:schemeClr val="dk1"/>
              </a:solidFill>
            </a:endParaRPr>
          </a:p>
          <a:p>
            <a:pPr indent="0" lvl="0" marL="0" marR="254000" rtl="0" algn="l">
              <a:lnSpc>
                <a:spcPct val="115000"/>
              </a:lnSpc>
              <a:spcBef>
                <a:spcPts val="800"/>
              </a:spcBef>
              <a:spcAft>
                <a:spcPts val="0"/>
              </a:spcAft>
              <a:buClr>
                <a:schemeClr val="dk1"/>
              </a:buClr>
              <a:buSzPts val="700"/>
              <a:buFont typeface="Arial"/>
              <a:buNone/>
            </a:pPr>
            <a:r>
              <a:rPr lang="en-US" sz="2100">
                <a:solidFill>
                  <a:schemeClr val="dk1"/>
                </a:solidFill>
              </a:rPr>
              <a:t> Lúc này server sẽ </a:t>
            </a:r>
            <a:r>
              <a:rPr b="1" lang="en-US" sz="2100">
                <a:solidFill>
                  <a:schemeClr val="dk1"/>
                </a:solidFill>
              </a:rPr>
              <a:t>chỉ xử lý 3 kết nối song song</a:t>
            </a:r>
            <a:r>
              <a:rPr lang="en-US" sz="2100">
                <a:solidFill>
                  <a:schemeClr val="dk1"/>
                </a:solidFill>
              </a:rPr>
              <a:t>, các kết nối khác phải </a:t>
            </a:r>
            <a:r>
              <a:rPr b="1" lang="en-US" sz="2100">
                <a:solidFill>
                  <a:schemeClr val="dk1"/>
                </a:solidFill>
              </a:rPr>
              <a:t>chờ đến lượt</a:t>
            </a:r>
            <a:r>
              <a:rPr lang="en-US" sz="2100">
                <a:solidFill>
                  <a:schemeClr val="dk1"/>
                </a:solidFill>
              </a:rPr>
              <a:t>.</a:t>
            </a:r>
            <a:endParaRPr sz="2100">
              <a:solidFill>
                <a:schemeClr val="dk1"/>
              </a:solidFill>
            </a:endParaRPr>
          </a:p>
          <a:p>
            <a:pPr indent="0" lvl="0" marL="0" rtl="0" algn="l">
              <a:spcBef>
                <a:spcPts val="800"/>
              </a:spcBef>
              <a:spcAft>
                <a:spcPts val="0"/>
              </a:spcAft>
              <a:buNone/>
            </a:pPr>
            <a:r>
              <a:t/>
            </a:r>
            <a:endParaRPr sz="2100">
              <a:solidFill>
                <a:schemeClr val="dk1"/>
              </a:solidFill>
            </a:endParaRPr>
          </a:p>
        </p:txBody>
      </p:sp>
      <p:sp>
        <p:nvSpPr>
          <p:cNvPr id="571" name="Google Shape;571;p69"/>
          <p:cNvSpPr txBox="1"/>
          <p:nvPr/>
        </p:nvSpPr>
        <p:spPr>
          <a:xfrm>
            <a:off x="132200" y="2063333"/>
            <a:ext cx="11927700" cy="4714800"/>
          </a:xfrm>
          <a:prstGeom prst="rect">
            <a:avLst/>
          </a:prstGeom>
          <a:noFill/>
          <a:ln>
            <a:noFill/>
          </a:ln>
        </p:spPr>
        <p:txBody>
          <a:bodyPr anchorCtr="0" anchor="t" bIns="60950" lIns="60950" spcFirstLastPara="1" rIns="60950" wrap="square" tIns="60950">
            <a:noAutofit/>
          </a:bodyPr>
          <a:lstStyle/>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Semaphore connectionLimit = new Semaphore(3); // Chỉ cho phép 3 client kết nối xử lý cùng lúc</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while (true)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Socket clientSocket = serverSocket.accept();</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connectionLimit.acquire(); // ↓ nếu quá giới hạn thì chờ</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new Thread(() -&gt;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try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 xử lý dữ liệu client...</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 finally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connectionLimit.release(); // ↑ sau khi xử lý xong thì "trả slot"</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}).start();</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572" name="Google Shape;572;p6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77" name="Shape 577"/>
        <p:cNvGrpSpPr/>
        <p:nvPr/>
      </p:nvGrpSpPr>
      <p:grpSpPr>
        <a:xfrm>
          <a:off x="0" y="0"/>
          <a:ext cx="0" cy="0"/>
          <a:chOff x="0" y="0"/>
          <a:chExt cx="0" cy="0"/>
        </a:xfrm>
      </p:grpSpPr>
      <p:sp>
        <p:nvSpPr>
          <p:cNvPr id="578" name="Google Shape;578;p70"/>
          <p:cNvSpPr txBox="1"/>
          <p:nvPr/>
        </p:nvSpPr>
        <p:spPr>
          <a:xfrm>
            <a:off x="2379600" y="142650"/>
            <a:ext cx="10431600" cy="477300"/>
          </a:xfrm>
          <a:prstGeom prst="rect">
            <a:avLst/>
          </a:prstGeom>
          <a:noFill/>
          <a:ln>
            <a:noFill/>
          </a:ln>
        </p:spPr>
        <p:txBody>
          <a:bodyPr anchorCtr="0" anchor="t" bIns="30475" lIns="60950" spcFirstLastPara="1" rIns="60950" wrap="square" tIns="30475">
            <a:spAutoFit/>
          </a:bodyPr>
          <a:lstStyle/>
          <a:p>
            <a:pPr indent="0" lvl="0" marL="304800" marR="0" rtl="0" algn="l">
              <a:spcBef>
                <a:spcPts val="0"/>
              </a:spcBef>
              <a:spcAft>
                <a:spcPts val="0"/>
              </a:spcAft>
              <a:buNone/>
            </a:pPr>
            <a:r>
              <a:rPr b="1" lang="en-US" sz="2700">
                <a:solidFill>
                  <a:schemeClr val="dk1"/>
                </a:solidFill>
              </a:rPr>
              <a:t>ỨNG DỤNG SEMAPHORE TRONG DỰ ÁN</a:t>
            </a:r>
            <a:endParaRPr sz="4300">
              <a:solidFill>
                <a:schemeClr val="dk1"/>
              </a:solidFill>
            </a:endParaRPr>
          </a:p>
        </p:txBody>
      </p:sp>
      <p:sp>
        <p:nvSpPr>
          <p:cNvPr id="579" name="Google Shape;579;p70"/>
          <p:cNvSpPr txBox="1"/>
          <p:nvPr/>
        </p:nvSpPr>
        <p:spPr>
          <a:xfrm>
            <a:off x="339217" y="784033"/>
            <a:ext cx="11247000" cy="599400"/>
          </a:xfrm>
          <a:prstGeom prst="rect">
            <a:avLst/>
          </a:prstGeom>
          <a:noFill/>
          <a:ln>
            <a:noFill/>
          </a:ln>
        </p:spPr>
        <p:txBody>
          <a:bodyPr anchorCtr="0" anchor="t" bIns="60950" lIns="60950" spcFirstLastPara="1" rIns="60950" wrap="square" tIns="60950">
            <a:noAutofit/>
          </a:bodyPr>
          <a:lstStyle/>
          <a:p>
            <a:pPr indent="0" lvl="0" marL="0" rtl="0" algn="l">
              <a:spcBef>
                <a:spcPts val="0"/>
              </a:spcBef>
              <a:spcAft>
                <a:spcPts val="0"/>
              </a:spcAft>
              <a:buNone/>
            </a:pPr>
            <a:r>
              <a:rPr lang="en-US" sz="1900">
                <a:solidFill>
                  <a:schemeClr val="dk1"/>
                </a:solidFill>
              </a:rPr>
              <a:t>Ví dụ: trong </a:t>
            </a:r>
            <a:r>
              <a:rPr lang="en-US" sz="1900">
                <a:solidFill>
                  <a:srgbClr val="188038"/>
                </a:solidFill>
                <a:latin typeface="Roboto Mono"/>
                <a:ea typeface="Roboto Mono"/>
                <a:cs typeface="Roboto Mono"/>
                <a:sym typeface="Roboto Mono"/>
              </a:rPr>
              <a:t>ClientI</a:t>
            </a:r>
            <a:r>
              <a:rPr lang="en-US" sz="1900">
                <a:solidFill>
                  <a:schemeClr val="dk1"/>
                </a:solidFill>
              </a:rPr>
              <a:t>, có 4 thread: 1a, 1b, 1c, 1d → nhưng </a:t>
            </a:r>
            <a:r>
              <a:rPr b="1" lang="en-US" sz="1900">
                <a:solidFill>
                  <a:schemeClr val="dk1"/>
                </a:solidFill>
              </a:rPr>
              <a:t>chỉ muốn 1 thread gửi tại 1 thời điểm</a:t>
            </a:r>
            <a:r>
              <a:rPr lang="en-US" sz="1900">
                <a:solidFill>
                  <a:schemeClr val="dk1"/>
                </a:solidFill>
              </a:rPr>
              <a:t>.</a:t>
            </a:r>
            <a:endParaRPr sz="1900">
              <a:solidFill>
                <a:schemeClr val="dk1"/>
              </a:solidFill>
            </a:endParaRPr>
          </a:p>
          <a:p>
            <a:pPr indent="0" lvl="0" marL="0" rtl="0" algn="l">
              <a:spcBef>
                <a:spcPts val="0"/>
              </a:spcBef>
              <a:spcAft>
                <a:spcPts val="0"/>
              </a:spcAft>
              <a:buNone/>
            </a:pPr>
            <a:r>
              <a:rPr lang="en-US" sz="1900">
                <a:solidFill>
                  <a:schemeClr val="dk1"/>
                </a:solidFill>
              </a:rPr>
              <a:t>Điều này đảm bảo các cảm biến cùng loại không “chen nhau” gửi dữ liệu gây rối luồng.</a:t>
            </a:r>
            <a:endParaRPr sz="1900">
              <a:solidFill>
                <a:schemeClr val="dk1"/>
              </a:solidFill>
            </a:endParaRPr>
          </a:p>
        </p:txBody>
      </p:sp>
      <p:sp>
        <p:nvSpPr>
          <p:cNvPr id="580" name="Google Shape;580;p70"/>
          <p:cNvSpPr txBox="1"/>
          <p:nvPr/>
        </p:nvSpPr>
        <p:spPr>
          <a:xfrm>
            <a:off x="132150" y="1547492"/>
            <a:ext cx="11927700" cy="5208600"/>
          </a:xfrm>
          <a:prstGeom prst="rect">
            <a:avLst/>
          </a:prstGeom>
          <a:noFill/>
          <a:ln>
            <a:noFill/>
          </a:ln>
        </p:spPr>
        <p:txBody>
          <a:bodyPr anchorCtr="0" anchor="t" bIns="60950" lIns="60950" spcFirstLastPara="1" rIns="60950" wrap="square" tIns="60950">
            <a:noAutofit/>
          </a:bodyPr>
          <a:lstStyle/>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Semaphore sendLock = new Semaphore(1); // chỉ 1 thread được gửi tại 1 thời điểm</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public void run()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for (int i = 0; i &lt; 5; i++)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try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sendLock.acquire();</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out.println(message);</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 catch (InterruptedException e)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e.printStackTrace();</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 finally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sendLock.release();</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Thread.sleep(2000);</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    }</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rPr lang="en-US" sz="2100">
                <a:solidFill>
                  <a:schemeClr val="dk1"/>
                </a:solidFill>
                <a:latin typeface="Calibri"/>
                <a:ea typeface="Calibri"/>
                <a:cs typeface="Calibri"/>
                <a:sym typeface="Calibri"/>
              </a:rPr>
              <a:t>}</a:t>
            </a:r>
            <a:endParaRPr sz="21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700"/>
              <a:buFont typeface="Arial"/>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581" name="Google Shape;581;p7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5EC"/>
        </a:solidFill>
      </p:bgPr>
    </p:bg>
    <p:spTree>
      <p:nvGrpSpPr>
        <p:cNvPr id="585" name="Shape 585"/>
        <p:cNvGrpSpPr/>
        <p:nvPr/>
      </p:nvGrpSpPr>
      <p:grpSpPr>
        <a:xfrm>
          <a:off x="0" y="0"/>
          <a:ext cx="0" cy="0"/>
          <a:chOff x="0" y="0"/>
          <a:chExt cx="0" cy="0"/>
        </a:xfrm>
      </p:grpSpPr>
      <p:sp>
        <p:nvSpPr>
          <p:cNvPr id="586" name="Google Shape;586;p71"/>
          <p:cNvSpPr/>
          <p:nvPr/>
        </p:nvSpPr>
        <p:spPr>
          <a:xfrm>
            <a:off x="-323357" y="-2990357"/>
            <a:ext cx="12854761" cy="12854761"/>
          </a:xfrm>
          <a:custGeom>
            <a:rect b="b" l="l" r="r" t="t"/>
            <a:pathLst>
              <a:path extrusionOk="0" h="19258069" w="19258069">
                <a:moveTo>
                  <a:pt x="0" y="0"/>
                </a:moveTo>
                <a:lnTo>
                  <a:pt x="19258070" y="0"/>
                </a:lnTo>
                <a:lnTo>
                  <a:pt x="19258070" y="19258070"/>
                </a:lnTo>
                <a:lnTo>
                  <a:pt x="0" y="19258070"/>
                </a:lnTo>
                <a:lnTo>
                  <a:pt x="0" y="0"/>
                </a:lnTo>
                <a:close/>
              </a:path>
            </a:pathLst>
          </a:custGeom>
          <a:blipFill rotWithShape="1">
            <a:blip r:embed="rId3">
              <a:alphaModFix amt="4000"/>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87" name="Google Shape;587;p71"/>
          <p:cNvSpPr txBox="1"/>
          <p:nvPr/>
        </p:nvSpPr>
        <p:spPr>
          <a:xfrm>
            <a:off x="622655" y="2101713"/>
            <a:ext cx="10946700" cy="1985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US" sz="12900">
                <a:solidFill>
                  <a:srgbClr val="343434"/>
                </a:solidFill>
                <a:latin typeface="Arial"/>
                <a:ea typeface="Arial"/>
                <a:cs typeface="Arial"/>
                <a:sym typeface="Arial"/>
              </a:rPr>
              <a:t>THANK YOU</a:t>
            </a:r>
            <a:endParaRPr sz="900"/>
          </a:p>
        </p:txBody>
      </p:sp>
      <p:sp>
        <p:nvSpPr>
          <p:cNvPr id="588" name="Google Shape;588;p71"/>
          <p:cNvSpPr/>
          <p:nvPr/>
        </p:nvSpPr>
        <p:spPr>
          <a:xfrm rot="-1363141">
            <a:off x="10214305" y="663670"/>
            <a:ext cx="998119" cy="1559562"/>
          </a:xfrm>
          <a:custGeom>
            <a:rect b="b" l="l" r="r" t="t"/>
            <a:pathLst>
              <a:path extrusionOk="0" h="2339114" w="1497033">
                <a:moveTo>
                  <a:pt x="0" y="0"/>
                </a:moveTo>
                <a:lnTo>
                  <a:pt x="1497033" y="0"/>
                </a:lnTo>
                <a:lnTo>
                  <a:pt x="1497033" y="2339115"/>
                </a:lnTo>
                <a:lnTo>
                  <a:pt x="0" y="2339115"/>
                </a:lnTo>
                <a:lnTo>
                  <a:pt x="0" y="0"/>
                </a:lnTo>
                <a:close/>
              </a:path>
            </a:pathLst>
          </a:custGeom>
          <a:blipFill rotWithShape="1">
            <a:blip r:embed="rId4">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89" name="Google Shape;589;p71"/>
          <p:cNvSpPr/>
          <p:nvPr/>
        </p:nvSpPr>
        <p:spPr>
          <a:xfrm rot="885925">
            <a:off x="2859301" y="1025883"/>
            <a:ext cx="1471608" cy="1161233"/>
          </a:xfrm>
          <a:custGeom>
            <a:rect b="b" l="l" r="r" t="t"/>
            <a:pathLst>
              <a:path extrusionOk="0" h="1740908" w="2206219">
                <a:moveTo>
                  <a:pt x="0" y="0"/>
                </a:moveTo>
                <a:lnTo>
                  <a:pt x="2206219" y="0"/>
                </a:lnTo>
                <a:lnTo>
                  <a:pt x="2206219" y="1740907"/>
                </a:lnTo>
                <a:lnTo>
                  <a:pt x="0" y="1740907"/>
                </a:lnTo>
                <a:lnTo>
                  <a:pt x="0" y="0"/>
                </a:lnTo>
                <a:close/>
              </a:path>
            </a:pathLst>
          </a:custGeom>
          <a:blipFill rotWithShape="1">
            <a:blip r:embed="rId5">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90" name="Google Shape;590;p71"/>
          <p:cNvSpPr/>
          <p:nvPr/>
        </p:nvSpPr>
        <p:spPr>
          <a:xfrm>
            <a:off x="622643" y="4914688"/>
            <a:ext cx="2804884" cy="1682930"/>
          </a:xfrm>
          <a:custGeom>
            <a:rect b="b" l="l" r="r" t="t"/>
            <a:pathLst>
              <a:path extrusionOk="0" h="2521244" w="4202073">
                <a:moveTo>
                  <a:pt x="0" y="0"/>
                </a:moveTo>
                <a:lnTo>
                  <a:pt x="4202074" y="0"/>
                </a:lnTo>
                <a:lnTo>
                  <a:pt x="4202074" y="2521245"/>
                </a:lnTo>
                <a:lnTo>
                  <a:pt x="0" y="2521245"/>
                </a:lnTo>
                <a:lnTo>
                  <a:pt x="0" y="0"/>
                </a:lnTo>
                <a:close/>
              </a:path>
            </a:pathLst>
          </a:custGeom>
          <a:blipFill rotWithShape="1">
            <a:blip r:embed="rId6">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91" name="Google Shape;591;p71"/>
          <p:cNvSpPr/>
          <p:nvPr/>
        </p:nvSpPr>
        <p:spPr>
          <a:xfrm rot="845297">
            <a:off x="7423564" y="4759628"/>
            <a:ext cx="781322" cy="1355606"/>
          </a:xfrm>
          <a:custGeom>
            <a:rect b="b" l="l" r="r" t="t"/>
            <a:pathLst>
              <a:path extrusionOk="0" h="2030628" w="1170380">
                <a:moveTo>
                  <a:pt x="0" y="0"/>
                </a:moveTo>
                <a:lnTo>
                  <a:pt x="1170381" y="0"/>
                </a:lnTo>
                <a:lnTo>
                  <a:pt x="1170381" y="2030628"/>
                </a:lnTo>
                <a:lnTo>
                  <a:pt x="0" y="2030628"/>
                </a:lnTo>
                <a:lnTo>
                  <a:pt x="0" y="0"/>
                </a:lnTo>
                <a:close/>
              </a:path>
            </a:pathLst>
          </a:custGeom>
          <a:blipFill rotWithShape="1">
            <a:blip r:embed="rId7">
              <a:alphaModFix/>
            </a:blip>
            <a:stretch>
              <a:fillRect b="0" l="0" r="0" t="0"/>
            </a:stretch>
          </a:blipFill>
          <a:ln>
            <a:noFill/>
          </a:ln>
        </p:spPr>
        <p:txBody>
          <a:bodyPr anchorCtr="0" anchor="t" bIns="30475" lIns="60950" spcFirstLastPara="1" rIns="60950" wrap="square" tIns="30475">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92" name="Google Shape;592;p7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